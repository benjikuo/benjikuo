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57" r:id="rId3"/>
    <p:sldId id="258" r:id="rId4"/>
    <p:sldId id="259" r:id="rId5"/>
    <p:sldId id="262" r:id="rId6"/>
    <p:sldId id="260" r:id="rId7"/>
    <p:sldId id="264" r:id="rId8"/>
    <p:sldId id="265" r:id="rId9"/>
    <p:sldId id="266" r:id="rId10"/>
    <p:sldId id="267" r:id="rId11"/>
    <p:sldId id="269" r:id="rId12"/>
    <p:sldId id="272" r:id="rId13"/>
    <p:sldId id="271" r:id="rId14"/>
    <p:sldId id="270" r:id="rId15"/>
    <p:sldId id="273" r:id="rId16"/>
    <p:sldId id="275" r:id="rId17"/>
    <p:sldId id="268" r:id="rId18"/>
    <p:sldId id="261" r:id="rId19"/>
    <p:sldId id="277" r:id="rId2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071" userDrawn="1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FB8CD"/>
    <a:srgbClr val="727CA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1150" autoAdjust="0"/>
    <p:restoredTop sz="94660"/>
  </p:normalViewPr>
  <p:slideViewPr>
    <p:cSldViewPr>
      <p:cViewPr varScale="1">
        <p:scale>
          <a:sx n="165" d="100"/>
          <a:sy n="165" d="100"/>
        </p:scale>
        <p:origin x="528" y="144"/>
      </p:cViewPr>
      <p:guideLst>
        <p:guide orient="horz" pos="1071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標題 7"/>
          <p:cNvSpPr>
            <a:spLocks noGrp="1"/>
          </p:cNvSpPr>
          <p:nvPr>
            <p:ph type="ctrTitle"/>
          </p:nvPr>
        </p:nvSpPr>
        <p:spPr>
          <a:xfrm>
            <a:off x="1219200" y="4029422"/>
            <a:ext cx="6858000" cy="990600"/>
          </a:xfrm>
        </p:spPr>
        <p:txBody>
          <a:bodyPr anchor="t" anchorCtr="0"/>
          <a:lstStyle>
            <a:lvl1pPr algn="r">
              <a:defRPr sz="3200">
                <a:solidFill>
                  <a:schemeClr val="tx1"/>
                </a:solidFill>
              </a:defRPr>
            </a:lvl1pPr>
          </a:lstStyle>
          <a:p>
            <a:r>
              <a:rPr kumimoji="0" lang="zh-TW" altLang="en-US" dirty="0"/>
              <a:t>按一下以編輯母片標題樣式</a:t>
            </a:r>
            <a:endParaRPr kumimoji="0" lang="en-US" dirty="0"/>
          </a:p>
        </p:txBody>
      </p:sp>
      <p:sp>
        <p:nvSpPr>
          <p:cNvPr id="9" name="副標題 8"/>
          <p:cNvSpPr>
            <a:spLocks noGrp="1"/>
          </p:cNvSpPr>
          <p:nvPr>
            <p:ph type="subTitle" idx="1"/>
          </p:nvPr>
        </p:nvSpPr>
        <p:spPr>
          <a:xfrm>
            <a:off x="1219200" y="5267672"/>
            <a:ext cx="6858000" cy="53340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  <a:latin typeface="微軟正黑體" pitchFamily="34" charset="-120"/>
                <a:ea typeface="微軟正黑體" pitchFamily="34" charset="-120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zh-TW" altLang="en-US" dirty="0"/>
              <a:t>按一下以編輯母片副標題樣式</a:t>
            </a:r>
            <a:endParaRPr kumimoji="0" lang="en-US" dirty="0"/>
          </a:p>
        </p:txBody>
      </p:sp>
      <p:sp>
        <p:nvSpPr>
          <p:cNvPr id="28" name="日期版面配置區 27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>
            <a:lvl1pPr>
              <a:defRPr sz="1400"/>
            </a:lvl1pPr>
          </a:lstStyle>
          <a:p>
            <a:pPr algn="ctr" eaLnBrk="1" latinLnBrk="0" hangingPunct="1"/>
            <a:fld id="{23A271A1-F6D6-438B-A432-4747EE7ECD40}" type="datetimeFigureOut">
              <a:rPr lang="en-US" smtClean="0"/>
              <a:pPr algn="ctr" eaLnBrk="1" latinLnBrk="0" hangingPunct="1"/>
              <a:t>12/19/2023</a:t>
            </a:fld>
            <a:endParaRPr lang="en-US" sz="2000" dirty="0">
              <a:solidFill>
                <a:srgbClr val="FFFFFF"/>
              </a:solidFill>
            </a:endParaRPr>
          </a:p>
        </p:txBody>
      </p:sp>
      <p:sp>
        <p:nvSpPr>
          <p:cNvPr id="17" name="頁尾版面配置區 16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pPr algn="r" eaLnBrk="1" latinLnBrk="0" hangingPunct="1"/>
            <a:endParaRPr kumimoji="0" lang="en-US" dirty="0">
              <a:solidFill>
                <a:schemeClr val="tx2"/>
              </a:solidFill>
            </a:endParaRPr>
          </a:p>
        </p:txBody>
      </p:sp>
      <p:sp>
        <p:nvSpPr>
          <p:cNvPr id="29" name="投影片編號版面配置區 28"/>
          <p:cNvSpPr>
            <a:spLocks noGrp="1"/>
          </p:cNvSpPr>
          <p:nvPr>
            <p:ph type="sldNum" sz="quarter" idx="12"/>
          </p:nvPr>
        </p:nvSpPr>
        <p:spPr>
          <a:xfrm>
            <a:off x="1216152" y="6355080"/>
            <a:ext cx="1219200" cy="365760"/>
          </a:xfrm>
        </p:spPr>
        <p:txBody>
          <a:bodyPr/>
          <a:lstStyle/>
          <a:p>
            <a:fld id="{F0C94032-CD4C-4C25-B0C2-CEC720522D92}" type="slidenum">
              <a:rPr kumimoji="0" lang="en-US" smtClean="0"/>
              <a:pPr eaLnBrk="1" latinLnBrk="0" hangingPunct="1"/>
              <a:t>‹#›</a:t>
            </a:fld>
            <a:endParaRPr kumimoji="0" lang="en-US" dirty="0">
              <a:solidFill>
                <a:schemeClr val="tx2"/>
              </a:solidFill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904875" y="3791297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3" name="矩形 32"/>
          <p:cNvSpPr/>
          <p:nvPr/>
        </p:nvSpPr>
        <p:spPr>
          <a:xfrm>
            <a:off x="914400" y="5191472"/>
            <a:ext cx="7315200" cy="685800"/>
          </a:xfrm>
          <a:prstGeom prst="rect">
            <a:avLst/>
          </a:prstGeom>
          <a:noFill/>
          <a:ln w="6350" cap="rnd" cmpd="sng" algn="ctr">
            <a:solidFill>
              <a:schemeClr val="accent2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矩形 21"/>
          <p:cNvSpPr/>
          <p:nvPr/>
        </p:nvSpPr>
        <p:spPr>
          <a:xfrm>
            <a:off x="904875" y="3791297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矩形 31"/>
          <p:cNvSpPr/>
          <p:nvPr/>
        </p:nvSpPr>
        <p:spPr>
          <a:xfrm>
            <a:off x="914400" y="5191472"/>
            <a:ext cx="228600" cy="68580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116632"/>
            <a:ext cx="8229600" cy="990600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kumimoji="0" lang="zh-TW" altLang="en-US" dirty="0"/>
              <a:t>按一下以編輯母片標題樣式</a:t>
            </a:r>
            <a:endParaRPr kumimoji="0" 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23A271A1-F6D6-438B-A432-4747EE7ECD40}" type="datetimeFigureOut">
              <a:rPr lang="en-US" smtClean="0"/>
              <a:pPr eaLnBrk="1" latinLnBrk="0" hangingPunct="1"/>
              <a:t>12/19/2023</a:t>
            </a:fld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C94032-CD4C-4C25-B0C2-CEC720522D92}" type="slidenum">
              <a:rPr kumimoji="0" lang="en-US" smtClean="0"/>
              <a:pPr eaLnBrk="1" latinLnBrk="0" hangingPunct="1"/>
              <a:t>‹#›</a:t>
            </a:fld>
            <a:endParaRPr kumimoji="0" lang="en-US" dirty="0">
              <a:solidFill>
                <a:srgbClr val="FFFFFF"/>
              </a:solidFill>
            </a:endParaRPr>
          </a:p>
        </p:txBody>
      </p:sp>
      <p:sp>
        <p:nvSpPr>
          <p:cNvPr id="8" name="內容版面配置區 7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76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eaLnBrk="1" latinLnBrk="0" hangingPunct="1"/>
            <a:r>
              <a:rPr lang="zh-TW" altLang="en-US" dirty="0"/>
              <a:t>按一下以編輯母片文字樣式</a:t>
            </a:r>
          </a:p>
          <a:p>
            <a:pPr lvl="1" eaLnBrk="1" latinLnBrk="0" hangingPunct="1"/>
            <a:r>
              <a:rPr lang="zh-TW" altLang="en-US" dirty="0"/>
              <a:t>第二層</a:t>
            </a:r>
          </a:p>
          <a:p>
            <a:pPr lvl="2" eaLnBrk="1" latinLnBrk="0" hangingPunct="1"/>
            <a:r>
              <a:rPr lang="zh-TW" altLang="en-US" dirty="0"/>
              <a:t>第三層</a:t>
            </a:r>
          </a:p>
          <a:p>
            <a:pPr lvl="3" eaLnBrk="1" latinLnBrk="0" hangingPunct="1"/>
            <a:r>
              <a:rPr lang="zh-TW" altLang="en-US" dirty="0"/>
              <a:t>第四層</a:t>
            </a:r>
          </a:p>
          <a:p>
            <a:pPr lvl="4" eaLnBrk="1" latinLnBrk="0" hangingPunct="1"/>
            <a:r>
              <a:rPr lang="zh-TW" altLang="en-US" dirty="0"/>
              <a:t>第五層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章節標題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219200" y="2971800"/>
            <a:ext cx="6858000" cy="1066800"/>
          </a:xfrm>
        </p:spPr>
        <p:txBody>
          <a:bodyPr anchor="t" anchorCtr="0"/>
          <a:lstStyle>
            <a:lvl1pPr algn="r">
              <a:buNone/>
              <a:defRPr sz="3200" b="0" cap="none" baseline="0"/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1295400" y="4267200"/>
            <a:ext cx="6781800" cy="1143000"/>
          </a:xfrm>
        </p:spPr>
        <p:txBody>
          <a:bodyPr anchor="t" anchorCtr="0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/>
          <a:p>
            <a:pPr eaLnBrk="1" latinLnBrk="0" hangingPunct="1"/>
            <a:fld id="{23A271A1-F6D6-438B-A432-4747EE7ECD40}" type="datetimeFigureOut">
              <a:rPr lang="en-US" smtClean="0"/>
              <a:pPr eaLnBrk="1" latinLnBrk="0" hangingPunct="1"/>
              <a:t>12/19/2023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kumimoji="0"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>
          <a:xfrm>
            <a:off x="1069848" y="6355080"/>
            <a:ext cx="1520952" cy="365760"/>
          </a:xfrm>
        </p:spPr>
        <p:txBody>
          <a:bodyPr/>
          <a:lstStyle/>
          <a:p>
            <a:pPr algn="ctr" eaLnBrk="1" latinLnBrk="0" hangingPunct="1"/>
            <a:fld id="{F0C94032-CD4C-4C25-B0C2-CEC720522D92}" type="slidenum">
              <a:rPr kumimoji="0" lang="en-US" smtClean="0"/>
              <a:pPr algn="ctr" eaLnBrk="1" latinLnBrk="0" hangingPunct="1"/>
              <a:t>‹#›</a:t>
            </a:fld>
            <a:endParaRPr kumimoji="0" lang="en-US" sz="2400" dirty="0">
              <a:solidFill>
                <a:srgbClr val="FFFFFF"/>
              </a:solidFill>
            </a:endParaRPr>
          </a:p>
        </p:txBody>
      </p:sp>
      <p:sp>
        <p:nvSpPr>
          <p:cNvPr id="7" name="矩形 6"/>
          <p:cNvSpPr/>
          <p:nvPr/>
        </p:nvSpPr>
        <p:spPr>
          <a:xfrm>
            <a:off x="914400" y="2819400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矩形 7"/>
          <p:cNvSpPr/>
          <p:nvPr/>
        </p:nvSpPr>
        <p:spPr>
          <a:xfrm>
            <a:off x="914400" y="2819400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23A271A1-F6D6-438B-A432-4747EE7ECD40}" type="datetimeFigureOut">
              <a:rPr lang="en-US" smtClean="0"/>
              <a:pPr eaLnBrk="1" latinLnBrk="0" hangingPunct="1"/>
              <a:t>12/19/2023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 eaLnBrk="1" latinLnBrk="0" hangingPunct="1"/>
            <a:fld id="{F0C94032-CD4C-4C25-B0C2-CEC720522D92}" type="slidenum">
              <a:rPr kumimoji="0" lang="en-US" smtClean="0"/>
              <a:pPr algn="ctr" eaLnBrk="1" latinLnBrk="0" hangingPunct="1"/>
              <a:t>‹#›</a:t>
            </a:fld>
            <a:endParaRPr kumimoji="0" lang="en-US"/>
          </a:p>
        </p:txBody>
      </p:sp>
      <p:sp>
        <p:nvSpPr>
          <p:cNvPr id="9" name="內容版面配置區 8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11" name="內容版面配置區 10"/>
          <p:cNvSpPr>
            <a:spLocks noGrp="1"/>
          </p:cNvSpPr>
          <p:nvPr>
            <p:ph sz="quarter" idx="2"/>
          </p:nvPr>
        </p:nvSpPr>
        <p:spPr>
          <a:xfrm>
            <a:off x="4632198" y="1216152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285875"/>
            <a:ext cx="4040188" cy="685800"/>
          </a:xfrm>
          <a:noFill/>
          <a:ln>
            <a:noFill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3"/>
          </p:nvPr>
        </p:nvSpPr>
        <p:spPr>
          <a:xfrm>
            <a:off x="4648200" y="1295400"/>
            <a:ext cx="4041775" cy="685800"/>
          </a:xfrm>
          <a:noFill/>
          <a:ln>
            <a:noFill/>
          </a:ln>
        </p:spPr>
        <p:txBody>
          <a:bodyPr lIns="91440" anchor="b" anchorCtr="0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23A271A1-F6D6-438B-A432-4747EE7ECD40}" type="datetimeFigureOut">
              <a:rPr lang="en-US" smtClean="0"/>
              <a:pPr eaLnBrk="1" latinLnBrk="0" hangingPunct="1"/>
              <a:t>12/19/2023</a:t>
            </a:fld>
            <a:endParaRPr 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 eaLnBrk="1" latinLnBrk="0" hangingPunct="1"/>
            <a:fld id="{F0C94032-CD4C-4C25-B0C2-CEC720522D92}" type="slidenum">
              <a:rPr kumimoji="0" lang="en-US" smtClean="0"/>
              <a:pPr algn="ctr" eaLnBrk="1" latinLnBrk="0" hangingPunct="1"/>
              <a:t>‹#›</a:t>
            </a:fld>
            <a:endParaRPr kumimoji="0" lang="en-US"/>
          </a:p>
        </p:txBody>
      </p:sp>
      <p:sp>
        <p:nvSpPr>
          <p:cNvPr id="11" name="內容版面配置區 10"/>
          <p:cNvSpPr>
            <a:spLocks noGrp="1"/>
          </p:cNvSpPr>
          <p:nvPr>
            <p:ph sz="quarter" idx="2"/>
          </p:nvPr>
        </p:nvSpPr>
        <p:spPr>
          <a:xfrm>
            <a:off x="457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13" name="內容版面配置區 12"/>
          <p:cNvSpPr>
            <a:spLocks noGrp="1"/>
          </p:cNvSpPr>
          <p:nvPr>
            <p:ph sz="quarter" idx="4"/>
          </p:nvPr>
        </p:nvSpPr>
        <p:spPr>
          <a:xfrm>
            <a:off x="4648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23A271A1-F6D6-438B-A432-4747EE7ECD40}" type="datetimeFigureOut">
              <a:rPr lang="en-US" smtClean="0"/>
              <a:pPr eaLnBrk="1" latinLnBrk="0" hangingPunct="1"/>
              <a:t>12/19/2023</a:t>
            </a:fld>
            <a:endParaRPr 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C94032-CD4C-4C25-B0C2-CEC720522D92}" type="slidenum">
              <a:rPr kumimoji="0" lang="en-US" smtClean="0"/>
              <a:pPr eaLnBrk="1" latinLnBrk="0" hangingPunct="1"/>
              <a:t>‹#›</a:t>
            </a:fld>
            <a:endParaRPr kumimoji="0" lang="en-US" dirty="0">
              <a:solidFill>
                <a:srgbClr val="FFFFFF"/>
              </a:solidFill>
            </a:endParaRPr>
          </a:p>
        </p:txBody>
      </p:sp>
      <p:sp>
        <p:nvSpPr>
          <p:cNvPr id="6" name="等腰三角形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23A271A1-F6D6-438B-A432-4747EE7ECD40}" type="datetimeFigureOut">
              <a:rPr lang="en-US" smtClean="0"/>
              <a:pPr eaLnBrk="1" latinLnBrk="0" hangingPunct="1"/>
              <a:t>12/19/2023</a:t>
            </a:fld>
            <a:endParaRPr 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C94032-CD4C-4C25-B0C2-CEC720522D92}" type="slidenum">
              <a:rPr kumimoji="0" lang="en-US" smtClean="0"/>
              <a:pPr eaLnBrk="1" latinLnBrk="0" hangingPunct="1"/>
              <a:t>‹#›</a:t>
            </a:fld>
            <a:endParaRPr kumimoji="0" lang="en-US" dirty="0">
              <a:solidFill>
                <a:schemeClr val="tx2"/>
              </a:solidFill>
            </a:endParaRPr>
          </a:p>
        </p:txBody>
      </p:sp>
      <p:sp>
        <p:nvSpPr>
          <p:cNvPr id="5" name="直線接點 4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等腰三角形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324600" y="304800"/>
            <a:ext cx="2514600" cy="838200"/>
          </a:xfrm>
        </p:spPr>
        <p:txBody>
          <a:bodyPr anchor="b" anchorCtr="0">
            <a:noAutofit/>
          </a:bodyPr>
          <a:lstStyle>
            <a:lvl1pPr algn="l">
              <a:buNone/>
              <a:defRPr sz="2000" b="1">
                <a:solidFill>
                  <a:schemeClr val="tx2"/>
                </a:solidFill>
                <a:latin typeface="微軟正黑體" pitchFamily="34" charset="-120"/>
                <a:ea typeface="微軟正黑體" pitchFamily="34" charset="-120"/>
                <a:cs typeface="+mn-cs"/>
              </a:defRPr>
            </a:lvl1pPr>
          </a:lstStyle>
          <a:p>
            <a:r>
              <a:rPr kumimoji="0" lang="zh-TW" altLang="en-US" dirty="0"/>
              <a:t>按一下以編輯母片標題樣式</a:t>
            </a:r>
            <a:endParaRPr kumimoji="0" 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2"/>
          </p:nvPr>
        </p:nvSpPr>
        <p:spPr>
          <a:xfrm>
            <a:off x="6324600" y="1219200"/>
            <a:ext cx="2514600" cy="4843463"/>
          </a:xfrm>
        </p:spPr>
        <p:txBody>
          <a:bodyPr/>
          <a:lstStyle>
            <a:lvl1pPr marL="0" indent="0">
              <a:lnSpc>
                <a:spcPts val="22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  <a:latin typeface="微軟正黑體" pitchFamily="34" charset="-120"/>
                <a:ea typeface="微軟正黑體" pitchFamily="34" charset="-120"/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zh-TW" altLang="en-US" dirty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23A271A1-F6D6-438B-A432-4747EE7ECD40}" type="datetimeFigureOut">
              <a:rPr lang="en-US" smtClean="0"/>
              <a:pPr eaLnBrk="1" latinLnBrk="0" hangingPunct="1"/>
              <a:t>12/19/2023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C94032-CD4C-4C25-B0C2-CEC720522D92}" type="slidenum">
              <a:rPr kumimoji="0" lang="en-US" smtClean="0"/>
              <a:pPr eaLnBrk="1" latinLnBrk="0" hangingPunct="1"/>
              <a:t>‹#›</a:t>
            </a:fld>
            <a:endParaRPr kumimoji="0" lang="en-US" dirty="0">
              <a:solidFill>
                <a:srgbClr val="FFFFFF"/>
              </a:solidFill>
            </a:endParaRPr>
          </a:p>
        </p:txBody>
      </p:sp>
      <p:sp>
        <p:nvSpPr>
          <p:cNvPr id="8" name="直線接點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直線接點 9"/>
          <p:cNvSpPr>
            <a:spLocks noChangeShapeType="1"/>
          </p:cNvSpPr>
          <p:nvPr/>
        </p:nvSpPr>
        <p:spPr bwMode="auto">
          <a:xfrm rot="5400000">
            <a:off x="3160645" y="3324225"/>
            <a:ext cx="603504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等腰三角形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內容版面配置區 11"/>
          <p:cNvSpPr>
            <a:spLocks noGrp="1"/>
          </p:cNvSpPr>
          <p:nvPr>
            <p:ph sz="quarter" idx="1"/>
          </p:nvPr>
        </p:nvSpPr>
        <p:spPr>
          <a:xfrm>
            <a:off x="304800" y="304800"/>
            <a:ext cx="5715000" cy="5715000"/>
          </a:xfrm>
        </p:spPr>
        <p:txBody>
          <a:bodyPr/>
          <a:lstStyle/>
          <a:p>
            <a:pPr lvl="0" eaLnBrk="1" latinLnBrk="0" hangingPunct="1"/>
            <a:r>
              <a:rPr lang="zh-TW" altLang="en-US" dirty="0"/>
              <a:t>按一下以編輯母片文字樣式</a:t>
            </a:r>
          </a:p>
          <a:p>
            <a:pPr lvl="1" eaLnBrk="1" latinLnBrk="0" hangingPunct="1"/>
            <a:r>
              <a:rPr lang="zh-TW" altLang="en-US" dirty="0"/>
              <a:t>第二層</a:t>
            </a:r>
          </a:p>
          <a:p>
            <a:pPr lvl="2" eaLnBrk="1" latinLnBrk="0" hangingPunct="1"/>
            <a:r>
              <a:rPr lang="zh-TW" altLang="en-US" dirty="0"/>
              <a:t>第三層</a:t>
            </a:r>
          </a:p>
          <a:p>
            <a:pPr lvl="3" eaLnBrk="1" latinLnBrk="0" hangingPunct="1"/>
            <a:r>
              <a:rPr lang="zh-TW" altLang="en-US" dirty="0"/>
              <a:t>第四層</a:t>
            </a:r>
          </a:p>
          <a:p>
            <a:pPr lvl="4" eaLnBrk="1" latinLnBrk="0" hangingPunct="1"/>
            <a:r>
              <a:rPr lang="zh-TW" altLang="en-US" dirty="0"/>
              <a:t>第五層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含標題的圖片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500856"/>
            <a:ext cx="8229600" cy="674688"/>
          </a:xfrm>
          <a:ln>
            <a:solidFill>
              <a:schemeClr val="accent1"/>
            </a:solidFill>
          </a:ln>
        </p:spPr>
        <p:txBody>
          <a:bodyPr lIns="274320" anchor="ctr"/>
          <a:lstStyle>
            <a:lvl1pPr algn="r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457200" y="1905000"/>
            <a:ext cx="8229600" cy="4270248"/>
          </a:xfrm>
          <a:solidFill>
            <a:schemeClr val="tx1">
              <a:shade val="50000"/>
            </a:schemeClr>
          </a:solidFill>
          <a:ln>
            <a:noFill/>
          </a:ln>
          <a:effectLst/>
        </p:spPr>
        <p:txBody>
          <a:bodyPr/>
          <a:lstStyle>
            <a:lvl1pPr marL="0" indent="0">
              <a:spcBef>
                <a:spcPts val="600"/>
              </a:spcBef>
              <a:buNone/>
              <a:defRPr sz="3200"/>
            </a:lvl1pPr>
          </a:lstStyle>
          <a:p>
            <a:r>
              <a:rPr kumimoji="0" lang="zh-TW" altLang="en-US"/>
              <a:t>按一下圖示以新增圖片</a:t>
            </a:r>
            <a:endParaRPr kumimoji="0" 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219200"/>
            <a:ext cx="8229600" cy="533400"/>
          </a:xfrm>
        </p:spPr>
        <p:txBody>
          <a:bodyPr anchor="ctr" anchorCtr="0"/>
          <a:lstStyle>
            <a:lvl1pPr marL="0" indent="0" algn="l">
              <a:buFontTx/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23A271A1-F6D6-438B-A432-4747EE7ECD40}" type="datetimeFigureOut">
              <a:rPr lang="en-US" smtClean="0"/>
              <a:pPr eaLnBrk="1" latinLnBrk="0" hangingPunct="1"/>
              <a:t>12/19/2023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 dirty="0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 eaLnBrk="1" latinLnBrk="0" hangingPunct="1"/>
            <a:fld id="{F0C94032-CD4C-4C25-B0C2-CEC720522D92}" type="slidenum">
              <a:rPr kumimoji="0" lang="en-US" smtClean="0"/>
              <a:pPr algn="ctr" eaLnBrk="1" latinLnBrk="0" hangingPunct="1"/>
              <a:t>‹#›</a:t>
            </a:fld>
            <a:endParaRPr kumimoji="0" lang="en-US" sz="2800" dirty="0"/>
          </a:p>
        </p:txBody>
      </p:sp>
      <p:sp>
        <p:nvSpPr>
          <p:cNvPr id="8" name="直線接點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等腰三角形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矩形 9"/>
          <p:cNvSpPr/>
          <p:nvPr/>
        </p:nvSpPr>
        <p:spPr>
          <a:xfrm>
            <a:off x="457200" y="500856"/>
            <a:ext cx="182880" cy="68580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23A271A1-F6D6-438B-A432-4747EE7ECD40}" type="datetimeFigureOut">
              <a:rPr lang="en-US" smtClean="0"/>
              <a:pPr eaLnBrk="1" latinLnBrk="0" hangingPunct="1"/>
              <a:t>12/19/2023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C94032-CD4C-4C25-B0C2-CEC720522D92}" type="slidenum">
              <a:rPr kumimoji="0" lang="en-US" smtClean="0"/>
              <a:pPr eaLnBrk="1" latinLnBrk="0" hangingPunct="1"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23A271A1-F6D6-438B-A432-4747EE7ECD40}" type="datetimeFigureOut">
              <a:rPr lang="en-US" smtClean="0"/>
              <a:pPr eaLnBrk="1" latinLnBrk="0" hangingPunct="1"/>
              <a:t>12/19/2023</a:t>
            </a:fld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C94032-CD4C-4C25-B0C2-CEC720522D92}" type="slidenum">
              <a:rPr kumimoji="0" lang="en-US" smtClean="0"/>
              <a:pPr eaLnBrk="1" latinLnBrk="0" hangingPunct="1"/>
              <a:t>‹#›</a:t>
            </a:fld>
            <a:endParaRPr kumimoji="0" lang="en-US" dirty="0"/>
          </a:p>
        </p:txBody>
      </p:sp>
      <p:sp>
        <p:nvSpPr>
          <p:cNvPr id="7" name="直線接點 6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8" name="等腰三角形 7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直線接點 8"/>
          <p:cNvSpPr>
            <a:spLocks noChangeShapeType="1"/>
          </p:cNvSpPr>
          <p:nvPr/>
        </p:nvSpPr>
        <p:spPr bwMode="auto">
          <a:xfrm rot="5400000">
            <a:off x="3629607" y="3201952"/>
            <a:ext cx="585216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標題版面配置區 2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</p:spPr>
        <p:txBody>
          <a:bodyPr vert="horz" anchor="b" anchorCtr="0">
            <a:normAutofit/>
          </a:bodyPr>
          <a:lstStyle/>
          <a:p>
            <a:r>
              <a:rPr kumimoji="0" lang="zh-TW" altLang="en-US" dirty="0"/>
              <a:t>按一下以編輯母片標題樣式</a:t>
            </a:r>
            <a:endParaRPr kumimoji="0" lang="en-US" dirty="0"/>
          </a:p>
        </p:txBody>
      </p:sp>
      <p:sp>
        <p:nvSpPr>
          <p:cNvPr id="13" name="文字版面配置區 12"/>
          <p:cNvSpPr>
            <a:spLocks noGrp="1"/>
          </p:cNvSpPr>
          <p:nvPr>
            <p:ph type="body" idx="1"/>
          </p:nvPr>
        </p:nvSpPr>
        <p:spPr>
          <a:xfrm>
            <a:off x="457200" y="1219200"/>
            <a:ext cx="8229600" cy="4910328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zh-TW" altLang="en-US" dirty="0"/>
              <a:t>按一下以編輯母片文字樣式</a:t>
            </a:r>
          </a:p>
          <a:p>
            <a:pPr lvl="1" eaLnBrk="1" latinLnBrk="0" hangingPunct="1"/>
            <a:r>
              <a:rPr kumimoji="0" lang="zh-TW" altLang="en-US" dirty="0"/>
              <a:t>第二層</a:t>
            </a:r>
          </a:p>
          <a:p>
            <a:pPr lvl="2" eaLnBrk="1" latinLnBrk="0" hangingPunct="1"/>
            <a:r>
              <a:rPr kumimoji="0" lang="zh-TW" altLang="en-US" dirty="0"/>
              <a:t>第三層</a:t>
            </a:r>
          </a:p>
          <a:p>
            <a:pPr lvl="3" eaLnBrk="1" latinLnBrk="0" hangingPunct="1"/>
            <a:r>
              <a:rPr kumimoji="0" lang="zh-TW" altLang="en-US" dirty="0"/>
              <a:t>第四層</a:t>
            </a:r>
          </a:p>
          <a:p>
            <a:pPr lvl="4" eaLnBrk="1" latinLnBrk="0" hangingPunct="1"/>
            <a:r>
              <a:rPr kumimoji="0" lang="zh-TW" altLang="en-US" dirty="0"/>
              <a:t>第五層</a:t>
            </a:r>
            <a:endParaRPr kumimoji="0" lang="en-US" dirty="0"/>
          </a:p>
        </p:txBody>
      </p:sp>
      <p:sp>
        <p:nvSpPr>
          <p:cNvPr id="14" name="日期版面配置區 13"/>
          <p:cNvSpPr>
            <a:spLocks noGrp="1"/>
          </p:cNvSpPr>
          <p:nvPr>
            <p:ph type="dt" sz="half" idx="2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eaLnBrk="1" latinLnBrk="0" hangingPunct="1"/>
            <a:fld id="{23A271A1-F6D6-438B-A432-4747EE7ECD40}" type="datetimeFigureOut">
              <a:rPr lang="en-US" smtClean="0"/>
              <a:pPr eaLnBrk="1" latinLnBrk="0" hangingPunct="1"/>
              <a:t>12/19/2023</a:t>
            </a:fld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3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algn="r" eaLnBrk="1" latinLnBrk="0" hangingPunct="1"/>
            <a:endParaRPr kumimoji="0" lang="en-US" sz="1400" dirty="0">
              <a:solidFill>
                <a:schemeClr val="tx2"/>
              </a:solidFill>
            </a:endParaRPr>
          </a:p>
        </p:txBody>
      </p:sp>
      <p:sp>
        <p:nvSpPr>
          <p:cNvPr id="23" name="投影片編號版面配置區 22"/>
          <p:cNvSpPr>
            <a:spLocks noGrp="1"/>
          </p:cNvSpPr>
          <p:nvPr>
            <p:ph type="sldNum" sz="quarter" idx="4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algn="ctr" eaLnBrk="1" latinLnBrk="0" hangingPunct="1"/>
            <a:fld id="{F0C94032-CD4C-4C25-B0C2-CEC720522D92}" type="slidenum">
              <a:rPr kumimoji="0" lang="en-US" smtClean="0"/>
              <a:pPr algn="ctr" eaLnBrk="1" latinLnBrk="0" hangingPunct="1"/>
              <a:t>‹#›</a:t>
            </a:fld>
            <a:endParaRPr kumimoji="0" lang="en-US" sz="1400" b="1" dirty="0">
              <a:solidFill>
                <a:srgbClr val="FFFFFF"/>
              </a:solidFill>
            </a:endParaRPr>
          </a:p>
        </p:txBody>
      </p:sp>
      <p:sp>
        <p:nvSpPr>
          <p:cNvPr id="28" name="直線接點 2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9" name="直線接點 28"/>
          <p:cNvSpPr>
            <a:spLocks noChangeShapeType="1"/>
          </p:cNvSpPr>
          <p:nvPr/>
        </p:nvSpPr>
        <p:spPr bwMode="auto">
          <a:xfrm>
            <a:off x="457200" y="1143000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等腰三角形 9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rtl="0" eaLnBrk="1" latinLnBrk="0" hangingPunct="1">
        <a:spcBef>
          <a:spcPct val="0"/>
        </a:spcBef>
        <a:buNone/>
        <a:defRPr kumimoji="0" sz="3200" kern="1200">
          <a:solidFill>
            <a:schemeClr val="tx2"/>
          </a:solidFill>
          <a:latin typeface="微軟正黑體" pitchFamily="34" charset="-120"/>
          <a:ea typeface="微軟正黑體" pitchFamily="34" charset="-120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6000"/>
        <a:buFont typeface="Wingdings 3"/>
        <a:buChar char=""/>
        <a:defRPr kumimoji="0" sz="2600" kern="1200">
          <a:solidFill>
            <a:schemeClr val="tx1"/>
          </a:solidFill>
          <a:latin typeface="微軟正黑體" pitchFamily="34" charset="-120"/>
          <a:ea typeface="微軟正黑體" pitchFamily="34" charset="-120"/>
          <a:cs typeface="+mn-cs"/>
        </a:defRPr>
      </a:lvl1pPr>
      <a:lvl2pPr marL="548640" indent="-274320" algn="l" rtl="0" eaLnBrk="1" latinLnBrk="0" hangingPunct="1">
        <a:spcBef>
          <a:spcPts val="500"/>
        </a:spcBef>
        <a:buClr>
          <a:schemeClr val="accent2"/>
        </a:buClr>
        <a:buSzPct val="76000"/>
        <a:buFont typeface="Wingdings 3"/>
        <a:buChar char=""/>
        <a:defRPr kumimoji="0" sz="2300" kern="1200">
          <a:solidFill>
            <a:schemeClr val="tx2"/>
          </a:solidFill>
          <a:latin typeface="微軟正黑體" pitchFamily="34" charset="-120"/>
          <a:ea typeface="微軟正黑體" pitchFamily="34" charset="-120"/>
          <a:cs typeface="+mn-cs"/>
        </a:defRPr>
      </a:lvl2pPr>
      <a:lvl3pPr marL="822960" indent="-228600" algn="l" rtl="0" eaLnBrk="1" latinLnBrk="0" hangingPunct="1">
        <a:spcBef>
          <a:spcPts val="500"/>
        </a:spcBef>
        <a:buClr>
          <a:schemeClr val="bg1">
            <a:shade val="50000"/>
          </a:schemeClr>
        </a:buClr>
        <a:buSzPct val="76000"/>
        <a:buFont typeface="Wingdings 3"/>
        <a:buChar char=""/>
        <a:defRPr kumimoji="0" sz="2000" kern="1200">
          <a:solidFill>
            <a:schemeClr val="tx1"/>
          </a:solidFill>
          <a:latin typeface="微軟正黑體" pitchFamily="34" charset="-120"/>
          <a:ea typeface="微軟正黑體" pitchFamily="34" charset="-120"/>
          <a:cs typeface="+mn-cs"/>
        </a:defRPr>
      </a:lvl3pPr>
      <a:lvl4pPr marL="1097280" indent="-228600" algn="l" rtl="0" eaLnBrk="1" latinLnBrk="0" hangingPunct="1">
        <a:spcBef>
          <a:spcPts val="400"/>
        </a:spcBef>
        <a:buClr>
          <a:schemeClr val="accent2">
            <a:shade val="75000"/>
          </a:schemeClr>
        </a:buClr>
        <a:buSzPct val="70000"/>
        <a:buFont typeface="Wingdings"/>
        <a:buChar char=""/>
        <a:defRPr kumimoji="0" sz="1800" kern="1200">
          <a:solidFill>
            <a:schemeClr val="tx1"/>
          </a:solidFill>
          <a:latin typeface="微軟正黑體" pitchFamily="34" charset="-120"/>
          <a:ea typeface="微軟正黑體" pitchFamily="34" charset="-120"/>
          <a:cs typeface="+mn-cs"/>
        </a:defRPr>
      </a:lvl4pPr>
      <a:lvl5pPr marL="1371600" indent="-228600" algn="l" rtl="0" eaLnBrk="1" latinLnBrk="0" hangingPunct="1">
        <a:spcBef>
          <a:spcPts val="300"/>
        </a:spcBef>
        <a:buClr>
          <a:schemeClr val="accent2"/>
        </a:buClr>
        <a:buSzPct val="70000"/>
        <a:buFont typeface="Wingdings"/>
        <a:buChar char=""/>
        <a:defRPr kumimoji="0" sz="1600" kern="1200">
          <a:solidFill>
            <a:schemeClr val="tx1"/>
          </a:solidFill>
          <a:latin typeface="微軟正黑體" pitchFamily="34" charset="-120"/>
          <a:ea typeface="微軟正黑體" pitchFamily="34" charset="-120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hyperlink" Target="https://www.flag.com.tw/activity/F2708/exercise/1.0/algorithms/gift_wrapping/anim.html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hyperlink" Target="https://www.flag.com.tw/activity/F2708/exercise/1.0/algorithms/graham_scan/anim.html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hyperlink" Target="https://www.flag.com.tw/activity/F2708/exercise/1.0/algorithms/andrew/anim.html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web.ntnu.edu.tw/~algo/ConvexHull.html" TargetMode="External"/><Relationship Id="rId2" Type="http://schemas.openxmlformats.org/officeDocument/2006/relationships/hyperlink" Target="https://zh.wikipedia.org/zh-tw/%E5%87%B8%E5%8C%85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emf"/><Relationship Id="rId5" Type="http://schemas.openxmlformats.org/officeDocument/2006/relationships/hyperlink" Target="https://www.flag.com.tw/activity/F2708/exercise/books/" TargetMode="External"/><Relationship Id="rId4" Type="http://schemas.openxmlformats.org/officeDocument/2006/relationships/hyperlink" Target="https://www.airitilibrary.com/Article/Detail/P20191126001-201911-201911260014-201911260014-150-155" TargetMode="Externa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219200" y="4112076"/>
            <a:ext cx="6858000" cy="1089660"/>
          </a:xfrm>
        </p:spPr>
        <p:txBody>
          <a:bodyPr>
            <a:normAutofit/>
          </a:bodyPr>
          <a:lstStyle/>
          <a:p>
            <a:pPr algn="ctr"/>
            <a:r>
              <a:rPr lang="zh-TW" altLang="en-US" sz="4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凸包 </a:t>
            </a:r>
            <a:r>
              <a:rPr lang="en-US" altLang="zh-TW" sz="4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-</a:t>
            </a:r>
            <a:r>
              <a:rPr lang="zh-TW" altLang="en-US" sz="4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altLang="zh-TW" sz="4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Convex Hull</a:t>
            </a:r>
            <a:endParaRPr lang="zh-TW" altLang="en-US" sz="4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219200" y="5359172"/>
            <a:ext cx="6858000" cy="586740"/>
          </a:xfrm>
        </p:spPr>
        <p:txBody>
          <a:bodyPr/>
          <a:lstStyle/>
          <a:p>
            <a:pPr algn="ctr"/>
            <a:r>
              <a:rPr lang="en-US" altLang="zh-TW" dirty="0">
                <a:solidFill>
                  <a:schemeClr val="tx1">
                    <a:lumMod val="75000"/>
                    <a:lumOff val="25000"/>
                  </a:schemeClr>
                </a:solidFill>
              </a:rPr>
              <a:t>349</a:t>
            </a:r>
            <a:r>
              <a:rPr lang="zh-TW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班  </a:t>
            </a:r>
            <a:r>
              <a:rPr lang="en-US" altLang="zh-TW" dirty="0">
                <a:solidFill>
                  <a:schemeClr val="tx1">
                    <a:lumMod val="75000"/>
                    <a:lumOff val="25000"/>
                  </a:schemeClr>
                </a:solidFill>
              </a:rPr>
              <a:t>14</a:t>
            </a:r>
            <a:r>
              <a:rPr lang="zh-TW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號  郭昀漢</a:t>
            </a:r>
          </a:p>
        </p:txBody>
      </p:sp>
      <p:pic>
        <p:nvPicPr>
          <p:cNvPr id="8" name="圖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1800" y="1193562"/>
            <a:ext cx="3600400" cy="1869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50563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sz="4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大綱</a:t>
            </a:r>
          </a:p>
        </p:txBody>
      </p:sp>
      <p:sp>
        <p:nvSpPr>
          <p:cNvPr id="2" name="內容版面配置區 1"/>
          <p:cNvSpPr>
            <a:spLocks noGrp="1"/>
          </p:cNvSpPr>
          <p:nvPr>
            <p:ph sz="quarter" idx="1"/>
          </p:nvPr>
        </p:nvSpPr>
        <p:spPr>
          <a:xfrm>
            <a:off x="755576" y="1628800"/>
            <a:ext cx="8229600" cy="4362288"/>
          </a:xfrm>
        </p:spPr>
        <p:txBody>
          <a:bodyPr/>
          <a:lstStyle/>
          <a:p>
            <a:pPr>
              <a:spcBef>
                <a:spcPts val="1500"/>
              </a:spcBef>
            </a:pPr>
            <a:r>
              <a:rPr lang="zh-TW" alt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凸包定義</a:t>
            </a:r>
            <a:endParaRPr lang="en-US" altLang="zh-TW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spcBef>
                <a:spcPts val="1500"/>
              </a:spcBef>
            </a:pPr>
            <a:r>
              <a:rPr lang="zh-TW" alt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二維凸包</a:t>
            </a:r>
            <a:endParaRPr lang="en-US" altLang="zh-TW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spcBef>
                <a:spcPts val="1500"/>
              </a:spcBef>
            </a:pPr>
            <a:r>
              <a:rPr lang="zh-TW" altLang="en-US" sz="2000" dirty="0"/>
              <a:t>應用範圍</a:t>
            </a:r>
            <a:endParaRPr lang="en-US" altLang="zh-TW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spcBef>
                <a:spcPts val="1500"/>
              </a:spcBef>
            </a:pPr>
            <a:r>
              <a:rPr lang="zh-TW" alt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演算法介紹</a:t>
            </a:r>
            <a:endParaRPr lang="en-US" altLang="zh-TW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spcBef>
                <a:spcPts val="1500"/>
              </a:spcBef>
            </a:pPr>
            <a:r>
              <a:rPr lang="zh-TW" altLang="en-US" sz="2000" dirty="0"/>
              <a:t>實作程式碼</a:t>
            </a:r>
            <a:endParaRPr lang="en-US" altLang="zh-TW" sz="2000" dirty="0"/>
          </a:p>
          <a:p>
            <a:pPr>
              <a:spcBef>
                <a:spcPts val="1500"/>
              </a:spcBef>
            </a:pPr>
            <a:r>
              <a:rPr lang="zh-TW" altLang="en-US" sz="2000" dirty="0"/>
              <a:t>執行結果</a:t>
            </a:r>
            <a:endParaRPr lang="en-US" altLang="zh-TW" sz="2000" dirty="0"/>
          </a:p>
          <a:p>
            <a:pPr>
              <a:spcBef>
                <a:spcPts val="1500"/>
              </a:spcBef>
            </a:pPr>
            <a:r>
              <a:rPr lang="zh-TW" alt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心得感想</a:t>
            </a:r>
            <a:endParaRPr lang="en-US" altLang="zh-TW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spcBef>
                <a:spcPts val="1500"/>
              </a:spcBef>
            </a:pPr>
            <a:r>
              <a:rPr lang="zh-TW" alt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資料來源</a:t>
            </a:r>
            <a:endParaRPr lang="en-US" altLang="zh-TW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endParaRPr lang="zh-TW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989645">
            <a:off x="5213337" y="3348413"/>
            <a:ext cx="2921089" cy="2448225"/>
          </a:xfrm>
          <a:prstGeom prst="rect">
            <a:avLst/>
          </a:prstGeom>
        </p:spPr>
      </p:pic>
      <p:pic>
        <p:nvPicPr>
          <p:cNvPr id="7" name="圖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912223">
            <a:off x="3786486" y="2088405"/>
            <a:ext cx="1638102" cy="1367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73864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凸包定義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quarter" idx="1"/>
          </p:nvPr>
        </p:nvSpPr>
        <p:spPr>
          <a:xfrm>
            <a:off x="457200" y="1392851"/>
            <a:ext cx="8229600" cy="4937760"/>
          </a:xfrm>
        </p:spPr>
        <p:txBody>
          <a:bodyPr/>
          <a:lstStyle/>
          <a:p>
            <a:r>
              <a:rPr lang="zh-TW" altLang="en-US" sz="2000" b="1" dirty="0"/>
              <a:t>維基百科：</a:t>
            </a:r>
            <a:endParaRPr lang="en-US" altLang="zh-TW" sz="2000" b="1" dirty="0"/>
          </a:p>
          <a:p>
            <a:pPr marL="0" indent="0">
              <a:buNone/>
            </a:pPr>
            <a:r>
              <a:rPr lang="zh-TW" altLang="en-US" sz="1800" dirty="0"/>
              <a:t>「在一個實數向量空間</a:t>
            </a:r>
            <a:r>
              <a:rPr lang="en-US" altLang="zh-TW" sz="1800" dirty="0"/>
              <a:t>V</a:t>
            </a:r>
            <a:r>
              <a:rPr lang="zh-TW" altLang="en-US" sz="1800" dirty="0"/>
              <a:t>中，對於給定集合</a:t>
            </a:r>
            <a:r>
              <a:rPr lang="en-US" altLang="zh-TW" sz="1800" dirty="0"/>
              <a:t>X</a:t>
            </a:r>
            <a:r>
              <a:rPr lang="zh-TW" altLang="en-US" sz="1800" dirty="0"/>
              <a:t>，所有包含</a:t>
            </a:r>
            <a:r>
              <a:rPr lang="en-US" altLang="zh-TW" sz="1800" dirty="0"/>
              <a:t>X</a:t>
            </a:r>
            <a:r>
              <a:rPr lang="zh-TW" altLang="en-US" sz="1800" dirty="0"/>
              <a:t>的凸集的交集</a:t>
            </a:r>
            <a:r>
              <a:rPr lang="en-US" altLang="zh-TW" sz="1800" dirty="0"/>
              <a:t>S</a:t>
            </a:r>
            <a:r>
              <a:rPr lang="zh-TW" altLang="en-US" sz="1800" dirty="0"/>
              <a:t>被稱為</a:t>
            </a:r>
            <a:r>
              <a:rPr lang="en-US" altLang="zh-TW" sz="1800" dirty="0"/>
              <a:t>X</a:t>
            </a:r>
            <a:r>
              <a:rPr lang="zh-TW" altLang="en-US" sz="1800" dirty="0"/>
              <a:t>的凸包。」</a:t>
            </a:r>
            <a:endParaRPr lang="en-US" altLang="zh-TW" sz="1800" dirty="0"/>
          </a:p>
          <a:p>
            <a:pPr marL="0" indent="0">
              <a:buNone/>
            </a:pPr>
            <a:endParaRPr lang="en-US" altLang="zh-TW" sz="2000" dirty="0"/>
          </a:p>
          <a:p>
            <a:r>
              <a:rPr lang="zh-TW" altLang="en-US" sz="2000" b="1" dirty="0"/>
              <a:t>演算法筆記：</a:t>
            </a:r>
            <a:endParaRPr lang="en-US" altLang="zh-TW" sz="2000" b="1" dirty="0"/>
          </a:p>
          <a:p>
            <a:pPr marL="0" indent="0">
              <a:buNone/>
            </a:pPr>
            <a:r>
              <a:rPr lang="zh-TW" altLang="en-US" sz="1800" dirty="0"/>
              <a:t>「在高維空間中有一群散佈各處的點，</a:t>
            </a:r>
            <a:r>
              <a:rPr lang="en-US" altLang="zh-TW" sz="1800" dirty="0"/>
              <a:t>『</a:t>
            </a:r>
            <a:r>
              <a:rPr lang="zh-TW" altLang="en-US" sz="1800" dirty="0"/>
              <a:t>凸包</a:t>
            </a:r>
            <a:r>
              <a:rPr lang="en-US" altLang="zh-TW" sz="1800" dirty="0"/>
              <a:t>』</a:t>
            </a:r>
            <a:r>
              <a:rPr lang="zh-TW" altLang="en-US" sz="1800" dirty="0"/>
              <a:t>是包覆這群點的所有外殼當中，表面積暨容積最小的一個外殼，而最小的外殼一定是凸的。」</a:t>
            </a:r>
            <a:endParaRPr lang="en-US" altLang="zh-TW" sz="1800" dirty="0"/>
          </a:p>
          <a:p>
            <a:pPr marL="0" indent="0">
              <a:buNone/>
            </a:pPr>
            <a:endParaRPr lang="en-US" altLang="zh-TW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6016" y="4293096"/>
            <a:ext cx="3539687" cy="1735808"/>
          </a:xfrm>
          <a:prstGeom prst="rect">
            <a:avLst/>
          </a:prstGeom>
        </p:spPr>
      </p:pic>
      <p:sp>
        <p:nvSpPr>
          <p:cNvPr id="5" name="文字方塊 4"/>
          <p:cNvSpPr txBox="1"/>
          <p:nvPr/>
        </p:nvSpPr>
        <p:spPr>
          <a:xfrm>
            <a:off x="683568" y="4535632"/>
            <a:ext cx="4218531" cy="10457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2200" dirty="0">
                <a:solidFill>
                  <a:schemeClr val="tx1">
                    <a:lumMod val="85000"/>
                    <a:lumOff val="15000"/>
                  </a:schemeClr>
                </a:solidFill>
                <a:latin typeface="微軟正黑體" pitchFamily="34" charset="-120"/>
                <a:ea typeface="微軟正黑體" pitchFamily="34" charset="-120"/>
              </a:rPr>
              <a:t>「凸包是能包圍全部點的  </a:t>
            </a:r>
            <a:endParaRPr lang="en-US" altLang="zh-TW" sz="2200" dirty="0">
              <a:solidFill>
                <a:schemeClr val="tx1">
                  <a:lumMod val="85000"/>
                  <a:lumOff val="15000"/>
                </a:schemeClr>
              </a:solidFill>
              <a:latin typeface="微軟正黑體" pitchFamily="34" charset="-120"/>
              <a:ea typeface="微軟正黑體" pitchFamily="34" charset="-120"/>
            </a:endParaRPr>
          </a:p>
          <a:p>
            <a:pPr>
              <a:lnSpc>
                <a:spcPct val="150000"/>
              </a:lnSpc>
            </a:pPr>
            <a:r>
              <a:rPr lang="zh-TW" altLang="en-US" sz="2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軟正黑體" pitchFamily="34" charset="-120"/>
                <a:ea typeface="微軟正黑體" pitchFamily="34" charset="-120"/>
              </a:rPr>
              <a:t>    最小凸多邊形</a:t>
            </a:r>
            <a:r>
              <a:rPr lang="zh-TW" altLang="en-US" sz="2200" dirty="0">
                <a:solidFill>
                  <a:schemeClr val="tx1">
                    <a:lumMod val="85000"/>
                    <a:lumOff val="15000"/>
                  </a:schemeClr>
                </a:solidFill>
                <a:latin typeface="微軟正黑體" pitchFamily="34" charset="-120"/>
                <a:ea typeface="微軟正黑體" pitchFamily="34" charset="-120"/>
              </a:rPr>
              <a:t>或</a:t>
            </a:r>
            <a:r>
              <a:rPr lang="zh-TW" altLang="en-US" sz="2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軟正黑體" pitchFamily="34" charset="-120"/>
                <a:ea typeface="微軟正黑體" pitchFamily="34" charset="-120"/>
              </a:rPr>
              <a:t>凸殼</a:t>
            </a:r>
            <a:r>
              <a:rPr lang="zh-TW" altLang="en-US" sz="2200" dirty="0">
                <a:solidFill>
                  <a:schemeClr val="tx1">
                    <a:lumMod val="85000"/>
                    <a:lumOff val="15000"/>
                  </a:schemeClr>
                </a:solidFill>
                <a:latin typeface="微軟正黑體" pitchFamily="34" charset="-120"/>
                <a:ea typeface="微軟正黑體" pitchFamily="34" charset="-120"/>
              </a:rPr>
              <a:t>。」</a:t>
            </a:r>
          </a:p>
        </p:txBody>
      </p:sp>
      <p:sp>
        <p:nvSpPr>
          <p:cNvPr id="6" name="文字方塊 5"/>
          <p:cNvSpPr txBox="1"/>
          <p:nvPr/>
        </p:nvSpPr>
        <p:spPr>
          <a:xfrm>
            <a:off x="5932662" y="5902758"/>
            <a:ext cx="110639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200" dirty="0">
                <a:latin typeface="微軟正黑體" pitchFamily="34" charset="-120"/>
                <a:ea typeface="微軟正黑體" pitchFamily="34" charset="-120"/>
              </a:rPr>
              <a:t>▲凸包示意圖</a:t>
            </a:r>
          </a:p>
        </p:txBody>
      </p:sp>
    </p:spTree>
    <p:extLst>
      <p:ext uri="{BB962C8B-B14F-4D97-AF65-F5344CB8AC3E}">
        <p14:creationId xmlns:p14="http://schemas.microsoft.com/office/powerpoint/2010/main" val="39160140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二維凸包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1"/>
          </p:nvPr>
        </p:nvSpPr>
        <p:spPr>
          <a:xfrm>
            <a:off x="457200" y="1396364"/>
            <a:ext cx="8229600" cy="4937760"/>
          </a:xfrm>
        </p:spPr>
        <p:txBody>
          <a:bodyPr/>
          <a:lstStyle/>
          <a:p>
            <a:r>
              <a:rPr lang="zh-TW" altLang="en-US" sz="2000" dirty="0"/>
              <a:t>二維平面上的凸包是</a:t>
            </a:r>
            <a:r>
              <a:rPr lang="zh-TW" altLang="en-US" sz="2000" b="1" dirty="0"/>
              <a:t>凸多邊形</a:t>
            </a:r>
            <a:r>
              <a:rPr lang="zh-TW" altLang="en-US" sz="2000" dirty="0"/>
              <a:t>，</a:t>
            </a:r>
            <a:endParaRPr lang="en-US" altLang="zh-TW" sz="2000" dirty="0"/>
          </a:p>
          <a:p>
            <a:pPr marL="0" indent="0">
              <a:buNone/>
            </a:pPr>
            <a:r>
              <a:rPr lang="en-US" altLang="zh-TW" sz="2000" dirty="0"/>
              <a:t>    </a:t>
            </a:r>
            <a:r>
              <a:rPr lang="zh-TW" altLang="en-US" sz="2000" dirty="0"/>
              <a:t>最外圍的點連線組成的多邊形即是凸包。</a:t>
            </a:r>
            <a:endParaRPr lang="en-US" altLang="zh-TW" sz="2000" dirty="0"/>
          </a:p>
          <a:p>
            <a:pPr marL="0" indent="0">
              <a:buNone/>
            </a:pPr>
            <a:endParaRPr lang="en-US" altLang="zh-TW" sz="2000" dirty="0"/>
          </a:p>
          <a:p>
            <a:r>
              <a:rPr lang="zh-TW" altLang="en-US" sz="2000" dirty="0"/>
              <a:t>可將二維平面凸包視為一條剛好包著所有點的橡皮圈，</a:t>
            </a:r>
            <a:endParaRPr lang="en-US" altLang="zh-TW" sz="2000" dirty="0"/>
          </a:p>
          <a:p>
            <a:pPr marL="0" indent="0">
              <a:buNone/>
            </a:pPr>
            <a:r>
              <a:rPr lang="en-US" altLang="zh-TW" sz="2000" dirty="0"/>
              <a:t>    </a:t>
            </a:r>
            <a:r>
              <a:rPr lang="zh-TW" altLang="en-US" sz="2000" dirty="0"/>
              <a:t>也可想像一條線繞最外圍的點。</a:t>
            </a:r>
            <a:endParaRPr lang="en-US" altLang="zh-TW" sz="2000" dirty="0"/>
          </a:p>
          <a:p>
            <a:endParaRPr lang="en-US" altLang="zh-TW" dirty="0"/>
          </a:p>
          <a:p>
            <a:endParaRPr lang="zh-TW" altLang="en-US" dirty="0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9597" y="4149080"/>
            <a:ext cx="5344806" cy="1728192"/>
          </a:xfrm>
          <a:prstGeom prst="rect">
            <a:avLst/>
          </a:prstGeom>
        </p:spPr>
      </p:pic>
      <p:sp>
        <p:nvSpPr>
          <p:cNvPr id="6" name="文字方塊 5"/>
          <p:cNvSpPr txBox="1"/>
          <p:nvPr/>
        </p:nvSpPr>
        <p:spPr>
          <a:xfrm>
            <a:off x="3711027" y="3749801"/>
            <a:ext cx="172194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200" dirty="0">
                <a:latin typeface="微軟正黑體" pitchFamily="34" charset="-120"/>
                <a:ea typeface="微軟正黑體" pitchFamily="34" charset="-120"/>
              </a:rPr>
              <a:t>▼二維平面凸包示意圖</a:t>
            </a:r>
          </a:p>
        </p:txBody>
      </p:sp>
    </p:spTree>
    <p:extLst>
      <p:ext uri="{BB962C8B-B14F-4D97-AF65-F5344CB8AC3E}">
        <p14:creationId xmlns:p14="http://schemas.microsoft.com/office/powerpoint/2010/main" val="32039294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應用範圍</a:t>
            </a:r>
            <a:endParaRPr lang="en-US" altLang="zh-TW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sz="quarter" idx="1"/>
          </p:nvPr>
        </p:nvSpPr>
        <p:spPr>
          <a:xfrm>
            <a:off x="457200" y="1445670"/>
            <a:ext cx="8229600" cy="4575618"/>
          </a:xfrm>
        </p:spPr>
        <p:txBody>
          <a:bodyPr>
            <a:normAutofit/>
          </a:bodyPr>
          <a:lstStyle/>
          <a:p>
            <a:r>
              <a:rPr lang="zh-TW" altLang="en-US" sz="2000" dirty="0"/>
              <a:t>圖形處理</a:t>
            </a:r>
            <a:endParaRPr lang="en-US" altLang="zh-TW" sz="2000" dirty="0"/>
          </a:p>
          <a:p>
            <a:r>
              <a:rPr lang="zh-TW" altLang="en-US" sz="2000" dirty="0"/>
              <a:t>電腦視覺</a:t>
            </a:r>
            <a:endParaRPr lang="en-US" altLang="zh-TW" sz="2000" dirty="0"/>
          </a:p>
          <a:p>
            <a:r>
              <a:rPr lang="zh-TW" altLang="en-US" sz="2000" dirty="0"/>
              <a:t>地理資訊系統</a:t>
            </a:r>
            <a:endParaRPr lang="en-US" altLang="zh-TW" sz="2000" dirty="0"/>
          </a:p>
          <a:p>
            <a:r>
              <a:rPr lang="zh-TW" altLang="en-US" sz="2000" dirty="0"/>
              <a:t>無人地面車輛路徑規劃</a:t>
            </a:r>
            <a:endParaRPr lang="en-US" altLang="zh-TW" sz="2000" dirty="0"/>
          </a:p>
          <a:p>
            <a:r>
              <a:rPr lang="zh-TW" altLang="en-US" sz="2000" dirty="0"/>
              <a:t>二次表面巡航導彈任務規劃</a:t>
            </a:r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0723091" flipH="1">
            <a:off x="6562981" y="3451282"/>
            <a:ext cx="1686157" cy="2869908"/>
          </a:xfrm>
          <a:prstGeom prst="rect">
            <a:avLst/>
          </a:prstGeom>
        </p:spPr>
      </p:pic>
      <p:pic>
        <p:nvPicPr>
          <p:cNvPr id="5" name="圖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8144" y="2204864"/>
            <a:ext cx="2232248" cy="816531"/>
          </a:xfrm>
          <a:prstGeom prst="rect">
            <a:avLst/>
          </a:prstGeom>
        </p:spPr>
      </p:pic>
      <p:pic>
        <p:nvPicPr>
          <p:cNvPr id="7" name="Picture 2" descr="https://web.ntnu.edu.tw/~algo/ConvexHull4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929" y="4445134"/>
            <a:ext cx="4343112" cy="14043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文字方塊 7"/>
          <p:cNvSpPr txBox="1"/>
          <p:nvPr/>
        </p:nvSpPr>
        <p:spPr>
          <a:xfrm>
            <a:off x="2156512" y="3993949"/>
            <a:ext cx="172194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200" dirty="0">
                <a:latin typeface="微軟正黑體" pitchFamily="34" charset="-120"/>
                <a:ea typeface="微軟正黑體" pitchFamily="34" charset="-120"/>
              </a:rPr>
              <a:t>▼凸包可用於識別物體</a:t>
            </a:r>
          </a:p>
        </p:txBody>
      </p:sp>
    </p:spTree>
    <p:extLst>
      <p:ext uri="{BB962C8B-B14F-4D97-AF65-F5344CB8AC3E}">
        <p14:creationId xmlns:p14="http://schemas.microsoft.com/office/powerpoint/2010/main" val="31415436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演算法介紹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1"/>
          </p:nvPr>
        </p:nvSpPr>
        <p:spPr>
          <a:xfrm>
            <a:off x="457200" y="1350329"/>
            <a:ext cx="8229600" cy="4937760"/>
          </a:xfrm>
        </p:spPr>
        <p:txBody>
          <a:bodyPr/>
          <a:lstStyle/>
          <a:p>
            <a:pPr marL="0" indent="0">
              <a:buNone/>
            </a:pPr>
            <a:r>
              <a:rPr lang="zh-TW" altLang="en-US" sz="2400" dirty="0"/>
              <a:t>以下是三種凸包演算法解紹：</a:t>
            </a:r>
            <a:endParaRPr lang="en-US" altLang="zh-TW" sz="2400" dirty="0"/>
          </a:p>
          <a:p>
            <a:pPr marL="0" indent="0">
              <a:buNone/>
            </a:pPr>
            <a:endParaRPr lang="en-US" altLang="zh-TW" sz="800" dirty="0"/>
          </a:p>
          <a:p>
            <a:pPr>
              <a:buFont typeface="Wingdings" panose="05000000000000000000" pitchFamily="2" charset="2"/>
              <a:buChar char="u"/>
            </a:pPr>
            <a:r>
              <a:rPr lang="zh-TW" altLang="en-US" sz="2000" b="1" dirty="0"/>
              <a:t>包裹法 </a:t>
            </a:r>
            <a:r>
              <a:rPr lang="en-US" altLang="zh-TW" sz="2000" dirty="0"/>
              <a:t>(Gift Wrapping)</a:t>
            </a:r>
          </a:p>
          <a:p>
            <a:pPr>
              <a:buFont typeface="Wingdings" panose="05000000000000000000" pitchFamily="2" charset="2"/>
              <a:buChar char="u"/>
            </a:pPr>
            <a:r>
              <a:rPr lang="zh-TW" altLang="en-US" sz="2000" b="1" dirty="0"/>
              <a:t>葛立恆掃描法 </a:t>
            </a:r>
            <a:r>
              <a:rPr lang="en-US" altLang="zh-TW" sz="2000" dirty="0"/>
              <a:t>(Graham's Scan)</a:t>
            </a:r>
          </a:p>
          <a:p>
            <a:pPr>
              <a:buFont typeface="Wingdings" panose="05000000000000000000" pitchFamily="2" charset="2"/>
              <a:buChar char="u"/>
            </a:pPr>
            <a:r>
              <a:rPr lang="zh-TW" altLang="en-US" sz="2000" b="1" dirty="0"/>
              <a:t>安德魯演算法 </a:t>
            </a:r>
            <a:r>
              <a:rPr lang="en-US" altLang="zh-TW" sz="2000" dirty="0"/>
              <a:t>(Andrew's Algorithm)</a:t>
            </a:r>
            <a:endParaRPr lang="zh-TW" altLang="en-US" sz="2000" dirty="0"/>
          </a:p>
        </p:txBody>
      </p:sp>
      <p:pic>
        <p:nvPicPr>
          <p:cNvPr id="11" name="圖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1740" y="3975786"/>
            <a:ext cx="4680520" cy="1572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9736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演算法介紹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1"/>
          </p:nvPr>
        </p:nvSpPr>
        <p:spPr>
          <a:xfrm>
            <a:off x="457200" y="1291908"/>
            <a:ext cx="8229600" cy="493776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u"/>
            </a:pPr>
            <a:r>
              <a:rPr lang="zh-TW" altLang="en-US" sz="2800" b="1" dirty="0"/>
              <a:t>包裹法 </a:t>
            </a:r>
            <a:r>
              <a:rPr lang="en-US" altLang="zh-TW" sz="2800" b="1" dirty="0"/>
              <a:t>(Gift Wrapping</a:t>
            </a:r>
            <a:r>
              <a:rPr lang="en-US" altLang="zh-TW" b="1" dirty="0"/>
              <a:t>)</a:t>
            </a:r>
          </a:p>
          <a:p>
            <a:pPr>
              <a:buFont typeface="Wingdings" panose="05000000000000000000" pitchFamily="2" charset="2"/>
              <a:buChar char="u"/>
            </a:pPr>
            <a:endParaRPr lang="en-US" altLang="zh-TW" sz="1300" b="1" dirty="0"/>
          </a:p>
          <a:p>
            <a:r>
              <a:rPr lang="zh-TW" altLang="en-US" sz="2000" dirty="0"/>
              <a:t>演算法說明：</a:t>
            </a:r>
            <a:endParaRPr lang="en-US" altLang="zh-TW" sz="2000" dirty="0"/>
          </a:p>
          <a:p>
            <a:pPr marL="0" indent="0">
              <a:buNone/>
            </a:pPr>
            <a:r>
              <a:rPr lang="zh-TW" altLang="en-US" sz="1400" dirty="0"/>
              <a:t>       選定外圍一點作為起點，以起始點為中心尋找順或逆時針選轉時最晚碰到的點，</a:t>
            </a:r>
            <a:endParaRPr lang="en-US" altLang="zh-TW" sz="1400" dirty="0"/>
          </a:p>
          <a:p>
            <a:pPr marL="0" indent="0">
              <a:buNone/>
            </a:pPr>
            <a:r>
              <a:rPr lang="en-US" altLang="zh-TW" sz="1400" dirty="0"/>
              <a:t>       </a:t>
            </a:r>
            <a:r>
              <a:rPr lang="zh-TW" altLang="en-US" sz="1400" dirty="0"/>
              <a:t>加入此點進入凸包並作為下一次旋轉的起點。</a:t>
            </a:r>
            <a:endParaRPr lang="en-US" altLang="zh-TW" sz="1400" dirty="0"/>
          </a:p>
          <a:p>
            <a:pPr marL="0" indent="0">
              <a:buNone/>
            </a:pPr>
            <a:r>
              <a:rPr lang="en-US" altLang="zh-TW" sz="1400" dirty="0"/>
              <a:t>       </a:t>
            </a:r>
            <a:r>
              <a:rPr lang="zh-TW" altLang="en-US" sz="1400" dirty="0"/>
              <a:t>重複數次後，碰到原點即可得到凸包。</a:t>
            </a:r>
            <a:endParaRPr lang="en-US" altLang="zh-TW" sz="1400" dirty="0"/>
          </a:p>
          <a:p>
            <a:pPr marL="0" indent="0">
              <a:buNone/>
            </a:pPr>
            <a:endParaRPr lang="en-US" altLang="zh-TW" sz="1300" dirty="0"/>
          </a:p>
          <a:p>
            <a:r>
              <a:rPr lang="zh-TW" altLang="en-US" sz="2000" dirty="0"/>
              <a:t>演算法動畫：</a:t>
            </a:r>
            <a:endParaRPr lang="en-US" altLang="zh-TW" sz="2000" dirty="0"/>
          </a:p>
          <a:p>
            <a:pPr marL="0" indent="0">
              <a:buNone/>
            </a:pPr>
            <a:r>
              <a:rPr lang="zh-TW" altLang="en-US" sz="1000" dirty="0"/>
              <a:t>          </a:t>
            </a:r>
            <a:r>
              <a:rPr lang="en-US" altLang="zh-TW" sz="1000" dirty="0">
                <a:hlinkClick r:id="rId2"/>
              </a:rPr>
              <a:t>https://www.flag.com.tw/activity/F2708/exercise/</a:t>
            </a:r>
          </a:p>
          <a:p>
            <a:pPr marL="0" indent="0">
              <a:buNone/>
            </a:pPr>
            <a:r>
              <a:rPr lang="zh-TW" altLang="en-US" sz="1000" dirty="0"/>
              <a:t>          </a:t>
            </a:r>
            <a:r>
              <a:rPr lang="en-US" altLang="zh-TW" sz="1000" dirty="0">
                <a:hlinkClick r:id="rId2"/>
              </a:rPr>
              <a:t>1.0/algorithms/</a:t>
            </a:r>
            <a:r>
              <a:rPr lang="en-US" altLang="zh-TW" sz="1000" dirty="0" err="1">
                <a:hlinkClick r:id="rId2"/>
              </a:rPr>
              <a:t>gift_wrapping</a:t>
            </a:r>
            <a:r>
              <a:rPr lang="en-US" altLang="zh-TW" sz="1000" dirty="0">
                <a:hlinkClick r:id="rId2"/>
              </a:rPr>
              <a:t>/anim.html</a:t>
            </a:r>
            <a:endParaRPr lang="en-US" altLang="zh-TW" sz="1000" dirty="0"/>
          </a:p>
          <a:p>
            <a:pPr marL="0" indent="0">
              <a:buNone/>
            </a:pPr>
            <a:endParaRPr lang="en-US" altLang="zh-TW" sz="1300" dirty="0"/>
          </a:p>
          <a:p>
            <a:r>
              <a:rPr lang="zh-TW" altLang="en-US" sz="2000" dirty="0"/>
              <a:t>時間複雜度</a:t>
            </a:r>
            <a:endParaRPr lang="en-US" altLang="zh-TW" sz="2000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zh-TW" altLang="en-US" sz="1400" b="1" dirty="0">
                <a:sym typeface="Wingdings" panose="05000000000000000000" pitchFamily="2" charset="2"/>
              </a:rPr>
              <a:t>       </a:t>
            </a:r>
            <a:r>
              <a:rPr lang="en-US" altLang="zh-TW" sz="1400" b="1" dirty="0">
                <a:sym typeface="Wingdings" panose="05000000000000000000" pitchFamily="2" charset="2"/>
              </a:rPr>
              <a:t>O(</a:t>
            </a:r>
            <a:r>
              <a:rPr lang="zh-TW" altLang="en-US" sz="1400" b="1" dirty="0">
                <a:sym typeface="Wingdings" panose="05000000000000000000" pitchFamily="2" charset="2"/>
              </a:rPr>
              <a:t>凸包邊數 * </a:t>
            </a:r>
            <a:r>
              <a:rPr lang="en-US" altLang="zh-TW" sz="1400" b="1" dirty="0">
                <a:sym typeface="Wingdings" panose="05000000000000000000" pitchFamily="2" charset="2"/>
              </a:rPr>
              <a:t>N)</a:t>
            </a:r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02405" y="3717032"/>
            <a:ext cx="3485945" cy="1320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71315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演算法介紹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1"/>
          </p:nvPr>
        </p:nvSpPr>
        <p:spPr>
          <a:xfrm>
            <a:off x="457200" y="1293765"/>
            <a:ext cx="8229600" cy="493776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u"/>
            </a:pPr>
            <a:r>
              <a:rPr lang="zh-TW" altLang="en-US" sz="2800" b="1" dirty="0"/>
              <a:t>葛立恆掃描法 </a:t>
            </a:r>
            <a:r>
              <a:rPr lang="en-US" altLang="zh-TW" sz="2800" b="1" dirty="0"/>
              <a:t>(Graham's Scan)</a:t>
            </a:r>
          </a:p>
          <a:p>
            <a:pPr>
              <a:buFont typeface="Wingdings" panose="05000000000000000000" pitchFamily="2" charset="2"/>
              <a:buChar char="u"/>
            </a:pPr>
            <a:endParaRPr lang="en-US" altLang="zh-TW" sz="1300" b="1" dirty="0"/>
          </a:p>
          <a:p>
            <a:r>
              <a:rPr lang="zh-TW" altLang="en-US" sz="2000" dirty="0"/>
              <a:t>演算法說明：</a:t>
            </a:r>
            <a:endParaRPr lang="en-US" altLang="zh-TW" sz="2000" dirty="0"/>
          </a:p>
          <a:p>
            <a:pPr marL="0" indent="0">
              <a:buNone/>
            </a:pPr>
            <a:r>
              <a:rPr lang="zh-TW" altLang="en-US" sz="1400" dirty="0"/>
              <a:t>       選定外圍一點作為起點，以起始點為中心按角度排序，</a:t>
            </a:r>
            <a:endParaRPr lang="en-US" altLang="zh-TW" sz="1400" dirty="0"/>
          </a:p>
          <a:p>
            <a:pPr marL="0" indent="0">
              <a:buNone/>
            </a:pPr>
            <a:r>
              <a:rPr lang="zh-TW" altLang="en-US" sz="1400" dirty="0"/>
              <a:t>       依序加入點，並判斷倒數三個點的走向是順或逆時針，</a:t>
            </a:r>
            <a:endParaRPr lang="en-US" altLang="zh-TW" sz="1400" dirty="0"/>
          </a:p>
          <a:p>
            <a:pPr marL="0" indent="0">
              <a:buNone/>
            </a:pPr>
            <a:r>
              <a:rPr lang="zh-TW" altLang="en-US" sz="1400" dirty="0"/>
              <a:t>       若反方向就從凸包刪除。當所有點走訪完畢就得到凸包。</a:t>
            </a:r>
            <a:endParaRPr lang="en-US" altLang="zh-TW" sz="1400" dirty="0"/>
          </a:p>
          <a:p>
            <a:pPr marL="0" indent="0">
              <a:buNone/>
            </a:pPr>
            <a:endParaRPr lang="en-US" altLang="zh-TW" sz="1300" dirty="0"/>
          </a:p>
          <a:p>
            <a:r>
              <a:rPr lang="zh-TW" altLang="en-US" sz="2000" dirty="0"/>
              <a:t>演算法動畫：</a:t>
            </a:r>
            <a:endParaRPr lang="en-US" altLang="zh-TW" sz="2000" dirty="0"/>
          </a:p>
          <a:p>
            <a:pPr marL="0" indent="0">
              <a:buNone/>
            </a:pPr>
            <a:r>
              <a:rPr lang="en-US" altLang="zh-TW" sz="1000" dirty="0"/>
              <a:t>          </a:t>
            </a:r>
            <a:r>
              <a:rPr lang="en-US" altLang="zh-TW" sz="1000" dirty="0">
                <a:hlinkClick r:id="rId2"/>
              </a:rPr>
              <a:t>https://www.flag.com.tw/activity/F2708/exercise/</a:t>
            </a:r>
          </a:p>
          <a:p>
            <a:pPr marL="0" indent="0">
              <a:buNone/>
            </a:pPr>
            <a:r>
              <a:rPr lang="en-US" altLang="zh-TW" sz="1000" dirty="0"/>
              <a:t>          </a:t>
            </a:r>
            <a:r>
              <a:rPr lang="en-US" altLang="zh-TW" sz="1000" dirty="0">
                <a:hlinkClick r:id="rId2"/>
              </a:rPr>
              <a:t>1.0/algorithms/</a:t>
            </a:r>
            <a:r>
              <a:rPr lang="en-US" altLang="zh-TW" sz="1000" dirty="0" err="1">
                <a:hlinkClick r:id="rId2"/>
              </a:rPr>
              <a:t>graham_scan</a:t>
            </a:r>
            <a:r>
              <a:rPr lang="en-US" altLang="zh-TW" sz="1000" dirty="0">
                <a:hlinkClick r:id="rId2"/>
              </a:rPr>
              <a:t>/anim.html</a:t>
            </a:r>
            <a:endParaRPr lang="en-US" altLang="zh-TW" sz="1000" dirty="0"/>
          </a:p>
          <a:p>
            <a:pPr marL="0" indent="0">
              <a:buNone/>
            </a:pPr>
            <a:endParaRPr lang="en-US" altLang="zh-TW" sz="1300" dirty="0"/>
          </a:p>
          <a:p>
            <a:r>
              <a:rPr lang="zh-TW" altLang="en-US" sz="2000" dirty="0"/>
              <a:t>時間複雜度</a:t>
            </a:r>
            <a:endParaRPr lang="en-US" altLang="zh-TW" sz="2000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altLang="zh-TW" sz="1400" b="1" dirty="0">
                <a:sym typeface="Wingdings" panose="05000000000000000000" pitchFamily="2" charset="2"/>
              </a:rPr>
              <a:t>       O(NlogN)</a:t>
            </a:r>
            <a:endParaRPr lang="en-US" altLang="zh-TW" sz="1400" b="1" dirty="0"/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01479" y="3460853"/>
            <a:ext cx="3494491" cy="2667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70015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演算法介紹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1"/>
          </p:nvPr>
        </p:nvSpPr>
        <p:spPr>
          <a:xfrm>
            <a:off x="457200" y="1291908"/>
            <a:ext cx="8229600" cy="493776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u"/>
            </a:pPr>
            <a:r>
              <a:rPr lang="zh-TW" altLang="en-US" sz="2800" b="1" dirty="0"/>
              <a:t>安德魯演算法 </a:t>
            </a:r>
            <a:r>
              <a:rPr lang="en-US" altLang="zh-TW" sz="2800" b="1" dirty="0"/>
              <a:t>(Andrew's Algorithm)</a:t>
            </a:r>
            <a:endParaRPr lang="zh-TW" altLang="en-US" sz="2800" b="1" dirty="0"/>
          </a:p>
          <a:p>
            <a:pPr>
              <a:buFont typeface="Wingdings" panose="05000000000000000000" pitchFamily="2" charset="2"/>
              <a:buChar char="u"/>
            </a:pPr>
            <a:endParaRPr lang="en-US" altLang="zh-TW" sz="1300" b="1" dirty="0"/>
          </a:p>
          <a:p>
            <a:r>
              <a:rPr lang="zh-TW" altLang="en-US" sz="2000" dirty="0"/>
              <a:t>演算法說明：</a:t>
            </a:r>
            <a:endParaRPr lang="en-US" altLang="zh-TW" sz="2000" dirty="0"/>
          </a:p>
          <a:p>
            <a:pPr marL="0" indent="0">
              <a:buNone/>
            </a:pPr>
            <a:r>
              <a:rPr lang="zh-TW" altLang="en-US" sz="1400" dirty="0"/>
              <a:t>       將所有點以 </a:t>
            </a:r>
            <a:r>
              <a:rPr lang="en-US" altLang="zh-TW" sz="1400" b="1" dirty="0"/>
              <a:t>X</a:t>
            </a:r>
            <a:r>
              <a:rPr lang="en-US" altLang="zh-TW" sz="1400" dirty="0"/>
              <a:t> </a:t>
            </a:r>
            <a:r>
              <a:rPr lang="zh-TW" altLang="en-US" sz="1400" dirty="0"/>
              <a:t>座標大小排序，當 </a:t>
            </a:r>
            <a:r>
              <a:rPr lang="en-US" altLang="zh-TW" sz="1400" b="1" dirty="0"/>
              <a:t>X </a:t>
            </a:r>
            <a:r>
              <a:rPr lang="zh-TW" altLang="en-US" sz="1400" dirty="0"/>
              <a:t>座標相同則以 </a:t>
            </a:r>
            <a:r>
              <a:rPr lang="en-US" altLang="zh-TW" sz="1400" b="1" dirty="0"/>
              <a:t>Y</a:t>
            </a:r>
            <a:r>
              <a:rPr lang="en-US" altLang="zh-TW" sz="1400" dirty="0"/>
              <a:t> </a:t>
            </a:r>
            <a:r>
              <a:rPr lang="zh-TW" altLang="en-US" sz="1400" dirty="0"/>
              <a:t>座標大小排序。</a:t>
            </a:r>
            <a:endParaRPr lang="en-US" altLang="zh-TW" sz="1400" dirty="0"/>
          </a:p>
          <a:p>
            <a:pPr marL="0" indent="0">
              <a:buNone/>
            </a:pPr>
            <a:r>
              <a:rPr lang="zh-TW" altLang="en-US" sz="1400" dirty="0"/>
              <a:t>       與上個演算法做法類似，按排序掃描找到上半部凸包，再反向掃描找出下半部凸包，</a:t>
            </a:r>
            <a:endParaRPr lang="en-US" altLang="zh-TW" sz="1400" dirty="0"/>
          </a:p>
          <a:p>
            <a:pPr marL="0" indent="0">
              <a:buNone/>
            </a:pPr>
            <a:r>
              <a:rPr lang="zh-TW" altLang="en-US" sz="1400" dirty="0"/>
              <a:t>       上下兩半組合即是完整的凸包。</a:t>
            </a:r>
            <a:endParaRPr lang="en-US" altLang="zh-TW" sz="1400" dirty="0"/>
          </a:p>
          <a:p>
            <a:pPr marL="0" indent="0">
              <a:buNone/>
            </a:pPr>
            <a:endParaRPr lang="en-US" altLang="zh-TW" sz="1300" dirty="0"/>
          </a:p>
          <a:p>
            <a:r>
              <a:rPr lang="zh-TW" altLang="en-US" sz="2000" dirty="0"/>
              <a:t>演算法動畫：</a:t>
            </a:r>
            <a:endParaRPr lang="en-US" altLang="zh-TW" sz="2000" dirty="0"/>
          </a:p>
          <a:p>
            <a:pPr marL="0" indent="0">
              <a:buNone/>
            </a:pPr>
            <a:r>
              <a:rPr lang="en-US" altLang="zh-TW" sz="1000" dirty="0"/>
              <a:t>          </a:t>
            </a:r>
            <a:r>
              <a:rPr lang="en-US" altLang="zh-TW" sz="1000" dirty="0">
                <a:hlinkClick r:id="rId2"/>
              </a:rPr>
              <a:t>https://www.flag.com.tw/activity/F2708/exercise/</a:t>
            </a:r>
          </a:p>
          <a:p>
            <a:pPr marL="0" indent="0">
              <a:buNone/>
            </a:pPr>
            <a:r>
              <a:rPr lang="en-US" altLang="zh-TW" sz="1000" dirty="0"/>
              <a:t>          </a:t>
            </a:r>
            <a:r>
              <a:rPr lang="en-US" altLang="zh-TW" sz="1000" dirty="0">
                <a:hlinkClick r:id="rId2"/>
              </a:rPr>
              <a:t>1.0/algorithms/</a:t>
            </a:r>
            <a:r>
              <a:rPr lang="en-US" altLang="zh-TW" sz="1000" dirty="0" err="1">
                <a:hlinkClick r:id="rId2"/>
              </a:rPr>
              <a:t>andrew</a:t>
            </a:r>
            <a:r>
              <a:rPr lang="en-US" altLang="zh-TW" sz="1000" dirty="0">
                <a:hlinkClick r:id="rId2"/>
              </a:rPr>
              <a:t>/anim.html</a:t>
            </a:r>
            <a:endParaRPr lang="en-US" altLang="zh-TW" sz="1000" dirty="0"/>
          </a:p>
          <a:p>
            <a:pPr marL="0" indent="0">
              <a:buNone/>
            </a:pPr>
            <a:endParaRPr lang="en-US" altLang="zh-TW" sz="1300" dirty="0"/>
          </a:p>
          <a:p>
            <a:r>
              <a:rPr lang="zh-TW" altLang="en-US" sz="2000" dirty="0"/>
              <a:t>時間複雜度</a:t>
            </a:r>
            <a:r>
              <a:rPr lang="zh-TW" altLang="en-US" sz="2000" dirty="0">
                <a:sym typeface="Wingdings" panose="05000000000000000000" pitchFamily="2" charset="2"/>
              </a:rPr>
              <a:t>：</a:t>
            </a:r>
            <a:endParaRPr lang="en-US" altLang="zh-TW" sz="2000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altLang="zh-TW" sz="1200" b="1" dirty="0">
                <a:sym typeface="Wingdings" panose="05000000000000000000" pitchFamily="2" charset="2"/>
              </a:rPr>
              <a:t>       </a:t>
            </a:r>
            <a:r>
              <a:rPr lang="en-US" altLang="zh-TW" sz="1400" b="1" dirty="0">
                <a:sym typeface="Wingdings" panose="05000000000000000000" pitchFamily="2" charset="2"/>
              </a:rPr>
              <a:t> O(NlogN)</a:t>
            </a:r>
          </a:p>
        </p:txBody>
      </p:sp>
      <p:pic>
        <p:nvPicPr>
          <p:cNvPr id="7" name="圖片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22599" y="3461564"/>
            <a:ext cx="3465751" cy="2643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65201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實作程式碼 </a:t>
            </a:r>
            <a:r>
              <a:rPr lang="en-US" altLang="zh-TW" dirty="0"/>
              <a:t>						</a:t>
            </a:r>
            <a:r>
              <a:rPr lang="en-US" altLang="zh-TW" sz="2400" dirty="0"/>
              <a:t>(1/6)</a:t>
            </a:r>
            <a:endParaRPr lang="zh-TW" altLang="en-US" dirty="0"/>
          </a:p>
        </p:txBody>
      </p:sp>
      <p:pic>
        <p:nvPicPr>
          <p:cNvPr id="6" name="內容版面配置區 5"/>
          <p:cNvPicPr>
            <a:picLocks noGrp="1" noChangeAspect="1"/>
          </p:cNvPicPr>
          <p:nvPr>
            <p:ph sz="quarter" idx="1"/>
          </p:nvPr>
        </p:nvPicPr>
        <p:blipFill rotWithShape="1">
          <a:blip r:embed="rId2"/>
          <a:srcRect r="1000"/>
          <a:stretch/>
        </p:blipFill>
        <p:spPr>
          <a:xfrm>
            <a:off x="457200" y="1479901"/>
            <a:ext cx="8147248" cy="4415723"/>
          </a:xfrm>
          <a:prstGeom prst="rect">
            <a:avLst/>
          </a:prstGeom>
        </p:spPr>
      </p:pic>
      <p:pic>
        <p:nvPicPr>
          <p:cNvPr id="7" name="圖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6174366">
            <a:off x="6758973" y="2802097"/>
            <a:ext cx="1452517" cy="1212181"/>
          </a:xfrm>
          <a:prstGeom prst="rect">
            <a:avLst/>
          </a:prstGeom>
        </p:spPr>
      </p:pic>
      <p:pic>
        <p:nvPicPr>
          <p:cNvPr id="8" name="圖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2505651">
            <a:off x="5939266" y="1806407"/>
            <a:ext cx="853496" cy="712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28652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實作程式碼 </a:t>
            </a:r>
            <a:r>
              <a:rPr lang="en-US" altLang="zh-TW" dirty="0"/>
              <a:t>						</a:t>
            </a:r>
            <a:r>
              <a:rPr lang="en-US" altLang="zh-TW" sz="2400" dirty="0"/>
              <a:t>(2/6)</a:t>
            </a:r>
            <a:endParaRPr lang="zh-TW" altLang="en-US" sz="2400" dirty="0"/>
          </a:p>
        </p:txBody>
      </p:sp>
      <p:pic>
        <p:nvPicPr>
          <p:cNvPr id="9" name="內容版面配置區 8"/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457200" y="1464787"/>
            <a:ext cx="8229600" cy="4445951"/>
          </a:xfrm>
          <a:prstGeom prst="rect">
            <a:avLst/>
          </a:prstGeom>
        </p:spPr>
      </p:pic>
      <p:pic>
        <p:nvPicPr>
          <p:cNvPr id="10" name="圖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9968089">
            <a:off x="6033459" y="3648769"/>
            <a:ext cx="1957802" cy="1016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03490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實作程式碼 </a:t>
            </a:r>
            <a:r>
              <a:rPr lang="en-US" altLang="zh-TW" dirty="0"/>
              <a:t>						</a:t>
            </a:r>
            <a:r>
              <a:rPr lang="en-US" altLang="zh-TW" sz="2400" dirty="0"/>
              <a:t>(3/6)</a:t>
            </a:r>
            <a:endParaRPr lang="zh-TW" altLang="en-US" dirty="0"/>
          </a:p>
        </p:txBody>
      </p:sp>
      <p:pic>
        <p:nvPicPr>
          <p:cNvPr id="7" name="內容版面配置區 6"/>
          <p:cNvPicPr>
            <a:picLocks noGrp="1" noChangeAspect="1"/>
          </p:cNvPicPr>
          <p:nvPr>
            <p:ph sz="quarter" idx="1"/>
          </p:nvPr>
        </p:nvPicPr>
        <p:blipFill rotWithShape="1">
          <a:blip r:embed="rId2"/>
          <a:srcRect r="126"/>
          <a:stretch/>
        </p:blipFill>
        <p:spPr>
          <a:xfrm>
            <a:off x="457200" y="1476385"/>
            <a:ext cx="8219256" cy="4422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45149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實作程式碼 </a:t>
            </a:r>
            <a:r>
              <a:rPr lang="en-US" altLang="zh-TW" dirty="0"/>
              <a:t>						</a:t>
            </a:r>
            <a:r>
              <a:rPr lang="en-US" altLang="zh-TW" sz="2400" dirty="0"/>
              <a:t>(4/6)</a:t>
            </a:r>
            <a:endParaRPr lang="zh-TW" altLang="en-US" dirty="0"/>
          </a:p>
        </p:txBody>
      </p:sp>
      <p:pic>
        <p:nvPicPr>
          <p:cNvPr id="5" name="內容版面配置區 4"/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457200" y="1468066"/>
            <a:ext cx="8229600" cy="4439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71891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實作程式碼 </a:t>
            </a:r>
            <a:r>
              <a:rPr lang="en-US" altLang="zh-TW" dirty="0"/>
              <a:t>						</a:t>
            </a:r>
            <a:r>
              <a:rPr lang="en-US" altLang="zh-TW" sz="2400" dirty="0"/>
              <a:t>(5/6)</a:t>
            </a:r>
            <a:endParaRPr lang="zh-TW" altLang="en-US" dirty="0"/>
          </a:p>
        </p:txBody>
      </p:sp>
      <p:pic>
        <p:nvPicPr>
          <p:cNvPr id="5" name="內容版面配置區 4"/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457200" y="1472858"/>
            <a:ext cx="8229600" cy="4429808"/>
          </a:xfrm>
          <a:prstGeom prst="rect">
            <a:avLst/>
          </a:prstGeom>
        </p:spPr>
      </p:pic>
      <p:pic>
        <p:nvPicPr>
          <p:cNvPr id="6" name="圖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2723432">
            <a:off x="6011489" y="2964109"/>
            <a:ext cx="1978641" cy="1651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68878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實作程式碼 </a:t>
            </a:r>
            <a:r>
              <a:rPr lang="en-US" altLang="zh-TW" dirty="0"/>
              <a:t>						</a:t>
            </a:r>
            <a:r>
              <a:rPr lang="en-US" altLang="zh-TW" sz="2400" dirty="0"/>
              <a:t>(6/6)</a:t>
            </a:r>
            <a:endParaRPr lang="zh-TW" altLang="en-US" dirty="0"/>
          </a:p>
        </p:txBody>
      </p:sp>
      <p:pic>
        <p:nvPicPr>
          <p:cNvPr id="4" name="內容版面配置區 3"/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457200" y="1471344"/>
            <a:ext cx="8229600" cy="4432836"/>
          </a:xfrm>
          <a:prstGeom prst="rect">
            <a:avLst/>
          </a:prstGeom>
        </p:spPr>
      </p:pic>
      <p:pic>
        <p:nvPicPr>
          <p:cNvPr id="6" name="圖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469074">
            <a:off x="6161382" y="4133624"/>
            <a:ext cx="1907238" cy="990514"/>
          </a:xfrm>
          <a:prstGeom prst="rect">
            <a:avLst/>
          </a:prstGeom>
        </p:spPr>
      </p:pic>
      <p:pic>
        <p:nvPicPr>
          <p:cNvPr id="7" name="圖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022817">
            <a:off x="7006205" y="2380393"/>
            <a:ext cx="1267771" cy="658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33082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spcBef>
                <a:spcPts val="1500"/>
              </a:spcBef>
            </a:pPr>
            <a:r>
              <a:rPr lang="zh-TW" altLang="en-US" dirty="0"/>
              <a:t>執行結果</a:t>
            </a:r>
            <a:endParaRPr lang="en-US" altLang="zh-TW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1"/>
          </p:nvPr>
        </p:nvSpPr>
        <p:spPr>
          <a:xfrm>
            <a:off x="457200" y="1284156"/>
            <a:ext cx="5856434" cy="4872804"/>
          </a:xfrm>
        </p:spPr>
        <p:txBody>
          <a:bodyPr>
            <a:normAutofit/>
          </a:bodyPr>
          <a:lstStyle/>
          <a:p>
            <a:r>
              <a:rPr lang="zh-TW" altLang="en-US" sz="2200" dirty="0"/>
              <a:t>輸入：</a:t>
            </a:r>
            <a:endParaRPr lang="en-US" altLang="zh-TW" sz="2200" dirty="0"/>
          </a:p>
          <a:p>
            <a:pPr marL="342900" lvl="0" indent="-342900">
              <a:buClr>
                <a:srgbClr val="727CA3"/>
              </a:buClr>
              <a:buFont typeface="+mj-ea"/>
              <a:buAutoNum type="ea1ChtPeriod"/>
            </a:pPr>
            <a:r>
              <a:rPr lang="zh-TW" altLang="en-US" sz="1600" dirty="0">
                <a:solidFill>
                  <a:prstClr val="black">
                    <a:lumMod val="75000"/>
                    <a:lumOff val="25000"/>
                  </a:prstClr>
                </a:solidFill>
              </a:rPr>
              <a:t>點的數量 </a:t>
            </a:r>
            <a:r>
              <a:rPr lang="en-US" altLang="zh-TW" sz="1600" dirty="0">
                <a:solidFill>
                  <a:prstClr val="black">
                    <a:lumMod val="75000"/>
                    <a:lumOff val="25000"/>
                  </a:prstClr>
                </a:solidFill>
              </a:rPr>
              <a:t>(</a:t>
            </a:r>
            <a:r>
              <a:rPr lang="zh-TW" altLang="en-US" sz="1600" dirty="0">
                <a:solidFill>
                  <a:prstClr val="black">
                    <a:lumMod val="75000"/>
                    <a:lumOff val="25000"/>
                  </a:prstClr>
                </a:solidFill>
              </a:rPr>
              <a:t>例：</a:t>
            </a:r>
            <a:r>
              <a:rPr lang="en-US" altLang="zh-TW" sz="1600" dirty="0">
                <a:solidFill>
                  <a:prstClr val="black">
                    <a:lumMod val="75000"/>
                    <a:lumOff val="25000"/>
                  </a:prstClr>
                </a:solidFill>
              </a:rPr>
              <a:t>15)</a:t>
            </a:r>
          </a:p>
          <a:p>
            <a:pPr marL="342900" lvl="0" indent="-342900">
              <a:buClr>
                <a:srgbClr val="727CA3"/>
              </a:buClr>
              <a:buFont typeface="+mj-ea"/>
              <a:buAutoNum type="ea1ChtPeriod"/>
            </a:pPr>
            <a:r>
              <a:rPr lang="zh-TW" altLang="en-US" sz="1600" dirty="0">
                <a:solidFill>
                  <a:prstClr val="black">
                    <a:lumMod val="75000"/>
                    <a:lumOff val="25000"/>
                  </a:prstClr>
                </a:solidFill>
              </a:rPr>
              <a:t>所有點座標</a:t>
            </a:r>
            <a:endParaRPr lang="en-US" altLang="zh-TW" sz="1600" dirty="0">
              <a:solidFill>
                <a:prstClr val="black">
                  <a:lumMod val="75000"/>
                  <a:lumOff val="25000"/>
                </a:prstClr>
              </a:solidFill>
            </a:endParaRPr>
          </a:p>
          <a:p>
            <a:pPr marL="0" lvl="0" indent="0">
              <a:buClr>
                <a:srgbClr val="727CA3"/>
              </a:buClr>
              <a:buNone/>
            </a:pPr>
            <a:r>
              <a:rPr lang="en-US" altLang="zh-TW" sz="1600" dirty="0">
                <a:solidFill>
                  <a:prstClr val="black">
                    <a:lumMod val="75000"/>
                    <a:lumOff val="25000"/>
                  </a:prstClr>
                </a:solidFill>
              </a:rPr>
              <a:t>(</a:t>
            </a:r>
            <a:r>
              <a:rPr lang="zh-TW" altLang="en-US" sz="1600" dirty="0">
                <a:solidFill>
                  <a:prstClr val="black">
                    <a:lumMod val="75000"/>
                    <a:lumOff val="25000"/>
                  </a:prstClr>
                </a:solidFill>
              </a:rPr>
              <a:t>例：</a:t>
            </a:r>
            <a:r>
              <a:rPr lang="en-US" altLang="zh-TW" sz="1600" dirty="0">
                <a:solidFill>
                  <a:prstClr val="black">
                    <a:lumMod val="75000"/>
                    <a:lumOff val="25000"/>
                  </a:prstClr>
                </a:solidFill>
              </a:rPr>
              <a:t>1</a:t>
            </a:r>
            <a:r>
              <a:rPr lang="zh-TW" altLang="en-US" sz="1600" dirty="0">
                <a:solidFill>
                  <a:prstClr val="black">
                    <a:lumMod val="75000"/>
                    <a:lumOff val="25000"/>
                  </a:prstClr>
                </a:solidFill>
              </a:rPr>
              <a:t> </a:t>
            </a:r>
            <a:r>
              <a:rPr lang="en-US" altLang="zh-TW" sz="1600" dirty="0">
                <a:solidFill>
                  <a:prstClr val="black">
                    <a:lumMod val="75000"/>
                    <a:lumOff val="25000"/>
                  </a:prstClr>
                </a:solidFill>
              </a:rPr>
              <a:t>1</a:t>
            </a:r>
            <a:r>
              <a:rPr lang="zh-TW" altLang="en-US" sz="1600" dirty="0">
                <a:solidFill>
                  <a:prstClr val="black">
                    <a:lumMod val="75000"/>
                    <a:lumOff val="25000"/>
                  </a:prstClr>
                </a:solidFill>
              </a:rPr>
              <a:t> </a:t>
            </a:r>
            <a:r>
              <a:rPr lang="en-US" altLang="zh-TW" sz="1600" dirty="0">
                <a:solidFill>
                  <a:prstClr val="black">
                    <a:lumMod val="75000"/>
                    <a:lumOff val="25000"/>
                  </a:prstClr>
                </a:solidFill>
              </a:rPr>
              <a:t>1</a:t>
            </a:r>
            <a:r>
              <a:rPr lang="zh-TW" altLang="en-US" sz="1600" dirty="0">
                <a:solidFill>
                  <a:prstClr val="black">
                    <a:lumMod val="75000"/>
                    <a:lumOff val="25000"/>
                  </a:prstClr>
                </a:solidFill>
              </a:rPr>
              <a:t> </a:t>
            </a:r>
            <a:r>
              <a:rPr lang="en-US" altLang="zh-TW" sz="1600" dirty="0">
                <a:solidFill>
                  <a:prstClr val="black">
                    <a:lumMod val="75000"/>
                    <a:lumOff val="25000"/>
                  </a:prstClr>
                </a:solidFill>
              </a:rPr>
              <a:t>4</a:t>
            </a:r>
            <a:r>
              <a:rPr lang="zh-TW" altLang="en-US" sz="1600" dirty="0">
                <a:solidFill>
                  <a:prstClr val="black">
                    <a:lumMod val="75000"/>
                    <a:lumOff val="25000"/>
                  </a:prstClr>
                </a:solidFill>
              </a:rPr>
              <a:t> </a:t>
            </a:r>
            <a:r>
              <a:rPr lang="en-US" altLang="zh-TW" sz="1600" dirty="0">
                <a:solidFill>
                  <a:prstClr val="black">
                    <a:lumMod val="75000"/>
                    <a:lumOff val="25000"/>
                  </a:prstClr>
                </a:solidFill>
              </a:rPr>
              <a:t>2</a:t>
            </a:r>
            <a:r>
              <a:rPr lang="zh-TW" altLang="en-US" sz="1600" dirty="0">
                <a:solidFill>
                  <a:prstClr val="black">
                    <a:lumMod val="75000"/>
                    <a:lumOff val="25000"/>
                  </a:prstClr>
                </a:solidFill>
              </a:rPr>
              <a:t> </a:t>
            </a:r>
            <a:r>
              <a:rPr lang="en-US" altLang="zh-TW" sz="1600" dirty="0">
                <a:solidFill>
                  <a:prstClr val="black">
                    <a:lumMod val="75000"/>
                    <a:lumOff val="25000"/>
                  </a:prstClr>
                </a:solidFill>
              </a:rPr>
              <a:t>6</a:t>
            </a:r>
            <a:r>
              <a:rPr lang="zh-TW" altLang="en-US" sz="1600" dirty="0">
                <a:solidFill>
                  <a:prstClr val="black">
                    <a:lumMod val="75000"/>
                    <a:lumOff val="25000"/>
                  </a:prstClr>
                </a:solidFill>
              </a:rPr>
              <a:t> </a:t>
            </a:r>
            <a:r>
              <a:rPr lang="en-US" altLang="zh-TW" sz="1600" dirty="0">
                <a:solidFill>
                  <a:prstClr val="black">
                    <a:lumMod val="75000"/>
                    <a:lumOff val="25000"/>
                  </a:prstClr>
                </a:solidFill>
              </a:rPr>
              <a:t>3</a:t>
            </a:r>
            <a:r>
              <a:rPr lang="zh-TW" altLang="en-US" sz="1600" dirty="0">
                <a:solidFill>
                  <a:prstClr val="black">
                    <a:lumMod val="75000"/>
                    <a:lumOff val="25000"/>
                  </a:prstClr>
                </a:solidFill>
              </a:rPr>
              <a:t> </a:t>
            </a:r>
            <a:r>
              <a:rPr lang="en-US" altLang="zh-TW" sz="1600" dirty="0">
                <a:solidFill>
                  <a:prstClr val="black">
                    <a:lumMod val="75000"/>
                    <a:lumOff val="25000"/>
                  </a:prstClr>
                </a:solidFill>
              </a:rPr>
              <a:t>1</a:t>
            </a:r>
            <a:r>
              <a:rPr lang="zh-TW" altLang="en-US" sz="1600" dirty="0">
                <a:solidFill>
                  <a:prstClr val="black">
                    <a:lumMod val="75000"/>
                    <a:lumOff val="25000"/>
                  </a:prstClr>
                </a:solidFill>
              </a:rPr>
              <a:t> </a:t>
            </a:r>
            <a:r>
              <a:rPr lang="en-US" altLang="zh-TW" sz="1600" dirty="0">
                <a:solidFill>
                  <a:prstClr val="black">
                    <a:lumMod val="75000"/>
                    <a:lumOff val="25000"/>
                  </a:prstClr>
                </a:solidFill>
              </a:rPr>
              <a:t>3</a:t>
            </a:r>
            <a:r>
              <a:rPr lang="zh-TW" altLang="en-US" sz="1600" dirty="0">
                <a:solidFill>
                  <a:prstClr val="black">
                    <a:lumMod val="75000"/>
                    <a:lumOff val="25000"/>
                  </a:prstClr>
                </a:solidFill>
              </a:rPr>
              <a:t> </a:t>
            </a:r>
            <a:r>
              <a:rPr lang="en-US" altLang="zh-TW" sz="1600" dirty="0">
                <a:solidFill>
                  <a:prstClr val="black">
                    <a:lumMod val="75000"/>
                    <a:lumOff val="25000"/>
                  </a:prstClr>
                </a:solidFill>
              </a:rPr>
              <a:t>3</a:t>
            </a:r>
            <a:r>
              <a:rPr lang="zh-TW" altLang="en-US" sz="1600" dirty="0">
                <a:solidFill>
                  <a:prstClr val="black">
                    <a:lumMod val="75000"/>
                    <a:lumOff val="25000"/>
                  </a:prstClr>
                </a:solidFill>
              </a:rPr>
              <a:t> </a:t>
            </a:r>
            <a:r>
              <a:rPr lang="en-US" altLang="zh-TW" sz="1600" dirty="0">
                <a:solidFill>
                  <a:prstClr val="black">
                    <a:lumMod val="75000"/>
                    <a:lumOff val="25000"/>
                  </a:prstClr>
                </a:solidFill>
              </a:rPr>
              <a:t>3</a:t>
            </a:r>
            <a:r>
              <a:rPr lang="zh-TW" altLang="en-US" sz="1600" dirty="0">
                <a:solidFill>
                  <a:prstClr val="black">
                    <a:lumMod val="75000"/>
                    <a:lumOff val="25000"/>
                  </a:prstClr>
                </a:solidFill>
              </a:rPr>
              <a:t> </a:t>
            </a:r>
            <a:r>
              <a:rPr lang="en-US" altLang="zh-TW" sz="1600" dirty="0">
                <a:solidFill>
                  <a:prstClr val="black">
                    <a:lumMod val="75000"/>
                    <a:lumOff val="25000"/>
                  </a:prstClr>
                </a:solidFill>
              </a:rPr>
              <a:t>6</a:t>
            </a:r>
            <a:r>
              <a:rPr lang="zh-TW" altLang="en-US" sz="1600" dirty="0">
                <a:solidFill>
                  <a:prstClr val="black">
                    <a:lumMod val="75000"/>
                    <a:lumOff val="25000"/>
                  </a:prstClr>
                </a:solidFill>
              </a:rPr>
              <a:t> </a:t>
            </a:r>
            <a:r>
              <a:rPr lang="en-US" altLang="zh-TW" sz="1600" dirty="0">
                <a:solidFill>
                  <a:prstClr val="black">
                    <a:lumMod val="75000"/>
                    <a:lumOff val="25000"/>
                  </a:prstClr>
                </a:solidFill>
              </a:rPr>
              <a:t>4</a:t>
            </a:r>
            <a:r>
              <a:rPr lang="zh-TW" altLang="en-US" sz="1600" dirty="0">
                <a:solidFill>
                  <a:prstClr val="black">
                    <a:lumMod val="75000"/>
                    <a:lumOff val="25000"/>
                  </a:prstClr>
                </a:solidFill>
              </a:rPr>
              <a:t> </a:t>
            </a:r>
            <a:r>
              <a:rPr lang="en-US" altLang="zh-TW" sz="1600" dirty="0">
                <a:solidFill>
                  <a:prstClr val="black">
                    <a:lumMod val="75000"/>
                    <a:lumOff val="25000"/>
                  </a:prstClr>
                </a:solidFill>
              </a:rPr>
              <a:t>7</a:t>
            </a:r>
            <a:r>
              <a:rPr lang="zh-TW" altLang="en-US" sz="1600" dirty="0">
                <a:solidFill>
                  <a:prstClr val="black">
                    <a:lumMod val="75000"/>
                    <a:lumOff val="25000"/>
                  </a:prstClr>
                </a:solidFill>
              </a:rPr>
              <a:t> </a:t>
            </a:r>
            <a:r>
              <a:rPr lang="en-US" altLang="zh-TW" sz="1600" dirty="0">
                <a:solidFill>
                  <a:prstClr val="black">
                    <a:lumMod val="75000"/>
                    <a:lumOff val="25000"/>
                  </a:prstClr>
                </a:solidFill>
              </a:rPr>
              <a:t>5</a:t>
            </a:r>
            <a:r>
              <a:rPr lang="zh-TW" altLang="en-US" sz="1600" dirty="0">
                <a:solidFill>
                  <a:prstClr val="black">
                    <a:lumMod val="75000"/>
                    <a:lumOff val="25000"/>
                  </a:prstClr>
                </a:solidFill>
              </a:rPr>
              <a:t> </a:t>
            </a:r>
            <a:r>
              <a:rPr lang="en-US" altLang="zh-TW" sz="1600" dirty="0">
                <a:solidFill>
                  <a:prstClr val="black">
                    <a:lumMod val="75000"/>
                    <a:lumOff val="25000"/>
                  </a:prstClr>
                </a:solidFill>
              </a:rPr>
              <a:t>1</a:t>
            </a:r>
            <a:r>
              <a:rPr lang="zh-TW" altLang="en-US" sz="1600" dirty="0">
                <a:solidFill>
                  <a:prstClr val="black">
                    <a:lumMod val="75000"/>
                    <a:lumOff val="25000"/>
                  </a:prstClr>
                </a:solidFill>
              </a:rPr>
              <a:t> </a:t>
            </a:r>
            <a:r>
              <a:rPr lang="en-US" altLang="zh-TW" sz="1600" dirty="0">
                <a:solidFill>
                  <a:prstClr val="black">
                    <a:lumMod val="75000"/>
                    <a:lumOff val="25000"/>
                  </a:prstClr>
                </a:solidFill>
              </a:rPr>
              <a:t>5</a:t>
            </a:r>
            <a:r>
              <a:rPr lang="zh-TW" altLang="en-US" sz="1600" dirty="0">
                <a:solidFill>
                  <a:prstClr val="black">
                    <a:lumMod val="75000"/>
                    <a:lumOff val="25000"/>
                  </a:prstClr>
                </a:solidFill>
              </a:rPr>
              <a:t> </a:t>
            </a:r>
            <a:r>
              <a:rPr lang="en-US" altLang="zh-TW" sz="1600" dirty="0">
                <a:solidFill>
                  <a:prstClr val="black">
                    <a:lumMod val="75000"/>
                    <a:lumOff val="25000"/>
                  </a:prstClr>
                </a:solidFill>
              </a:rPr>
              <a:t>5</a:t>
            </a:r>
            <a:r>
              <a:rPr lang="zh-TW" altLang="en-US" sz="1600" dirty="0">
                <a:solidFill>
                  <a:prstClr val="black">
                    <a:lumMod val="75000"/>
                    <a:lumOff val="25000"/>
                  </a:prstClr>
                </a:solidFill>
              </a:rPr>
              <a:t> </a:t>
            </a:r>
            <a:r>
              <a:rPr lang="en-US" altLang="zh-TW" sz="1600" dirty="0">
                <a:solidFill>
                  <a:prstClr val="black">
                    <a:lumMod val="75000"/>
                    <a:lumOff val="25000"/>
                  </a:prstClr>
                </a:solidFill>
              </a:rPr>
              <a:t>5</a:t>
            </a:r>
            <a:r>
              <a:rPr lang="zh-TW" altLang="en-US" sz="1600" dirty="0">
                <a:solidFill>
                  <a:prstClr val="black">
                    <a:lumMod val="75000"/>
                    <a:lumOff val="25000"/>
                  </a:prstClr>
                </a:solidFill>
              </a:rPr>
              <a:t> </a:t>
            </a:r>
            <a:r>
              <a:rPr lang="en-US" altLang="zh-TW" sz="1600" dirty="0">
                <a:solidFill>
                  <a:prstClr val="black">
                    <a:lumMod val="75000"/>
                    <a:lumOff val="25000"/>
                  </a:prstClr>
                </a:solidFill>
              </a:rPr>
              <a:t>8</a:t>
            </a:r>
            <a:r>
              <a:rPr lang="zh-TW" altLang="en-US" sz="1600" dirty="0">
                <a:solidFill>
                  <a:prstClr val="black">
                    <a:lumMod val="75000"/>
                    <a:lumOff val="25000"/>
                  </a:prstClr>
                </a:solidFill>
              </a:rPr>
              <a:t> </a:t>
            </a:r>
            <a:r>
              <a:rPr lang="en-US" altLang="zh-TW" sz="1600" dirty="0">
                <a:solidFill>
                  <a:prstClr val="black">
                    <a:lumMod val="75000"/>
                    <a:lumOff val="25000"/>
                  </a:prstClr>
                </a:solidFill>
              </a:rPr>
              <a:t>6</a:t>
            </a:r>
            <a:r>
              <a:rPr lang="zh-TW" altLang="en-US" sz="1600" dirty="0">
                <a:solidFill>
                  <a:prstClr val="black">
                    <a:lumMod val="75000"/>
                    <a:lumOff val="25000"/>
                  </a:prstClr>
                </a:solidFill>
              </a:rPr>
              <a:t> </a:t>
            </a:r>
            <a:r>
              <a:rPr lang="en-US" altLang="zh-TW" sz="1600" dirty="0">
                <a:solidFill>
                  <a:prstClr val="black">
                    <a:lumMod val="75000"/>
                    <a:lumOff val="25000"/>
                  </a:prstClr>
                </a:solidFill>
              </a:rPr>
              <a:t>3</a:t>
            </a:r>
            <a:r>
              <a:rPr lang="zh-TW" altLang="en-US" sz="1600" dirty="0">
                <a:solidFill>
                  <a:prstClr val="black">
                    <a:lumMod val="75000"/>
                    <a:lumOff val="25000"/>
                  </a:prstClr>
                </a:solidFill>
              </a:rPr>
              <a:t> </a:t>
            </a:r>
            <a:r>
              <a:rPr lang="en-US" altLang="zh-TW" sz="1600" dirty="0">
                <a:solidFill>
                  <a:prstClr val="black">
                    <a:lumMod val="75000"/>
                    <a:lumOff val="25000"/>
                  </a:prstClr>
                </a:solidFill>
              </a:rPr>
              <a:t>6</a:t>
            </a:r>
            <a:r>
              <a:rPr lang="zh-TW" altLang="en-US" sz="1600" dirty="0">
                <a:solidFill>
                  <a:prstClr val="black">
                    <a:lumMod val="75000"/>
                    <a:lumOff val="25000"/>
                  </a:prstClr>
                </a:solidFill>
              </a:rPr>
              <a:t> </a:t>
            </a:r>
            <a:r>
              <a:rPr lang="en-US" altLang="zh-TW" sz="1600" dirty="0">
                <a:solidFill>
                  <a:prstClr val="black">
                    <a:lumMod val="75000"/>
                    <a:lumOff val="25000"/>
                  </a:prstClr>
                </a:solidFill>
              </a:rPr>
              <a:t>7</a:t>
            </a:r>
            <a:r>
              <a:rPr lang="zh-TW" altLang="en-US" sz="1600" dirty="0">
                <a:solidFill>
                  <a:prstClr val="black">
                    <a:lumMod val="75000"/>
                    <a:lumOff val="25000"/>
                  </a:prstClr>
                </a:solidFill>
              </a:rPr>
              <a:t> </a:t>
            </a:r>
            <a:r>
              <a:rPr lang="en-US" altLang="zh-TW" sz="1600" dirty="0">
                <a:solidFill>
                  <a:prstClr val="black">
                    <a:lumMod val="75000"/>
                    <a:lumOff val="25000"/>
                  </a:prstClr>
                </a:solidFill>
              </a:rPr>
              <a:t>8</a:t>
            </a:r>
            <a:r>
              <a:rPr lang="zh-TW" altLang="en-US" sz="1600" dirty="0">
                <a:solidFill>
                  <a:prstClr val="black">
                    <a:lumMod val="75000"/>
                    <a:lumOff val="25000"/>
                  </a:prstClr>
                </a:solidFill>
              </a:rPr>
              <a:t> </a:t>
            </a:r>
            <a:r>
              <a:rPr lang="en-US" altLang="zh-TW" sz="1600" dirty="0">
                <a:solidFill>
                  <a:prstClr val="black">
                    <a:lumMod val="75000"/>
                    <a:lumOff val="25000"/>
                  </a:prstClr>
                </a:solidFill>
              </a:rPr>
              <a:t>3</a:t>
            </a:r>
            <a:r>
              <a:rPr lang="zh-TW" altLang="en-US" sz="1600" dirty="0">
                <a:solidFill>
                  <a:prstClr val="black">
                    <a:lumMod val="75000"/>
                    <a:lumOff val="25000"/>
                  </a:prstClr>
                </a:solidFill>
              </a:rPr>
              <a:t> </a:t>
            </a:r>
            <a:r>
              <a:rPr lang="en-US" altLang="zh-TW" sz="1600" dirty="0">
                <a:solidFill>
                  <a:prstClr val="black">
                    <a:lumMod val="75000"/>
                    <a:lumOff val="25000"/>
                  </a:prstClr>
                </a:solidFill>
              </a:rPr>
              <a:t>8</a:t>
            </a:r>
            <a:r>
              <a:rPr lang="zh-TW" altLang="en-US" sz="1600" dirty="0">
                <a:solidFill>
                  <a:prstClr val="black">
                    <a:lumMod val="75000"/>
                    <a:lumOff val="25000"/>
                  </a:prstClr>
                </a:solidFill>
              </a:rPr>
              <a:t> </a:t>
            </a:r>
            <a:r>
              <a:rPr lang="en-US" altLang="zh-TW" sz="1600" dirty="0">
                <a:solidFill>
                  <a:prstClr val="black">
                    <a:lumMod val="75000"/>
                    <a:lumOff val="25000"/>
                  </a:prstClr>
                </a:solidFill>
              </a:rPr>
              <a:t>5</a:t>
            </a:r>
            <a:r>
              <a:rPr lang="zh-TW" altLang="en-US" sz="1600" dirty="0">
                <a:solidFill>
                  <a:prstClr val="black">
                    <a:lumMod val="75000"/>
                    <a:lumOff val="25000"/>
                  </a:prstClr>
                </a:solidFill>
              </a:rPr>
              <a:t> </a:t>
            </a:r>
            <a:r>
              <a:rPr lang="en-US" altLang="zh-TW" sz="1600" dirty="0">
                <a:solidFill>
                  <a:prstClr val="black">
                    <a:lumMod val="75000"/>
                    <a:lumOff val="25000"/>
                  </a:prstClr>
                </a:solidFill>
              </a:rPr>
              <a:t>8</a:t>
            </a:r>
            <a:r>
              <a:rPr lang="zh-TW" altLang="en-US" sz="1600" dirty="0">
                <a:solidFill>
                  <a:prstClr val="black">
                    <a:lumMod val="75000"/>
                    <a:lumOff val="25000"/>
                  </a:prstClr>
                </a:solidFill>
              </a:rPr>
              <a:t> </a:t>
            </a:r>
            <a:r>
              <a:rPr lang="en-US" altLang="zh-TW" sz="1600" dirty="0">
                <a:solidFill>
                  <a:prstClr val="black">
                    <a:lumMod val="75000"/>
                    <a:lumOff val="25000"/>
                  </a:prstClr>
                </a:solidFill>
              </a:rPr>
              <a:t>8)</a:t>
            </a:r>
            <a:endParaRPr lang="en-US" altLang="zh-TW" sz="1600" dirty="0"/>
          </a:p>
          <a:p>
            <a:r>
              <a:rPr lang="zh-TW" altLang="en-US" sz="2200" dirty="0"/>
              <a:t>輸出：</a:t>
            </a:r>
            <a:endParaRPr lang="en-US" altLang="zh-TW" sz="2200" dirty="0"/>
          </a:p>
          <a:p>
            <a:pPr marL="342900" indent="-342900">
              <a:buFont typeface="+mj-ea"/>
              <a:buAutoNum type="ea1ChtPeriod"/>
            </a:pPr>
            <a:r>
              <a:rPr lang="zh-TW" altLang="en-US" sz="1600" dirty="0"/>
              <a:t>使用「包裹法」得到的凸包</a:t>
            </a:r>
            <a:endParaRPr lang="en-US" altLang="zh-TW" sz="1600" dirty="0"/>
          </a:p>
          <a:p>
            <a:pPr marL="342900" indent="-342900">
              <a:buFont typeface="+mj-ea"/>
              <a:buAutoNum type="ea1ChtPeriod"/>
            </a:pPr>
            <a:r>
              <a:rPr lang="zh-TW" altLang="en-US" sz="1600" dirty="0"/>
              <a:t>使用「葛立恆掃描法」得到的凸包</a:t>
            </a:r>
            <a:endParaRPr lang="en-US" altLang="zh-TW" sz="1600" dirty="0"/>
          </a:p>
          <a:p>
            <a:pPr marL="342900" indent="-342900">
              <a:buFont typeface="+mj-ea"/>
              <a:buAutoNum type="ea1ChtPeriod"/>
            </a:pPr>
            <a:r>
              <a:rPr lang="zh-TW" altLang="en-US" sz="1600" dirty="0"/>
              <a:t>使用「安德魯演算法」得到的凸包</a:t>
            </a:r>
            <a:endParaRPr lang="en-US" altLang="zh-TW" sz="1600" dirty="0"/>
          </a:p>
        </p:txBody>
      </p:sp>
      <p:pic>
        <p:nvPicPr>
          <p:cNvPr id="9" name="圖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3350" y="1325880"/>
            <a:ext cx="2333450" cy="4859248"/>
          </a:xfrm>
          <a:prstGeom prst="rect">
            <a:avLst/>
          </a:prstGeom>
        </p:spPr>
      </p:pic>
      <p:pic>
        <p:nvPicPr>
          <p:cNvPr id="10" name="內容版面配置區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3608" y="4308336"/>
            <a:ext cx="1666301" cy="1663689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</p:pic>
      <p:pic>
        <p:nvPicPr>
          <p:cNvPr id="11" name="圖片 10"/>
          <p:cNvPicPr>
            <a:picLocks noChangeAspect="1"/>
          </p:cNvPicPr>
          <p:nvPr/>
        </p:nvPicPr>
        <p:blipFill rotWithShape="1">
          <a:blip r:embed="rId4"/>
          <a:srcRect r="172"/>
          <a:stretch/>
        </p:blipFill>
        <p:spPr>
          <a:xfrm>
            <a:off x="3772667" y="4308336"/>
            <a:ext cx="1663429" cy="1663689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</p:pic>
      <p:sp>
        <p:nvSpPr>
          <p:cNvPr id="12" name="向右箭號 11"/>
          <p:cNvSpPr/>
          <p:nvPr/>
        </p:nvSpPr>
        <p:spPr>
          <a:xfrm>
            <a:off x="2987824" y="4960160"/>
            <a:ext cx="504056" cy="360040"/>
          </a:xfrm>
          <a:prstGeom prst="rightArrow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709704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spcBef>
                <a:spcPts val="1500"/>
              </a:spcBef>
            </a:pPr>
            <a:r>
              <a:rPr lang="zh-TW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心得感想</a:t>
            </a:r>
            <a:endParaRPr lang="en-US" altLang="zh-TW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sz="quarter" idx="1"/>
          </p:nvPr>
        </p:nvSpPr>
        <p:spPr>
          <a:xfrm>
            <a:off x="457200" y="1556792"/>
            <a:ext cx="8229600" cy="4536504"/>
          </a:xfrm>
        </p:spPr>
        <p:txBody>
          <a:bodyPr>
            <a:normAutofit/>
          </a:bodyPr>
          <a:lstStyle/>
          <a:p>
            <a:pPr>
              <a:lnSpc>
                <a:spcPts val="3000"/>
              </a:lnSpc>
              <a:spcBef>
                <a:spcPts val="1200"/>
              </a:spcBef>
            </a:pPr>
            <a:r>
              <a:rPr lang="zh-TW" altLang="en-US" sz="1600" dirty="0"/>
              <a:t>我想做</a:t>
            </a:r>
            <a:r>
              <a:rPr lang="zh-TW" altLang="en-US" sz="1600" b="1" dirty="0"/>
              <a:t>凸包</a:t>
            </a:r>
            <a:r>
              <a:rPr lang="zh-TW" altLang="en-US" sz="1600" dirty="0"/>
              <a:t>這個主題是因為我剛好在書上翻到，發現這些演算法概念、執行步驟看起來滿酷的，想嘗試自己寫寫看程式。實際實做過後，我發現並不如想像中的簡單，過程中我因為弄錯點在容器的位置、搞錯優先順序、拿錯容器、用錯</a:t>
            </a:r>
            <a:r>
              <a:rPr lang="en-US" altLang="zh-TW" sz="1600" dirty="0"/>
              <a:t>pair</a:t>
            </a:r>
            <a:r>
              <a:rPr lang="zh-TW" altLang="en-US" sz="1600" dirty="0"/>
              <a:t>與</a:t>
            </a:r>
            <a:r>
              <a:rPr lang="en-US" altLang="zh-TW" sz="1600" dirty="0" err="1"/>
              <a:t>struct</a:t>
            </a:r>
            <a:r>
              <a:rPr lang="zh-TW" altLang="en-US" sz="1600" dirty="0"/>
              <a:t>，犯了許多錯誤，但也是這些錯誤，讓我在每次修正都獲得不少成長，無形中強化我上網找資料的能力，也使得我更進一步的熟悉程式與演算法。</a:t>
            </a:r>
            <a:endParaRPr lang="en-US" altLang="zh-TW" sz="1600" dirty="0"/>
          </a:p>
          <a:p>
            <a:pPr>
              <a:lnSpc>
                <a:spcPts val="3000"/>
              </a:lnSpc>
              <a:spcBef>
                <a:spcPts val="1200"/>
              </a:spcBef>
            </a:pPr>
            <a:r>
              <a:rPr lang="zh-TW" altLang="en-US" sz="1600" dirty="0"/>
              <a:t>這次實作成功教會我許多我以前未曾接觸過的知識，也帶給我無比的成就感，期待未來我能嘗試更多不同的演算法，探索不同的領域。</a:t>
            </a:r>
            <a:endParaRPr lang="en-US" altLang="zh-TW" sz="1600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615865">
            <a:off x="5535254" y="4779497"/>
            <a:ext cx="2059148" cy="1069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635457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資料來源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quarter" idx="1"/>
          </p:nvPr>
        </p:nvSpPr>
        <p:spPr>
          <a:xfrm>
            <a:off x="457199" y="1628800"/>
            <a:ext cx="8229600" cy="4248472"/>
          </a:xfrm>
        </p:spPr>
        <p:txBody>
          <a:bodyPr>
            <a:normAutofit/>
          </a:bodyPr>
          <a:lstStyle/>
          <a:p>
            <a:r>
              <a:rPr lang="zh-TW" altLang="en-US" sz="1800" dirty="0"/>
              <a:t>凸包 </a:t>
            </a:r>
            <a:r>
              <a:rPr lang="en-US" altLang="zh-TW" sz="1800" dirty="0"/>
              <a:t>- </a:t>
            </a:r>
            <a:r>
              <a:rPr lang="zh-TW" altLang="en-US" sz="1800" dirty="0"/>
              <a:t>維基百科</a:t>
            </a:r>
            <a:endParaRPr lang="en-US" altLang="zh-TW" sz="1800" dirty="0"/>
          </a:p>
          <a:p>
            <a:pPr marL="0" indent="0">
              <a:buNone/>
            </a:pPr>
            <a:r>
              <a:rPr lang="en-US" altLang="zh-TW" sz="1100" dirty="0"/>
              <a:t>         </a:t>
            </a:r>
            <a:r>
              <a:rPr lang="en-US" altLang="zh-TW" sz="1000" dirty="0">
                <a:hlinkClick r:id="rId2"/>
              </a:rPr>
              <a:t>https://zh.wikipedia.org/zh-tw/%E5%87%B8%E5%8C%85</a:t>
            </a:r>
            <a:endParaRPr lang="en-US" altLang="zh-TW" sz="1000" dirty="0"/>
          </a:p>
          <a:p>
            <a:endParaRPr lang="en-US" altLang="zh-TW" sz="1200" dirty="0"/>
          </a:p>
          <a:p>
            <a:r>
              <a:rPr lang="en-US" altLang="zh-TW" sz="1800" dirty="0"/>
              <a:t>Convex Hull - </a:t>
            </a:r>
            <a:r>
              <a:rPr lang="zh-TW" altLang="en-US" sz="1800" dirty="0"/>
              <a:t>演算法筆記</a:t>
            </a:r>
            <a:endParaRPr lang="en-US" altLang="zh-TW" sz="1800" dirty="0"/>
          </a:p>
          <a:p>
            <a:pPr marL="0" indent="0">
              <a:buNone/>
            </a:pPr>
            <a:r>
              <a:rPr lang="en-US" altLang="zh-TW" sz="1100" dirty="0"/>
              <a:t>         </a:t>
            </a:r>
            <a:r>
              <a:rPr lang="en-US" altLang="zh-TW" sz="1000" dirty="0">
                <a:hlinkClick r:id="rId3"/>
              </a:rPr>
              <a:t>https://web.ntnu.edu.tw/~algo/ConvexHull.html</a:t>
            </a:r>
          </a:p>
          <a:p>
            <a:endParaRPr lang="en-US" altLang="zh-TW" sz="1100" dirty="0">
              <a:hlinkClick r:id="rId3"/>
            </a:endParaRPr>
          </a:p>
          <a:p>
            <a:r>
              <a:rPr lang="zh-TW" altLang="en-US" sz="1800" dirty="0"/>
              <a:t>基於網格架構之凸包快速演算法</a:t>
            </a:r>
            <a:endParaRPr lang="en-US" altLang="zh-TW" sz="1800" dirty="0"/>
          </a:p>
          <a:p>
            <a:pPr marL="0" indent="0">
              <a:buNone/>
            </a:pPr>
            <a:r>
              <a:rPr lang="en-US" altLang="zh-TW" sz="1100" dirty="0"/>
              <a:t>         </a:t>
            </a:r>
            <a:r>
              <a:rPr lang="en-US" altLang="zh-TW" sz="1000" dirty="0">
                <a:hlinkClick r:id="rId4"/>
              </a:rPr>
              <a:t>https://www.airitilibrary.com/Article/Detail/P20191126001-201911-201911260014-201911260014-150-155</a:t>
            </a:r>
            <a:endParaRPr lang="en-US" altLang="zh-TW" sz="1100" dirty="0"/>
          </a:p>
          <a:p>
            <a:endParaRPr lang="en-US" altLang="zh-TW" sz="1100" dirty="0"/>
          </a:p>
          <a:p>
            <a:r>
              <a:rPr lang="zh-TW" altLang="en-US" sz="1800" dirty="0"/>
              <a:t>會動的演算法</a:t>
            </a:r>
            <a:endParaRPr lang="en-US" altLang="zh-TW" sz="1800" dirty="0"/>
          </a:p>
          <a:p>
            <a:pPr marL="0" indent="0">
              <a:buNone/>
            </a:pPr>
            <a:r>
              <a:rPr lang="zh-TW" altLang="en-US" sz="1100" dirty="0"/>
              <a:t>         </a:t>
            </a:r>
            <a:r>
              <a:rPr lang="en-US" altLang="zh-TW" sz="1000" dirty="0">
                <a:hlinkClick r:id="rId5"/>
              </a:rPr>
              <a:t>https://www.flag.com.tw/activity/F2708/exercise/books/</a:t>
            </a:r>
            <a:endParaRPr lang="zh-TW" altLang="en-US" sz="1800" dirty="0">
              <a:hlinkClick r:id="rId2"/>
            </a:endParaRPr>
          </a:p>
        </p:txBody>
      </p:sp>
      <p:pic>
        <p:nvPicPr>
          <p:cNvPr id="8" name="圖片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36096" y="4970773"/>
            <a:ext cx="2478203" cy="906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949463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標題 1"/>
          <p:cNvSpPr txBox="1">
            <a:spLocks/>
          </p:cNvSpPr>
          <p:nvPr/>
        </p:nvSpPr>
        <p:spPr>
          <a:xfrm>
            <a:off x="0" y="2968460"/>
            <a:ext cx="9144000" cy="1089660"/>
          </a:xfrm>
          <a:prstGeom prst="rect">
            <a:avLst/>
          </a:prstGeom>
        </p:spPr>
        <p:txBody>
          <a:bodyPr>
            <a:norm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3200" kern="1200">
                <a:solidFill>
                  <a:schemeClr val="tx2"/>
                </a:solidFill>
                <a:latin typeface="微軟正黑體" pitchFamily="34" charset="-120"/>
                <a:ea typeface="微軟正黑體" pitchFamily="34" charset="-120"/>
                <a:cs typeface="+mj-cs"/>
              </a:defRPr>
            </a:lvl1pPr>
          </a:lstStyle>
          <a:p>
            <a:pPr algn="ctr"/>
            <a:r>
              <a:rPr lang="zh-TW" altLang="en-US" sz="5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謝謝大家</a:t>
            </a:r>
          </a:p>
        </p:txBody>
      </p:sp>
      <p:cxnSp>
        <p:nvCxnSpPr>
          <p:cNvPr id="45" name="直線接點 44"/>
          <p:cNvCxnSpPr>
            <a:stCxn id="19" idx="0"/>
            <a:endCxn id="13" idx="4"/>
          </p:cNvCxnSpPr>
          <p:nvPr/>
        </p:nvCxnSpPr>
        <p:spPr>
          <a:xfrm>
            <a:off x="2802808" y="3003071"/>
            <a:ext cx="77354" cy="867692"/>
          </a:xfrm>
          <a:prstGeom prst="line">
            <a:avLst/>
          </a:prstGeom>
          <a:ln w="38100">
            <a:solidFill>
              <a:srgbClr val="9FB8C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線接點 53"/>
          <p:cNvCxnSpPr>
            <a:stCxn id="20" idx="4"/>
            <a:endCxn id="17" idx="0"/>
          </p:cNvCxnSpPr>
          <p:nvPr/>
        </p:nvCxnSpPr>
        <p:spPr>
          <a:xfrm flipV="1">
            <a:off x="6176248" y="3015530"/>
            <a:ext cx="77354" cy="875826"/>
          </a:xfrm>
          <a:prstGeom prst="line">
            <a:avLst/>
          </a:prstGeom>
          <a:ln w="38100">
            <a:solidFill>
              <a:srgbClr val="9FB8C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線接點 55"/>
          <p:cNvCxnSpPr>
            <a:stCxn id="17" idx="2"/>
            <a:endCxn id="175" idx="6"/>
          </p:cNvCxnSpPr>
          <p:nvPr/>
        </p:nvCxnSpPr>
        <p:spPr>
          <a:xfrm flipH="1" flipV="1">
            <a:off x="4615759" y="2642258"/>
            <a:ext cx="1560489" cy="295918"/>
          </a:xfrm>
          <a:prstGeom prst="line">
            <a:avLst/>
          </a:prstGeom>
          <a:ln w="38100">
            <a:solidFill>
              <a:srgbClr val="9FB8C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直線接點 112"/>
          <p:cNvCxnSpPr>
            <a:stCxn id="13" idx="6"/>
            <a:endCxn id="58" idx="2"/>
          </p:cNvCxnSpPr>
          <p:nvPr/>
        </p:nvCxnSpPr>
        <p:spPr>
          <a:xfrm>
            <a:off x="2957516" y="3948117"/>
            <a:ext cx="1426181" cy="198420"/>
          </a:xfrm>
          <a:prstGeom prst="line">
            <a:avLst/>
          </a:prstGeom>
          <a:ln w="38100">
            <a:solidFill>
              <a:srgbClr val="9FB8C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橢圓 12"/>
          <p:cNvSpPr/>
          <p:nvPr/>
        </p:nvSpPr>
        <p:spPr>
          <a:xfrm flipV="1">
            <a:off x="2802808" y="3870763"/>
            <a:ext cx="154708" cy="154708"/>
          </a:xfrm>
          <a:prstGeom prst="ellipse">
            <a:avLst/>
          </a:prstGeom>
          <a:solidFill>
            <a:srgbClr val="727C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橢圓 16"/>
          <p:cNvSpPr/>
          <p:nvPr/>
        </p:nvSpPr>
        <p:spPr>
          <a:xfrm flipV="1">
            <a:off x="6176248" y="2860822"/>
            <a:ext cx="154708" cy="154708"/>
          </a:xfrm>
          <a:prstGeom prst="ellipse">
            <a:avLst/>
          </a:prstGeom>
          <a:solidFill>
            <a:srgbClr val="727C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" name="橢圓 18"/>
          <p:cNvSpPr/>
          <p:nvPr/>
        </p:nvSpPr>
        <p:spPr>
          <a:xfrm flipV="1">
            <a:off x="2725454" y="2848363"/>
            <a:ext cx="154708" cy="154708"/>
          </a:xfrm>
          <a:prstGeom prst="ellipse">
            <a:avLst/>
          </a:prstGeom>
          <a:solidFill>
            <a:srgbClr val="727C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51" name="直線接點 50"/>
          <p:cNvCxnSpPr>
            <a:stCxn id="58" idx="6"/>
            <a:endCxn id="20" idx="2"/>
          </p:cNvCxnSpPr>
          <p:nvPr/>
        </p:nvCxnSpPr>
        <p:spPr>
          <a:xfrm flipV="1">
            <a:off x="4538405" y="3968710"/>
            <a:ext cx="1560489" cy="177827"/>
          </a:xfrm>
          <a:prstGeom prst="line">
            <a:avLst/>
          </a:prstGeom>
          <a:ln w="38100">
            <a:solidFill>
              <a:srgbClr val="9FB8C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橢圓 57"/>
          <p:cNvSpPr/>
          <p:nvPr/>
        </p:nvSpPr>
        <p:spPr>
          <a:xfrm flipV="1">
            <a:off x="4383697" y="4069183"/>
            <a:ext cx="154708" cy="154708"/>
          </a:xfrm>
          <a:prstGeom prst="ellipse">
            <a:avLst/>
          </a:prstGeom>
          <a:solidFill>
            <a:srgbClr val="727C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0" name="橢圓 19"/>
          <p:cNvSpPr/>
          <p:nvPr/>
        </p:nvSpPr>
        <p:spPr>
          <a:xfrm flipV="1">
            <a:off x="6098894" y="3891356"/>
            <a:ext cx="154708" cy="154708"/>
          </a:xfrm>
          <a:prstGeom prst="ellipse">
            <a:avLst/>
          </a:prstGeom>
          <a:solidFill>
            <a:srgbClr val="727C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5" name="橢圓 174"/>
          <p:cNvSpPr/>
          <p:nvPr/>
        </p:nvSpPr>
        <p:spPr>
          <a:xfrm flipV="1">
            <a:off x="4461051" y="2564904"/>
            <a:ext cx="154708" cy="154708"/>
          </a:xfrm>
          <a:prstGeom prst="ellipse">
            <a:avLst/>
          </a:prstGeom>
          <a:solidFill>
            <a:srgbClr val="727C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77" name="直線接點 176"/>
          <p:cNvCxnSpPr>
            <a:stCxn id="175" idx="2"/>
            <a:endCxn id="19" idx="6"/>
          </p:cNvCxnSpPr>
          <p:nvPr/>
        </p:nvCxnSpPr>
        <p:spPr>
          <a:xfrm flipH="1">
            <a:off x="2880162" y="2642258"/>
            <a:ext cx="1580889" cy="283459"/>
          </a:xfrm>
          <a:prstGeom prst="line">
            <a:avLst/>
          </a:prstGeom>
          <a:ln w="38100">
            <a:solidFill>
              <a:srgbClr val="9FB8C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6226425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原創">
  <a:themeElements>
    <a:clrScheme name="原創">
      <a:dk1>
        <a:sysClr val="windowText" lastClr="000000"/>
      </a:dk1>
      <a:lt1>
        <a:sysClr val="window" lastClr="FFFFFF"/>
      </a:lt1>
      <a:dk2>
        <a:srgbClr val="464653"/>
      </a:dk2>
      <a:lt2>
        <a:srgbClr val="DDE9EC"/>
      </a:lt2>
      <a:accent1>
        <a:srgbClr val="727CA3"/>
      </a:accent1>
      <a:accent2>
        <a:srgbClr val="9FB8CD"/>
      </a:accent2>
      <a:accent3>
        <a:srgbClr val="D2DA7A"/>
      </a:accent3>
      <a:accent4>
        <a:srgbClr val="FADA7A"/>
      </a:accent4>
      <a:accent5>
        <a:srgbClr val="B88472"/>
      </a:accent5>
      <a:accent6>
        <a:srgbClr val="8E736A"/>
      </a:accent6>
      <a:hlink>
        <a:srgbClr val="B292CA"/>
      </a:hlink>
      <a:folHlink>
        <a:srgbClr val="6B5680"/>
      </a:folHlink>
    </a:clrScheme>
    <a:fontScheme name="原創">
      <a:majorFont>
        <a:latin typeface="Bookman Old Style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原創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Origin</Template>
  <TotalTime>888</TotalTime>
  <Words>1002</Words>
  <Application>Microsoft Office PowerPoint</Application>
  <PresentationFormat>如螢幕大小 (4:3)</PresentationFormat>
  <Paragraphs>113</Paragraphs>
  <Slides>19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19</vt:i4>
      </vt:variant>
    </vt:vector>
  </HeadingPairs>
  <TitlesOfParts>
    <vt:vector size="24" baseType="lpstr">
      <vt:lpstr>微軟正黑體</vt:lpstr>
      <vt:lpstr>Gill Sans MT</vt:lpstr>
      <vt:lpstr>Wingdings</vt:lpstr>
      <vt:lpstr>Wingdings 3</vt:lpstr>
      <vt:lpstr>原創</vt:lpstr>
      <vt:lpstr>凸包 - Convex Hull</vt:lpstr>
      <vt:lpstr>大綱</vt:lpstr>
      <vt:lpstr>凸包定義</vt:lpstr>
      <vt:lpstr>二維凸包</vt:lpstr>
      <vt:lpstr>應用範圍</vt:lpstr>
      <vt:lpstr>演算法介紹</vt:lpstr>
      <vt:lpstr>演算法介紹</vt:lpstr>
      <vt:lpstr>演算法介紹</vt:lpstr>
      <vt:lpstr>演算法介紹</vt:lpstr>
      <vt:lpstr>實作程式碼       (1/6)</vt:lpstr>
      <vt:lpstr>實作程式碼       (2/6)</vt:lpstr>
      <vt:lpstr>實作程式碼       (3/6)</vt:lpstr>
      <vt:lpstr>實作程式碼       (4/6)</vt:lpstr>
      <vt:lpstr>實作程式碼       (5/6)</vt:lpstr>
      <vt:lpstr>實作程式碼       (6/6)</vt:lpstr>
      <vt:lpstr>執行結果</vt:lpstr>
      <vt:lpstr>心得感想</vt:lpstr>
      <vt:lpstr>資料來源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user</dc:creator>
  <cp:lastModifiedBy>msoft19385</cp:lastModifiedBy>
  <cp:revision>39</cp:revision>
  <dcterms:created xsi:type="dcterms:W3CDTF">2023-12-11T02:08:13Z</dcterms:created>
  <dcterms:modified xsi:type="dcterms:W3CDTF">2023-12-19T15:01:37Z</dcterms:modified>
</cp:coreProperties>
</file>