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61" r:id="rId5"/>
    <p:sldId id="283" r:id="rId6"/>
    <p:sldId id="263" r:id="rId7"/>
    <p:sldId id="295" r:id="rId8"/>
    <p:sldId id="265" r:id="rId9"/>
    <p:sldId id="267" r:id="rId10"/>
    <p:sldId id="284" r:id="rId11"/>
    <p:sldId id="287" r:id="rId12"/>
    <p:sldId id="266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91" r:id="rId21"/>
    <p:sldId id="292" r:id="rId22"/>
    <p:sldId id="268" r:id="rId23"/>
    <p:sldId id="264" r:id="rId24"/>
    <p:sldId id="282" r:id="rId25"/>
    <p:sldId id="289" r:id="rId26"/>
    <p:sldId id="290" r:id="rId27"/>
    <p:sldId id="293" r:id="rId28"/>
    <p:sldId id="288" r:id="rId29"/>
    <p:sldId id="285" r:id="rId30"/>
    <p:sldId id="278" r:id="rId31"/>
    <p:sldId id="279" r:id="rId32"/>
    <p:sldId id="280" r:id="rId33"/>
    <p:sldId id="286" r:id="rId34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7C7FEA-BFCB-4E6B-A01A-8E2A5200ECD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2023/2/24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328E3B9-20FD-4A66-B01D-2BA689DD37BB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8732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532B56D-B152-4CB9-8DF6-8ABA99D2447B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275CD8D-B1D9-4658-A4F0-38CA8D83ED5D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192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0870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6695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3507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2243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7184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1752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3197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1679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4793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3699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5935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4205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75CD8D-B1D9-4658-A4F0-38CA8D83ED5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924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圖片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群組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矩形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手繪多邊形​​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手繪多邊形​​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矩形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手繪多邊形​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手繪多邊形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手繪多邊形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手繪多邊形​​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手繪多邊形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手繪多邊形​​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手繪多邊形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手繪多邊形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手繪多邊形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手繪多邊形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手繪多邊形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手繪多邊形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手繪多邊形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手繪多邊形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手繪多邊形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手繪多邊形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手繪多邊形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手繪多邊形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手繪多邊形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手繪多邊形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手繪多邊形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手繪多邊形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手繪多邊形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手繪多邊形​​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矩形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手繪多邊形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手繪多邊形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手繪多邊形​​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手繪多邊形​​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手繪多邊形​​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手繪多邊形​​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手繪多邊形​​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手繪多邊形​​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手繪多邊形​​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手繪多邊形​​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手繪多邊形​​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矩形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手繪多邊形​​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手繪多邊形​​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手繪多邊形​​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手繪多邊形​​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手繪多邊形​​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手繪多邊形​​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手繪多邊形​​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手繪多邊形​​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手繪多邊形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手繪多邊形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手繪多邊形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手繪多邊形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手繪多邊形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smtClean="0"/>
              <a:t>按一下以編輯母片副標題樣式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4BE540C6-EBB3-4A34-96D1-8CB8779A5F9B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48C30D-BAB8-4DF7-BA45-85209477746C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8F2654-E53A-4E14-9380-3EFB269E2C61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97237C-1DBC-40E4-9028-17B035462020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0FB3CF-5420-423C-A62C-E06A1B6A8BF7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B59B90-1972-4FF0-AFC6-AAF4D1854AAF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C9175F-0482-4DE6-9A1C-F75EA98DB40C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79E274-122A-42C8-A985-2F5B4AD463A3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DD2702-9436-4B7A-B4B3-37E542337490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zh-TW" altLang="en-US" noProof="0" smtClean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4EE105-45AE-4E9F-B90E-8A3BEFB1558B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B1148E-8152-4C13-A60D-89C7326D9F4A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2F6B0BD-4D16-46E2-AA67-7106A5EC8947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D22F896-40B5-4ADD-8801-0D06FADFA095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altLang="en-US" sz="8000" noProof="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“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altLang="en-US" sz="8000" noProof="0" dirty="0">
                <a:solidFill>
                  <a:schemeClr val="tx1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C5F23D-A8BC-4905-9587-6994BA31D758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7" name="文字預留位置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9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1C2EB4-83F1-4D5F-A145-B81D82E94005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zh-TW" altLang="en-US" noProof="0" smtClean="0"/>
              <a:t>按一下圖示以新增圖片</a:t>
            </a:r>
            <a:endParaRPr lang="zh-TW" altLang="en-US" noProof="0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zh-TW" altLang="en-US" noProof="0" smtClean="0"/>
              <a:t>按一下圖示以新增圖片</a:t>
            </a:r>
            <a:endParaRPr lang="zh-TW" altLang="en-US" noProof="0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25" name="文字版面配置區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zh-TW" altLang="en-US" noProof="0" smtClean="0"/>
              <a:t>按一下圖示以新增圖片</a:t>
            </a:r>
            <a:endParaRPr lang="zh-TW" altLang="en-US" noProof="0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AE4943-6F30-4C3B-9344-C0F5E6F03FBC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8CBCE1-F199-41E9-81DF-DC785565B836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82409E-2288-401B-9F1B-7C238B39B71A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群組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群組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矩形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手繪多邊形​​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手繪多邊形​​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手繪多邊形​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手繪多邊形​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手繪多邊形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手繪多邊形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手繪多邊形​​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手繪多邊形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手繪多邊形​​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手繪多邊形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線條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手繪多邊形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手繪多邊形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手繪多邊形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手繪多邊形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矩形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手繪多邊形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手繪多邊形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手繪多邊形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手繪多邊形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手繪多邊形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手繪多邊形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手繪多邊形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手繪多邊形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手繪多邊形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手繪多邊形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群組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手繪多邊形​​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手繪多邊形​​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手繪多邊形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手繪多邊形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手繪多邊形​​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手繪多邊形​​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手繪多邊形​​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手繪多邊形​​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手繪多邊形​​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矩形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zh-TW" altLang="en-US" noProof="0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651742E-F1BE-44AE-A751-7F6F66AA7250}" type="datetime1">
              <a:rPr lang="zh-TW" altLang="en-US" noProof="0" smtClean="0"/>
              <a:t>2023/2/24</a:t>
            </a:fld>
            <a:endParaRPr lang="zh-TW" altLang="en-US" noProof="0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D22F896-40B5-4ADD-8801-0D06FADFA095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1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12.jpeg"/><Relationship Id="rId4" Type="http://schemas.openxmlformats.org/officeDocument/2006/relationships/image" Target="../media/image2.png"/><Relationship Id="rId9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fif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群組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矩形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79" name="圖片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圖片 4" descr="電路板特寫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0340" y="31489"/>
            <a:ext cx="12188389" cy="6857990"/>
          </a:xfrm>
          <a:prstGeom prst="rect">
            <a:avLst/>
          </a:prstGeom>
        </p:spPr>
      </p:pic>
      <p:grpSp>
        <p:nvGrpSpPr>
          <p:cNvPr id="81" name="群組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圓角化對角線角落矩形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手繪多邊形​​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5" name="手繪多邊形​​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6" name="手繪多邊形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7" name="手繪多邊形​​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8" name="手繪多邊形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9" name="手繪多邊形​​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0" name="手繪多邊形​​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1" name="手繪多邊形​​(F)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2" name="手繪多邊形​​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3" name="矩形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4" name="手繪多邊形​​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5" name="手繪多邊形​​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6" name="手繪多邊形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7" name="手繪多邊形​​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8" name="手繪多邊形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9" name="手繪多邊形​​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0" name="手繪多邊形​​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1" name="手繪多邊形​​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2" name="手繪多邊形​​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3" name="矩形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=""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794" y="2267209"/>
            <a:ext cx="6858000" cy="1367896"/>
          </a:xfrm>
        </p:spPr>
        <p:txBody>
          <a:bodyPr rtlCol="0">
            <a:normAutofit/>
          </a:bodyPr>
          <a:lstStyle/>
          <a:p>
            <a:pPr algn="ctr"/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乒</a:t>
            </a:r>
            <a:r>
              <a:rPr lang="zh-TW" altLang="en-US" dirty="0" smtClean="0"/>
              <a:t>乓遊戲機  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dirty="0"/>
              <a:t>╵ </a:t>
            </a:r>
            <a:r>
              <a:rPr lang="zh-TW" altLang="en-US" dirty="0" smtClean="0"/>
              <a:t> </a:t>
            </a:r>
            <a:r>
              <a:rPr lang="en-US" altLang="zh-TW" dirty="0" smtClean="0"/>
              <a:t>. </a:t>
            </a:r>
            <a:r>
              <a:rPr lang="zh-TW" altLang="en-US" dirty="0"/>
              <a:t>╷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662" y="3635106"/>
            <a:ext cx="6857999" cy="953029"/>
          </a:xfrm>
        </p:spPr>
        <p:txBody>
          <a:bodyPr rtlCol="0">
            <a:normAutofit/>
          </a:bodyPr>
          <a:lstStyle/>
          <a:p>
            <a:pPr algn="ctr" rtl="0"/>
            <a:r>
              <a:rPr lang="en-US" altLang="zh-TW" dirty="0" smtClean="0"/>
              <a:t>349</a:t>
            </a:r>
            <a:r>
              <a:rPr lang="zh-TW" altLang="en-US" dirty="0" smtClean="0"/>
              <a:t>班</a:t>
            </a:r>
            <a:r>
              <a:rPr lang="en-US" altLang="zh-TW" dirty="0" smtClean="0"/>
              <a:t>14</a:t>
            </a:r>
            <a:r>
              <a:rPr lang="zh-TW" altLang="en-US" dirty="0" smtClean="0"/>
              <a:t>號 郭昀漢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 smtClean="0"/>
              <a:t>作品</a:t>
            </a:r>
            <a:r>
              <a:rPr lang="zh-TW" altLang="en-US" dirty="0"/>
              <a:t>製</a:t>
            </a:r>
            <a:r>
              <a:rPr lang="zh-TW" altLang="en-US" dirty="0" smtClean="0"/>
              <a:t>作</a:t>
            </a:r>
            <a:r>
              <a:rPr lang="zh-TW" altLang="en-US" dirty="0"/>
              <a:t>動機</a:t>
            </a:r>
            <a:endParaRPr lang="en-US" altLang="zh-TW" dirty="0" smtClean="0"/>
          </a:p>
          <a:p>
            <a:r>
              <a:rPr lang="zh-TW" altLang="en-US" dirty="0"/>
              <a:t>設計作品靈感來</a:t>
            </a:r>
            <a:r>
              <a:rPr lang="zh-TW" altLang="en-US" dirty="0" smtClean="0"/>
              <a:t>源</a:t>
            </a:r>
            <a:endParaRPr lang="en-US" altLang="zh-TW" dirty="0" smtClean="0"/>
          </a:p>
          <a:p>
            <a:r>
              <a:rPr lang="zh-TW" altLang="en-US" dirty="0" smtClean="0"/>
              <a:t>我的作品簡介</a:t>
            </a:r>
            <a:endParaRPr lang="en-US" altLang="zh-TW" dirty="0" smtClean="0"/>
          </a:p>
          <a:p>
            <a:r>
              <a:rPr lang="zh-TW" altLang="en-US" dirty="0"/>
              <a:t>遊戲規</a:t>
            </a:r>
            <a:r>
              <a:rPr lang="zh-TW" altLang="en-US" dirty="0" smtClean="0"/>
              <a:t>則說明以及操作方式</a:t>
            </a:r>
            <a:endParaRPr lang="en-US" altLang="zh-TW" dirty="0"/>
          </a:p>
          <a:p>
            <a:r>
              <a:rPr lang="zh-TW" altLang="en-US" dirty="0" smtClean="0"/>
              <a:t>作</a:t>
            </a:r>
            <a:r>
              <a:rPr lang="zh-TW" altLang="en-US" dirty="0"/>
              <a:t>品展</a:t>
            </a:r>
            <a:r>
              <a:rPr lang="zh-TW" altLang="en-US" dirty="0" smtClean="0"/>
              <a:t>示 </a:t>
            </a:r>
            <a:r>
              <a:rPr lang="en-US" altLang="zh-TW" dirty="0" smtClean="0"/>
              <a:t>(</a:t>
            </a:r>
            <a:r>
              <a:rPr lang="zh-TW" altLang="en-US" dirty="0" smtClean="0"/>
              <a:t>實體物件、程式內容、顯示畫面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製作作品的心路歷程</a:t>
            </a:r>
            <a:endParaRPr lang="en-US" altLang="zh-TW" dirty="0" smtClean="0"/>
          </a:p>
          <a:p>
            <a:r>
              <a:rPr lang="zh-TW" altLang="en-US" dirty="0" smtClean="0"/>
              <a:t>心得與反思</a:t>
            </a:r>
            <a:endParaRPr lang="en-US" altLang="zh-TW" dirty="0" smtClean="0"/>
          </a:p>
          <a:p>
            <a:r>
              <a:rPr lang="zh-TW" altLang="en-US" dirty="0" smtClean="0"/>
              <a:t>補</a:t>
            </a:r>
            <a:r>
              <a:rPr lang="zh-TW" altLang="en-US" dirty="0"/>
              <a:t>充：運用零件的巧</a:t>
            </a:r>
            <a:r>
              <a:rPr lang="zh-TW" altLang="en-US" dirty="0" smtClean="0"/>
              <a:t>思 </a:t>
            </a:r>
            <a:r>
              <a:rPr lang="en-US" altLang="zh-TW" dirty="0" smtClean="0"/>
              <a:t>(</a:t>
            </a:r>
            <a:r>
              <a:rPr lang="zh-TW" altLang="en-US" dirty="0" smtClean="0"/>
              <a:t>電阻、</a:t>
            </a:r>
            <a:r>
              <a:rPr lang="en-US" altLang="zh-TW" dirty="0" smtClean="0"/>
              <a:t>LED</a:t>
            </a:r>
            <a:r>
              <a:rPr lang="zh-TW" altLang="en-US" dirty="0" smtClean="0"/>
              <a:t>燈、超音波感測器、蜂鳴器</a:t>
            </a:r>
            <a:r>
              <a:rPr lang="en-US" altLang="zh-TW" dirty="0" smtClean="0"/>
              <a:t>)</a:t>
            </a:r>
          </a:p>
          <a:p>
            <a:endParaRPr lang="zh-TW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719911" y="534542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大綱</a:t>
            </a:r>
          </a:p>
        </p:txBody>
      </p:sp>
    </p:spTree>
    <p:extLst>
      <p:ext uri="{BB962C8B-B14F-4D97-AF65-F5344CB8AC3E}">
        <p14:creationId xmlns:p14="http://schemas.microsoft.com/office/powerpoint/2010/main" val="45385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作品製作動機</a:t>
            </a:r>
            <a:endParaRPr lang="en-US" altLang="zh-TW" sz="4400" dirty="0"/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sz="2000" b="1" dirty="0" smtClean="0"/>
              <a:t>我</a:t>
            </a:r>
            <a:r>
              <a:rPr lang="zh-TW" altLang="en-US" sz="1600" dirty="0" smtClean="0"/>
              <a:t>在國小還沒有手機跟電腦遊戲時，學校的資訊課有教</a:t>
            </a:r>
            <a:r>
              <a:rPr lang="en-US" altLang="zh-TW" sz="1600" dirty="0" smtClean="0"/>
              <a:t>scratch</a:t>
            </a:r>
            <a:r>
              <a:rPr lang="zh-TW" altLang="en-US" sz="1600" dirty="0" smtClean="0"/>
              <a:t>的軟體，當時我就開始接觸程式，並開始嘗試製作遊戲給自己或我弟玩。那時，我還抱持一個想法，就是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自己想玩遊戲就自己做</a:t>
            </a:r>
            <a:r>
              <a:rPr lang="zh-TW" altLang="en-US" sz="1600" dirty="0" smtClean="0"/>
              <a:t>。於是我開始摸索</a:t>
            </a:r>
            <a:r>
              <a:rPr lang="en-US" altLang="zh-TW" sz="1600" dirty="0" smtClean="0"/>
              <a:t>scratch</a:t>
            </a:r>
            <a:r>
              <a:rPr lang="zh-TW" altLang="en-US" sz="1600" dirty="0" smtClean="0"/>
              <a:t>，大概在國小四到六年級，我放學後回家做完作業剩下的時間幾乎都在玩</a:t>
            </a:r>
            <a:r>
              <a:rPr lang="en-US" altLang="zh-TW" sz="1600" dirty="0" smtClean="0"/>
              <a:t>scratch</a:t>
            </a:r>
            <a:r>
              <a:rPr lang="zh-TW" altLang="en-US" sz="1600" dirty="0" smtClean="0"/>
              <a:t>，幾乎變成我那時的</a:t>
            </a:r>
            <a:r>
              <a:rPr lang="zh-TW" altLang="en-US" sz="1600" dirty="0"/>
              <a:t>「</a:t>
            </a:r>
            <a:r>
              <a:rPr lang="zh-TW" altLang="en-US" sz="1600" dirty="0" smtClean="0"/>
              <a:t>遊戲」了。而長大後，我接觸到更多不同的程式語言，也想要試著用來做做看遊戲。</a:t>
            </a:r>
            <a:endParaRPr lang="en-US" altLang="zh-TW" sz="1600" dirty="0" smtClean="0"/>
          </a:p>
          <a:p>
            <a:pPr marL="0" indent="0" algn="just">
              <a:buNone/>
            </a:pPr>
            <a:r>
              <a:rPr lang="zh-TW" altLang="en-US" sz="2000" b="1" dirty="0" smtClean="0"/>
              <a:t>這</a:t>
            </a:r>
            <a:r>
              <a:rPr lang="zh-TW" altLang="en-US" sz="1600" dirty="0" smtClean="0"/>
              <a:t>次剛好學校多元選修有教</a:t>
            </a:r>
            <a:r>
              <a:rPr lang="en-US" altLang="zh-TW" sz="1600" dirty="0" smtClean="0"/>
              <a:t>Arduino</a:t>
            </a:r>
            <a:r>
              <a:rPr lang="zh-TW" altLang="en-US" sz="1600" dirty="0" smtClean="0"/>
              <a:t>系統，加上期末有個人的專題製作，讓我想要試試看能不能做出遊戲。但不同以往的是，我以前接觸比較多的是寫電腦遊戲程式，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這次是要結合硬體，對我來說是個不錯的挑戰</a:t>
            </a:r>
            <a:r>
              <a:rPr lang="zh-TW" altLang="en-US" sz="1600" dirty="0" smtClean="0"/>
              <a:t>。</a:t>
            </a:r>
            <a:endParaRPr lang="en-US" altLang="zh-TW" sz="1600" dirty="0" smtClean="0"/>
          </a:p>
          <a:p>
            <a:pPr marL="0" indent="0" algn="just">
              <a:buNone/>
            </a:pPr>
            <a:r>
              <a:rPr lang="zh-TW" altLang="en-US" sz="2000" b="1" dirty="0"/>
              <a:t>比</a:t>
            </a:r>
            <a:r>
              <a:rPr lang="zh-TW" altLang="en-US" sz="1600" dirty="0"/>
              <a:t>起玩遊戲，我更喜歡寫遊戲，因為</a:t>
            </a:r>
            <a:r>
              <a:rPr lang="zh-TW" altLang="en-US" sz="1600" b="1" dirty="0">
                <a:solidFill>
                  <a:srgbClr val="FFFF00"/>
                </a:solidFill>
              </a:rPr>
              <a:t>比起遊玩設計好的遊戲，我更喜歡製作遊戲的過程</a:t>
            </a:r>
            <a:r>
              <a:rPr lang="zh-TW" altLang="en-US" sz="1600" dirty="0" smtClean="0"/>
              <a:t>。在未來，我想當一位遊戲設計師，我想要把快樂帶給玩家，而玩家的笑容，就是我的快樂來源。</a:t>
            </a:r>
            <a:endParaRPr lang="en-US" altLang="zh-TW" sz="1600" dirty="0"/>
          </a:p>
          <a:p>
            <a:pPr marL="0" indent="0" algn="just">
              <a:buNone/>
            </a:pPr>
            <a:endParaRPr lang="zh-TW" altLang="en-US" sz="1600" dirty="0"/>
          </a:p>
        </p:txBody>
      </p:sp>
      <p:sp>
        <p:nvSpPr>
          <p:cNvPr id="10" name="文字方塊 9"/>
          <p:cNvSpPr txBox="1"/>
          <p:nvPr/>
        </p:nvSpPr>
        <p:spPr>
          <a:xfrm rot="16200000">
            <a:off x="5457143" y="506398"/>
            <a:ext cx="1274536" cy="1170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0" dirty="0" smtClean="0"/>
              <a:t>#include &lt;Adafruit_ssd1306syp.h&gt;</a:t>
            </a:r>
          </a:p>
          <a:p>
            <a:r>
              <a:rPr lang="en-US" altLang="zh-TW" sz="170" dirty="0" smtClean="0"/>
              <a:t>Adafruit_ssd1306syp A(A3,A2);</a:t>
            </a:r>
          </a:p>
          <a:p>
            <a:r>
              <a:rPr lang="en-US" altLang="zh-TW" sz="170" dirty="0" smtClean="0"/>
              <a:t>int h = 0, s = 0;</a:t>
            </a:r>
          </a:p>
          <a:p>
            <a:r>
              <a:rPr lang="en-US" altLang="zh-TW" sz="170" dirty="0" smtClean="0"/>
              <a:t>const double Pi = 3.14;</a:t>
            </a:r>
          </a:p>
          <a:p>
            <a:r>
              <a:rPr lang="en-US" altLang="zh-TW" sz="170" dirty="0" smtClean="0"/>
              <a:t>const unsigned char PROGMEM bmp[] =</a:t>
            </a:r>
          </a:p>
          <a:p>
            <a:r>
              <a:rPr lang="en-US" altLang="zh-TW" sz="170" dirty="0" smtClean="0"/>
              <a:t>{  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};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setup() {</a:t>
            </a:r>
          </a:p>
          <a:p>
            <a:r>
              <a:rPr lang="en-US" altLang="zh-TW" sz="170" dirty="0" smtClean="0"/>
              <a:t>  Serial.begin(250000);</a:t>
            </a:r>
          </a:p>
          <a:p>
            <a:r>
              <a:rPr lang="en-US" altLang="zh-TW" sz="170" dirty="0" smtClean="0"/>
              <a:t>  for (int i = 8; i &lt;= 11; i++) {</a:t>
            </a:r>
          </a:p>
          <a:p>
            <a:r>
              <a:rPr lang="en-US" altLang="zh-TW" sz="170" dirty="0" smtClean="0"/>
              <a:t>    pinMode (i, OUTPUT);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pinMode (13, INPUT);</a:t>
            </a:r>
          </a:p>
          <a:p>
            <a:r>
              <a:rPr lang="en-US" altLang="zh-TW" sz="170" dirty="0" smtClean="0"/>
              <a:t>  pinMode (12, INPUT);</a:t>
            </a:r>
          </a:p>
          <a:p>
            <a:r>
              <a:rPr lang="en-US" altLang="zh-TW" sz="170" dirty="0" smtClean="0"/>
              <a:t>  pinMode(7,INPUT);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pinMode (5, OUTPUT);</a:t>
            </a:r>
          </a:p>
          <a:p>
            <a:r>
              <a:rPr lang="en-US" altLang="zh-TW" sz="170" dirty="0" smtClean="0"/>
              <a:t>  pinMode (6, 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digitalWrite(10, LOW);   //LED</a:t>
            </a:r>
            <a:r>
              <a:rPr lang="zh-TW" altLang="en-US" sz="170" dirty="0" smtClean="0"/>
              <a:t>燈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digitalWrite(9, LOW);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A.initialize();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int Adisplay(int ag, int bg, int axl, int ayu, int bxl, int byu, int ballx, int bally) {    //</a:t>
            </a:r>
            <a:r>
              <a:rPr lang="zh-TW" altLang="en-US" sz="170" dirty="0" smtClean="0"/>
              <a:t>顯示畫面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顯示分數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A.drawLine(0, 17, 127, 17,WHITE);    //</a:t>
            </a:r>
            <a:r>
              <a:rPr lang="zh-TW" altLang="en-US" sz="170" dirty="0" smtClean="0"/>
              <a:t>顯示外框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A.drawLine(0, 63, 127, 63,WHITE);</a:t>
            </a:r>
          </a:p>
          <a:p>
            <a:r>
              <a:rPr lang="en-US" altLang="zh-TW" sz="170" dirty="0" smtClean="0"/>
              <a:t>  for (int i = 17; i &lt; 63; i += 2) {</a:t>
            </a:r>
          </a:p>
          <a:p>
            <a:r>
              <a:rPr lang="en-US" altLang="zh-TW" sz="170" dirty="0" smtClean="0"/>
              <a:t>    A.drawLine(63, i, 64, i,WHITE);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A.drawLine(0, 17, 0, ag,WHITE);</a:t>
            </a:r>
          </a:p>
          <a:p>
            <a:r>
              <a:rPr lang="en-US" altLang="zh-TW" sz="170" dirty="0" smtClean="0"/>
              <a:t>  A.drawLine(0, 63, 0, ag + 30,WHITE);</a:t>
            </a:r>
          </a:p>
          <a:p>
            <a:r>
              <a:rPr lang="en-US" altLang="zh-TW" sz="170" dirty="0" smtClean="0"/>
              <a:t>  A.drawLine(127, 17, 127, bg,WHITE);</a:t>
            </a:r>
          </a:p>
          <a:p>
            <a:r>
              <a:rPr lang="en-US" altLang="zh-TW" sz="170" dirty="0" smtClean="0"/>
              <a:t>  A.drawLine(127, 63, 127, bg + 30,WHITE);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A.drawLine(axl, ayu, axl + 5, ayu,WHITE);   //</a:t>
            </a:r>
            <a:r>
              <a:rPr lang="zh-TW" altLang="en-US" sz="170" dirty="0" smtClean="0"/>
              <a:t>顯示玩家球拍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A.drawLine(axl, ayu + 16, axl + 5, ayu + 16,WHITE);</a:t>
            </a:r>
          </a:p>
          <a:p>
            <a:r>
              <a:rPr lang="en-US" altLang="zh-TW" sz="170" dirty="0" smtClean="0"/>
              <a:t>  A.drawLine(axl, ayu, axl, ayu + 16,WHITE);</a:t>
            </a:r>
          </a:p>
          <a:p>
            <a:r>
              <a:rPr lang="en-US" altLang="zh-TW" sz="170" dirty="0" smtClean="0"/>
              <a:t>  A.drawLine(axl + 5, ayu, axl + 5, ayu + 16,WHITE);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A.drawLine(bxl, byu, bxl + 5, byu,WHITE);   //</a:t>
            </a:r>
            <a:r>
              <a:rPr lang="zh-TW" altLang="en-US" sz="170" dirty="0" smtClean="0"/>
              <a:t>顯示對手球拍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A.drawLine(bxl, byu + 16, bxl + 5, byu + 16,WHITE);</a:t>
            </a:r>
          </a:p>
          <a:p>
            <a:r>
              <a:rPr lang="en-US" altLang="zh-TW" sz="170" dirty="0" smtClean="0"/>
              <a:t>  A.drawLine(bxl, byu, bxl, byu + 16,WHITE);</a:t>
            </a:r>
          </a:p>
          <a:p>
            <a:r>
              <a:rPr lang="en-US" altLang="zh-TW" sz="170" dirty="0" smtClean="0"/>
              <a:t>  A.drawLine(bxl + 5, byu, bxl + 5, byu + 16,WHITE);</a:t>
            </a:r>
          </a:p>
          <a:p>
            <a:r>
              <a:rPr lang="en-US" altLang="zh-TW" sz="170" dirty="0" smtClean="0"/>
              <a:t>        </a:t>
            </a:r>
          </a:p>
          <a:p>
            <a:r>
              <a:rPr lang="en-US" altLang="zh-TW" sz="170" dirty="0" smtClean="0"/>
              <a:t>  A.drawBitmap(ballx, bally, bmp, 8, 8, 1);   //</a:t>
            </a:r>
            <a:r>
              <a:rPr lang="zh-TW" altLang="en-US" sz="170" dirty="0" smtClean="0"/>
              <a:t>顯示球</a:t>
            </a:r>
          </a:p>
          <a:p>
            <a:endParaRPr lang="zh-TW" altLang="en-US" sz="170" dirty="0" smtClean="0"/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A.update();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loop() {</a:t>
            </a:r>
          </a:p>
          <a:p>
            <a:r>
              <a:rPr lang="en-US" altLang="zh-TW" sz="170" dirty="0" smtClean="0"/>
              <a:t>  int flag = 1;</a:t>
            </a:r>
          </a:p>
          <a:p>
            <a:r>
              <a:rPr lang="en-US" altLang="zh-TW" sz="170" dirty="0" smtClean="0"/>
              <a:t>  if (h &lt; s) {</a:t>
            </a:r>
          </a:p>
          <a:p>
            <a:r>
              <a:rPr lang="en-US" altLang="zh-TW" sz="170" dirty="0" smtClean="0"/>
              <a:t>    h = s;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digitalWrite(13, HIGH);</a:t>
            </a:r>
          </a:p>
          <a:p>
            <a:r>
              <a:rPr lang="en-US" altLang="zh-TW" sz="170" dirty="0" smtClean="0"/>
              <a:t>  digitalWrite(12, HIGH);</a:t>
            </a:r>
          </a:p>
          <a:p>
            <a:r>
              <a:rPr lang="en-US" altLang="zh-TW" sz="170" dirty="0" smtClean="0"/>
              <a:t>  digitalWrite(7, HIGH);</a:t>
            </a:r>
          </a:p>
          <a:p>
            <a:r>
              <a:rPr lang="en-US" altLang="zh-TW" sz="170" dirty="0" smtClean="0"/>
              <a:t>  while (digitalRead(12) &amp;&amp; digitalRead(13) &amp;&amp; digitalRead(7) &amp;&amp; flag) {    //</a:t>
            </a:r>
            <a:r>
              <a:rPr lang="zh-TW" altLang="en-US" sz="170" dirty="0" smtClean="0"/>
              <a:t>遊戲初始介面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固定的圖案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  A.println("* highest score");</a:t>
            </a:r>
          </a:p>
          <a:p>
            <a:r>
              <a:rPr lang="en-US" altLang="zh-TW" sz="170" dirty="0" smtClean="0"/>
              <a:t>    A.setCursor(95,8);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A.println(h);</a:t>
            </a:r>
          </a:p>
          <a:p>
            <a:r>
              <a:rPr lang="en-US" altLang="zh-TW" sz="170" dirty="0" smtClean="0"/>
              <a:t>    A.setCursor(0,18);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A.println("your score");</a:t>
            </a:r>
          </a:p>
          <a:p>
            <a:r>
              <a:rPr lang="en-US" altLang="zh-TW" sz="170" dirty="0" smtClean="0"/>
              <a:t>    A.setCursor(65,18);</a:t>
            </a:r>
          </a:p>
          <a:p>
            <a:r>
              <a:rPr lang="en-US" altLang="zh-TW" sz="170" dirty="0" smtClean="0"/>
              <a:t>    A.println(s);</a:t>
            </a:r>
          </a:p>
          <a:p>
            <a:r>
              <a:rPr lang="en-US" altLang="zh-TW" sz="170" dirty="0" smtClean="0"/>
              <a:t>    A.drawLine(6, 34, 112, 34,WHITE);</a:t>
            </a:r>
          </a:p>
          <a:p>
            <a:r>
              <a:rPr lang="en-US" altLang="zh-TW" sz="170" dirty="0" smtClean="0"/>
              <a:t>    A.drawLine(6, 57, 112, 57,WHITE);</a:t>
            </a:r>
          </a:p>
          <a:p>
            <a:r>
              <a:rPr lang="en-US" altLang="zh-TW" sz="170" dirty="0" smtClean="0"/>
              <a:t>    A.drawLine(6, 34, 6, 57,WHITE);</a:t>
            </a:r>
          </a:p>
          <a:p>
            <a:r>
              <a:rPr lang="en-US" altLang="zh-TW" sz="170" dirty="0" smtClean="0"/>
              <a:t>    A.drawLine(112, 34, 112, 57,WHITE);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digitalWrite(4, LOW);</a:t>
            </a:r>
          </a:p>
          <a:p>
            <a:r>
              <a:rPr lang="en-US" altLang="zh-TW" sz="170" dirty="0" smtClean="0"/>
              <a:t>    A.setCursor(0,38);   //</a:t>
            </a:r>
            <a:r>
              <a:rPr lang="zh-TW" altLang="en-US" sz="170" dirty="0" smtClean="0"/>
              <a:t>閃爍的圖案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A.println("  press any button");</a:t>
            </a:r>
          </a:p>
          <a:p>
            <a:r>
              <a:rPr lang="en-US" altLang="zh-TW" sz="170" dirty="0" smtClean="0"/>
              <a:t>    A.println("     to start");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digitalWrite(4, HIGH);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digitalWrite(4, LOW);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for (int i = 3; i &gt; 0; i--) {    //</a:t>
            </a:r>
            <a:r>
              <a:rPr lang="zh-TW" altLang="en-US" sz="170" dirty="0" smtClean="0"/>
              <a:t>倒數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A.clear();</a:t>
            </a:r>
          </a:p>
          <a:p>
            <a:r>
              <a:rPr lang="en-US" altLang="zh-TW" sz="170" dirty="0" smtClean="0"/>
              <a:t>    A.setCursor(0,8);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A.println("game start in :");</a:t>
            </a:r>
          </a:p>
          <a:p>
            <a:r>
              <a:rPr lang="en-US" altLang="zh-TW" sz="170" dirty="0" smtClean="0"/>
              <a:t>    A.setCursor(54,25);</a:t>
            </a:r>
          </a:p>
          <a:p>
            <a:r>
              <a:rPr lang="en-US" altLang="zh-TW" sz="170" dirty="0" smtClean="0"/>
              <a:t>    A.setTextSize(4);</a:t>
            </a:r>
          </a:p>
          <a:p>
            <a:r>
              <a:rPr lang="en-US" altLang="zh-TW" sz="170" dirty="0" smtClean="0"/>
              <a:t>    A.println(i);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tone(11, 659, 250);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digitalWrite(i + 7, LOW);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  A.setCursor(27,20);</a:t>
            </a:r>
          </a:p>
          <a:p>
            <a:r>
              <a:rPr lang="en-US" altLang="zh-TW" sz="170" dirty="0" smtClean="0"/>
              <a:t>  A.setTextSize(5);</a:t>
            </a:r>
          </a:p>
          <a:p>
            <a:r>
              <a:rPr lang="en-US" altLang="zh-TW" sz="170" dirty="0" smtClean="0"/>
              <a:t>  A.println("GO!");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tone(11, 1318, 500);</a:t>
            </a:r>
          </a:p>
          <a:p>
            <a:r>
              <a:rPr lang="en-US" altLang="zh-TW" sz="170" dirty="0" smtClean="0"/>
              <a:t>  digitalWrite(4, HIGH);</a:t>
            </a:r>
          </a:p>
          <a:p>
            <a:r>
              <a:rPr lang="en-US" altLang="zh-TW" sz="170" dirty="0" smtClean="0"/>
              <a:t>  delay(1000);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//</a:t>
            </a:r>
            <a:r>
              <a:rPr lang="zh-TW" altLang="en-US" sz="170" dirty="0" smtClean="0"/>
              <a:t>遊戲開始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int life = 3, ag, bg, axl, ayu, bxl, byu, ballx, bally, ballspeed = 6, t, times = 0;</a:t>
            </a:r>
          </a:p>
          <a:p>
            <a:r>
              <a:rPr lang="en-US" altLang="zh-TW" sz="170" dirty="0" smtClean="0"/>
              <a:t>  s = 0;</a:t>
            </a:r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while (life) {</a:t>
            </a:r>
          </a:p>
          <a:p>
            <a:r>
              <a:rPr lang="en-US" altLang="zh-TW" sz="170" dirty="0" smtClean="0"/>
              <a:t>    ag = 25, bg = 25, axl = 20, ayu = 32, bxl = 102, byu = 32, ballx = 60, bally = 36;</a:t>
            </a:r>
          </a:p>
          <a:p>
            <a:r>
              <a:rPr lang="en-US" altLang="zh-TW" sz="170" dirty="0" smtClean="0"/>
              <a:t>    bool rebounda = 1, reboundb = 0, speedup = 0;</a:t>
            </a:r>
          </a:p>
          <a:p>
            <a:r>
              <a:rPr lang="en-US" altLang="zh-TW" sz="170" dirty="0" smtClean="0"/>
              <a:t>    times++;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digitalWrite(5, HIGH);    //</a:t>
            </a:r>
            <a:r>
              <a:rPr lang="zh-TW" altLang="en-US" sz="170" dirty="0" smtClean="0"/>
              <a:t>速度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方向設定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delayMicroseconds(10); </a:t>
            </a:r>
          </a:p>
          <a:p>
            <a:r>
              <a:rPr lang="en-US" altLang="zh-TW" sz="170" dirty="0" smtClean="0"/>
              <a:t>    digitalWrite(5, LOW); </a:t>
            </a:r>
          </a:p>
          <a:p>
            <a:r>
              <a:rPr lang="en-US" altLang="zh-TW" sz="170" dirty="0" smtClean="0"/>
              <a:t>    int time_echo = pulseIn(6, HIGH);</a:t>
            </a:r>
          </a:p>
          <a:p>
            <a:r>
              <a:rPr lang="en-US" altLang="zh-TW" sz="170" dirty="0" smtClean="0"/>
              <a:t>    Serial.print(time_echo);</a:t>
            </a:r>
          </a:p>
          <a:p>
            <a:r>
              <a:rPr lang="en-US" altLang="zh-TW" sz="170" dirty="0" smtClean="0"/>
              <a:t>    t = (time_echo + random(10000)) % 60 - 30;</a:t>
            </a:r>
          </a:p>
          <a:p>
            <a:r>
              <a:rPr lang="en-US" altLang="zh-TW" sz="170" dirty="0" smtClean="0"/>
              <a:t>    if ((random(2) + time_echo) % 2) {</a:t>
            </a:r>
          </a:p>
          <a:p>
            <a:r>
              <a:rPr lang="en-US" altLang="zh-TW" sz="170" dirty="0" smtClean="0"/>
              <a:t>      t = 180 - t;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ballspeed += ballspeed / 2.6 / times;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  Adisplay(ag, bg, axl, ayu, bxl, byu, ballx, bally);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while (1) {</a:t>
            </a:r>
          </a:p>
          <a:p>
            <a:r>
              <a:rPr lang="en-US" altLang="zh-TW" sz="170" dirty="0" smtClean="0"/>
              <a:t>      A.clear();</a:t>
            </a:r>
          </a:p>
          <a:p>
            <a:r>
              <a:rPr lang="en-US" altLang="zh-TW" sz="170" dirty="0" smtClean="0"/>
              <a:t>           </a:t>
            </a:r>
          </a:p>
          <a:p>
            <a:r>
              <a:rPr lang="en-US" altLang="zh-TW" sz="170" dirty="0" smtClean="0"/>
              <a:t>      if (!digitalRead(13) &amp;&amp; ag &gt; 17) {   //</a:t>
            </a:r>
            <a:r>
              <a:rPr lang="zh-TW" altLang="en-US" sz="170" dirty="0" smtClean="0"/>
              <a:t>玩家操控球門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ag -=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(!digitalRead(12) &amp;&amp; ag &lt; 33) {</a:t>
            </a:r>
          </a:p>
          <a:p>
            <a:r>
              <a:rPr lang="en-US" altLang="zh-TW" sz="170" dirty="0" smtClean="0"/>
              <a:t>        ag +=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(analogRead(A4) &lt; 550) {   //</a:t>
            </a:r>
            <a:r>
              <a:rPr lang="zh-TW" altLang="en-US" sz="170" dirty="0" smtClean="0"/>
              <a:t>玩家操控球拍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(axl + pow((550 - analogRead(A4)) / 165, 1.2) &lt; 58) {</a:t>
            </a:r>
          </a:p>
          <a:p>
            <a:r>
              <a:rPr lang="en-US" altLang="zh-TW" sz="170" dirty="0" smtClean="0"/>
              <a:t>          axl += pow((550 - analogRead(A4))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58;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(analogRead(A4) &gt; 500) {</a:t>
            </a:r>
          </a:p>
          <a:p>
            <a:r>
              <a:rPr lang="en-US" altLang="zh-TW" sz="170" dirty="0" smtClean="0"/>
              <a:t>        if (axl - pow((analogRead(A4) - 500) / 150, 1.2) &gt; 20) {</a:t>
            </a:r>
          </a:p>
          <a:p>
            <a:r>
              <a:rPr lang="en-US" altLang="zh-TW" sz="170" dirty="0" smtClean="0"/>
              <a:t>          axl -= pow((analogRead(A4)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20;</a:t>
            </a:r>
          </a:p>
          <a:p>
            <a:r>
              <a:rPr lang="en-US" altLang="zh-TW" sz="170" dirty="0" smtClean="0"/>
              <a:t>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&lt; 550) {</a:t>
            </a:r>
          </a:p>
          <a:p>
            <a:r>
              <a:rPr lang="en-US" altLang="zh-TW" sz="170" dirty="0" smtClean="0"/>
              <a:t>        if (ayu - pow((550 - analogRead(A5)) / 165, 1.2) &gt; 17) {</a:t>
            </a:r>
          </a:p>
          <a:p>
            <a:r>
              <a:rPr lang="en-US" altLang="zh-TW" sz="170" dirty="0" smtClean="0"/>
              <a:t>          ayu -= pow((550 - analogRead(A5))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 ayu = 17;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&gt; 500) {</a:t>
            </a:r>
          </a:p>
          <a:p>
            <a:r>
              <a:rPr lang="en-US" altLang="zh-TW" sz="170" dirty="0" smtClean="0"/>
              <a:t>        if (ayu + pow((analogRead(A5) - 500) / 150, 1.2) &lt; 46) {</a:t>
            </a:r>
          </a:p>
          <a:p>
            <a:r>
              <a:rPr lang="en-US" altLang="zh-TW" sz="170" dirty="0" smtClean="0"/>
              <a:t>          ayu += pow((analogRead(A5)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ayu = 46;</a:t>
            </a:r>
          </a:p>
          <a:p>
            <a:r>
              <a:rPr lang="en-US" altLang="zh-TW" sz="170" dirty="0" smtClean="0"/>
              <a:t>         }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(ballx &gt; 96) {   //</a:t>
            </a:r>
            <a:r>
              <a:rPr lang="zh-TW" altLang="en-US" sz="170" dirty="0" smtClean="0"/>
              <a:t>電腦操控球門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   </a:t>
            </a:r>
          </a:p>
          <a:p>
            <a:r>
              <a:rPr lang="en-US" altLang="zh-TW" sz="170" dirty="0" smtClean="0"/>
              <a:t>        if (k &lt;= 4) {</a:t>
            </a:r>
          </a:p>
          <a:p>
            <a:r>
              <a:rPr lang="en-US" altLang="zh-TW" sz="170" dirty="0" smtClean="0"/>
              <a:t>          if (bg &gt; 17 &amp;&amp; bally &gt; 40)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&lt; 32)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== 5) {</a:t>
            </a:r>
          </a:p>
          <a:p>
            <a:r>
              <a:rPr lang="en-US" altLang="zh-TW" sz="170" dirty="0" smtClean="0"/>
              <a:t>          if (bg &gt; 17 &amp;&amp; bally &lt; 32)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&gt; 40)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40) {   //</a:t>
            </a:r>
            <a:r>
              <a:rPr lang="zh-TW" altLang="en-US" sz="170" dirty="0" smtClean="0"/>
              <a:t>電腦操控球拍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</a:t>
            </a:r>
          </a:p>
          <a:p>
            <a:r>
              <a:rPr lang="en-US" altLang="zh-TW" sz="170" dirty="0" smtClean="0"/>
              <a:t>        if (ballx &lt; bxl &amp;&amp; k &gt; 3) {</a:t>
            </a:r>
          </a:p>
          <a:p>
            <a:r>
              <a:rPr lang="en-US" altLang="zh-TW" sz="170" dirty="0" smtClean="0"/>
              <a:t>          if (byu &gt; 20 &amp;&amp; bally &lt; byu)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- 9 &gt; byu) {</a:t>
            </a:r>
          </a:p>
          <a:p>
            <a:r>
              <a:rPr lang="en-US" altLang="zh-TW" sz="170" dirty="0" smtClean="0"/>
              <a:t>            byu += 3; </a:t>
            </a:r>
          </a:p>
          <a:p>
            <a:r>
              <a:rPr lang="en-US" altLang="zh-TW" sz="170" dirty="0" smtClean="0"/>
              <a:t>          }  </a:t>
            </a:r>
          </a:p>
          <a:p>
            <a:r>
              <a:rPr lang="en-US" altLang="zh-TW" sz="170" dirty="0" smtClean="0"/>
              <a:t>          if (bxl &lt; 99 &amp;&amp; k &gt; 7)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 else if (bxl &gt; 67 &amp;&amp; k &lt; 6) {</a:t>
            </a:r>
          </a:p>
          <a:p>
            <a:r>
              <a:rPr lang="en-US" altLang="zh-TW" sz="170" dirty="0" smtClean="0"/>
              <a:t>            bxl -= 3; 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!= 0) {</a:t>
            </a:r>
          </a:p>
          <a:p>
            <a:r>
              <a:rPr lang="en-US" altLang="zh-TW" sz="170" dirty="0" smtClean="0"/>
              <a:t>          if (byu &gt; 20 &amp;&amp; bally &gt; 46 - (times % 2) * 20)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&lt; 63) {</a:t>
            </a:r>
          </a:p>
          <a:p>
            <a:r>
              <a:rPr lang="en-US" altLang="zh-TW" sz="170" dirty="0" smtClean="0"/>
              <a:t>            byu += 3;</a:t>
            </a:r>
          </a:p>
          <a:p>
            <a:r>
              <a:rPr lang="en-US" altLang="zh-TW" sz="170" dirty="0" smtClean="0"/>
              <a:t>          } </a:t>
            </a:r>
          </a:p>
          <a:p>
            <a:r>
              <a:rPr lang="en-US" altLang="zh-TW" sz="170" dirty="0" smtClean="0"/>
              <a:t>          if (bxl &lt; 99)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(bally &lt; 20) {   //</a:t>
            </a:r>
            <a:r>
              <a:rPr lang="zh-TW" altLang="en-US" sz="170" dirty="0" smtClean="0"/>
              <a:t>球反彈場地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進球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t = 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54) {</a:t>
            </a:r>
          </a:p>
          <a:p>
            <a:r>
              <a:rPr lang="en-US" altLang="zh-TW" sz="170" dirty="0" smtClean="0"/>
              <a:t>        t = -abs(t);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&lt; 1) {</a:t>
            </a:r>
          </a:p>
          <a:p>
            <a:r>
              <a:rPr lang="en-US" altLang="zh-TW" sz="170" dirty="0" smtClean="0"/>
              <a:t>        rebounda = 0, reboundb = 0, speedup = 0;</a:t>
            </a:r>
          </a:p>
          <a:p>
            <a:r>
              <a:rPr lang="en-US" altLang="zh-TW" sz="170" dirty="0" smtClean="0"/>
              <a:t>        if (bally &gt;= ag &amp;&amp; bally &lt;= ag + 22) {</a:t>
            </a:r>
          </a:p>
          <a:p>
            <a:r>
              <a:rPr lang="en-US" altLang="zh-TW" sz="170" dirty="0" smtClean="0"/>
              <a:t>          life--;</a:t>
            </a:r>
          </a:p>
          <a:p>
            <a:r>
              <a:rPr lang="en-US" altLang="zh-TW" sz="170" dirty="0" smtClean="0"/>
              <a:t>          A.clear();</a:t>
            </a:r>
          </a:p>
          <a:p>
            <a:r>
              <a:rPr lang="en-US" altLang="zh-TW" sz="170" dirty="0" smtClean="0"/>
              <a:t>          Adisplay(ag, bg, axl, ayu, bxl, byu, -100, -100);</a:t>
            </a:r>
          </a:p>
          <a:p>
            <a:r>
              <a:rPr lang="en-US" altLang="zh-TW" sz="170" dirty="0" smtClean="0"/>
              <a:t>          for (int i = 0; i &lt; 3; i++) {   //</a:t>
            </a:r>
            <a:r>
              <a:rPr lang="zh-TW" altLang="en-US" sz="170" dirty="0" smtClean="0"/>
              <a:t>電腦進球動畫</a:t>
            </a:r>
          </a:p>
          <a:p>
            <a:r>
              <a:rPr lang="zh-TW" altLang="en-US" sz="170" dirty="0" smtClean="0"/>
              <a:t>            </a:t>
            </a:r>
            <a:r>
              <a:rPr lang="en-US" altLang="zh-TW" sz="170" dirty="0" smtClean="0"/>
              <a:t>digitalWrite(life + 8, LOW);</a:t>
            </a:r>
          </a:p>
          <a:p>
            <a:r>
              <a:rPr lang="en-US" altLang="zh-TW" sz="170" dirty="0" smtClean="0"/>
              <a:t>            tone(11, 466,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  digitalWrite(life + 8, HIGH);</a:t>
            </a:r>
          </a:p>
          <a:p>
            <a:r>
              <a:rPr lang="en-US" altLang="zh-TW" sz="170" dirty="0" smtClean="0"/>
              <a:t>            tone(11, 440,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digitalWrite(life + 8, LOW);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&gt; 118) {</a:t>
            </a:r>
          </a:p>
          <a:p>
            <a:r>
              <a:rPr lang="en-US" altLang="zh-TW" sz="170" dirty="0" smtClean="0"/>
              <a:t>        rebounda = 1, reboundb = 1, speedup = 0;</a:t>
            </a:r>
          </a:p>
          <a:p>
            <a:r>
              <a:rPr lang="en-US" altLang="zh-TW" sz="170" dirty="0" smtClean="0"/>
              <a:t>        A.clear();</a:t>
            </a:r>
          </a:p>
          <a:p>
            <a:r>
              <a:rPr lang="en-US" altLang="zh-TW" sz="170" dirty="0" smtClean="0"/>
              <a:t>        Adisplay(ag, bg, axl, ayu, bxl, byu, -100, -100);</a:t>
            </a:r>
          </a:p>
          <a:p>
            <a:r>
              <a:rPr lang="en-US" altLang="zh-TW" sz="170" dirty="0" smtClean="0"/>
              <a:t>        if (bally &gt;= bg &amp;&amp; bally &lt;= bg + 22) {   //</a:t>
            </a:r>
            <a:r>
              <a:rPr lang="zh-TW" altLang="en-US" sz="170" dirty="0" smtClean="0"/>
              <a:t>玩家進球動畫</a:t>
            </a:r>
          </a:p>
          <a:p>
            <a:r>
              <a:rPr lang="zh-TW" altLang="en-US" sz="170" dirty="0" smtClean="0"/>
              <a:t>          </a:t>
            </a:r>
            <a:r>
              <a:rPr lang="en-US" altLang="zh-TW" sz="170" dirty="0" smtClean="0"/>
              <a:t>s += 100;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784,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988,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1046, 200);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axl - 8 &amp;&amp; ballx &lt; axl + 9 &amp;&amp; bally &gt; ayu - 8 &amp;&amp; bally &lt; ayu + 17) {    //</a:t>
            </a:r>
            <a:r>
              <a:rPr lang="zh-TW" altLang="en-US" sz="170" dirty="0" smtClean="0"/>
              <a:t>球反彈玩家球拍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(rebounda)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reboundb = 0;</a:t>
            </a:r>
          </a:p>
          <a:p>
            <a:r>
              <a:rPr lang="en-US" altLang="zh-TW" sz="170" dirty="0" smtClean="0"/>
              <a:t>        tone(11, 784, 100);</a:t>
            </a:r>
          </a:p>
          <a:p>
            <a:r>
              <a:rPr lang="en-US" altLang="zh-TW" sz="170" dirty="0" smtClean="0"/>
              <a:t>        if (!digitalRead(7)) {</a:t>
            </a:r>
          </a:p>
          <a:p>
            <a:r>
              <a:rPr lang="en-US" altLang="zh-TW" sz="170" dirty="0" smtClean="0"/>
              <a:t>          speedup = 1;</a:t>
            </a:r>
          </a:p>
          <a:p>
            <a:r>
              <a:rPr lang="en-US" altLang="zh-TW" sz="170" dirty="0" smtClean="0"/>
              <a:t>          t *= 0.7;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speedup = 0;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bxl - 8 &amp;&amp; ballx &lt; bxl + 9 &amp;&amp; bally &gt; byu - 8 &amp;&amp; bally &lt; byu + 17) {    //</a:t>
            </a:r>
            <a:r>
              <a:rPr lang="zh-TW" altLang="en-US" sz="170" dirty="0" smtClean="0"/>
              <a:t>球反彈對手球拍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(reboundb)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if (random(4) + time_echo) {</a:t>
            </a:r>
          </a:p>
          <a:p>
            <a:r>
              <a:rPr lang="en-US" altLang="zh-TW" sz="170" dirty="0" smtClean="0"/>
              <a:t>            speedup = 0;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speedup = 1;</a:t>
            </a:r>
          </a:p>
          <a:p>
            <a:r>
              <a:rPr lang="en-US" altLang="zh-TW" sz="170" dirty="0" smtClean="0"/>
              <a:t>            t *= 0.7;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rebounda = 1;</a:t>
            </a:r>
          </a:p>
          <a:p>
            <a:r>
              <a:rPr lang="en-US" altLang="zh-TW" sz="170" dirty="0" smtClean="0"/>
              <a:t>        tone(11, 1568, 100);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(speedup) {</a:t>
            </a:r>
          </a:p>
          <a:p>
            <a:r>
              <a:rPr lang="en-US" altLang="zh-TW" sz="170" dirty="0" smtClean="0"/>
              <a:t>        ballx += (ballspeed * 1.4)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(ballspeed * 1.4) * sin(t * Pi / 180);</a:t>
            </a:r>
          </a:p>
          <a:p>
            <a:r>
              <a:rPr lang="en-US" altLang="zh-TW" sz="170" dirty="0" smtClean="0"/>
              <a:t>      } else {</a:t>
            </a:r>
          </a:p>
          <a:p>
            <a:r>
              <a:rPr lang="en-US" altLang="zh-TW" sz="170" dirty="0" smtClean="0"/>
              <a:t>        ballx += ballspeed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ballspeed * sin(t * Pi / 180);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119) {</a:t>
            </a:r>
          </a:p>
          <a:p>
            <a:r>
              <a:rPr lang="en-US" altLang="zh-TW" sz="170" dirty="0" smtClean="0"/>
              <a:t>        ballx = 119;</a:t>
            </a:r>
          </a:p>
          <a:p>
            <a:r>
              <a:rPr lang="en-US" altLang="zh-TW" sz="170" dirty="0" smtClean="0"/>
              <a:t>      } else if (ballx &lt; 0) {</a:t>
            </a:r>
          </a:p>
          <a:p>
            <a:r>
              <a:rPr lang="en-US" altLang="zh-TW" sz="170" dirty="0" smtClean="0"/>
              <a:t>        ballx = 0;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55) {</a:t>
            </a:r>
          </a:p>
          <a:p>
            <a:r>
              <a:rPr lang="en-US" altLang="zh-TW" sz="170" dirty="0" smtClean="0"/>
              <a:t>        bally = 55;</a:t>
            </a:r>
          </a:p>
          <a:p>
            <a:r>
              <a:rPr lang="en-US" altLang="zh-TW" sz="170" dirty="0" smtClean="0"/>
              <a:t>      } else if (bally &lt; 18) {</a:t>
            </a:r>
          </a:p>
          <a:p>
            <a:r>
              <a:rPr lang="en-US" altLang="zh-TW" sz="170" dirty="0" smtClean="0"/>
              <a:t>        bally = 18;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Adisplay(ag, bg, axl, ayu, bxl, byu, ballx, bally);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    //</a:t>
            </a:r>
            <a:r>
              <a:rPr lang="zh-TW" altLang="en-US" sz="170" dirty="0" smtClean="0"/>
              <a:t>遊戲結束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A.setCursor(10, 40);</a:t>
            </a:r>
          </a:p>
          <a:p>
            <a:r>
              <a:rPr lang="en-US" altLang="zh-TW" sz="170" dirty="0" smtClean="0"/>
              <a:t>  A.setTextSize(2);</a:t>
            </a:r>
          </a:p>
          <a:p>
            <a:r>
              <a:rPr lang="en-US" altLang="zh-TW" sz="170" dirty="0" smtClean="0"/>
              <a:t>  A.println("GAME OVER");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int p = 120;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for (int i = 440; i &gt; 138; i -= 25.5) {</a:t>
            </a:r>
          </a:p>
          <a:p>
            <a:r>
              <a:rPr lang="en-US" altLang="zh-TW" sz="170" dirty="0" smtClean="0"/>
              <a:t>    digitalWrite(i % 3 + 8, LOW);</a:t>
            </a:r>
          </a:p>
          <a:p>
            <a:r>
              <a:rPr lang="en-US" altLang="zh-TW" sz="170" dirty="0" smtClean="0"/>
              <a:t>    digitalWrite((i + 1) % 3 + 8, LOW);</a:t>
            </a:r>
          </a:p>
          <a:p>
            <a:r>
              <a:rPr lang="en-US" altLang="zh-TW" sz="170" dirty="0" smtClean="0"/>
              <a:t>    digitalWrite((i + 2) % 3 + 8, HIGH);</a:t>
            </a:r>
          </a:p>
          <a:p>
            <a:r>
              <a:rPr lang="en-US" altLang="zh-TW" sz="170" dirty="0" smtClean="0"/>
              <a:t>    tone(11, i);</a:t>
            </a:r>
          </a:p>
          <a:p>
            <a:r>
              <a:rPr lang="en-US" altLang="zh-TW" sz="170" dirty="0" smtClean="0"/>
              <a:t>    delay(p / 3);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digitalWrite(9, LOW);</a:t>
            </a:r>
          </a:p>
          <a:p>
            <a:r>
              <a:rPr lang="en-US" altLang="zh-TW" sz="170" dirty="0" smtClean="0"/>
              <a:t>  digitalWrite(10, LOW);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delay(p * 8);</a:t>
            </a:r>
          </a:p>
          <a:p>
            <a:r>
              <a:rPr lang="en-US" altLang="zh-TW" sz="170" dirty="0" smtClean="0"/>
              <a:t>  tone(11, 784);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1661);</a:t>
            </a:r>
          </a:p>
          <a:p>
            <a:r>
              <a:rPr lang="en-US" altLang="zh-TW" sz="170" dirty="0" smtClean="0"/>
              <a:t>  delay(p * 2);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1397);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 * 4);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delay(2500);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}</a:t>
            </a:r>
            <a:endParaRPr lang="zh-TW" altLang="en-US" sz="170" dirty="0"/>
          </a:p>
        </p:txBody>
      </p:sp>
    </p:spTree>
    <p:extLst>
      <p:ext uri="{BB962C8B-B14F-4D97-AF65-F5344CB8AC3E}">
        <p14:creationId xmlns:p14="http://schemas.microsoft.com/office/powerpoint/2010/main" val="125600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設計作品靈感來源</a:t>
            </a:r>
            <a:endParaRPr lang="en-US" altLang="zh-TW" sz="4400" dirty="0"/>
          </a:p>
        </p:txBody>
      </p:sp>
      <p:sp>
        <p:nvSpPr>
          <p:cNvPr id="9" name="內容版面配置區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/>
          <a:lstStyle/>
          <a:p>
            <a:pPr algn="just"/>
            <a:r>
              <a:rPr lang="en-US" altLang="zh-TW" dirty="0"/>
              <a:t>《</a:t>
            </a:r>
            <a:r>
              <a:rPr lang="zh-TW" altLang="en-US" dirty="0" smtClean="0"/>
              <a:t>乓</a:t>
            </a:r>
            <a:r>
              <a:rPr lang="en-US" altLang="zh-TW" dirty="0" smtClean="0"/>
              <a:t>(Pong)》</a:t>
            </a:r>
            <a:r>
              <a:rPr lang="zh-TW" altLang="en-US" dirty="0"/>
              <a:t>是</a:t>
            </a:r>
            <a:r>
              <a:rPr lang="zh-TW" altLang="en-US" dirty="0" smtClean="0"/>
              <a:t> </a:t>
            </a:r>
            <a:r>
              <a:rPr lang="en-US" altLang="zh-TW" dirty="0"/>
              <a:t>1972 </a:t>
            </a:r>
            <a:r>
              <a:rPr lang="zh-TW" altLang="en-US" dirty="0"/>
              <a:t>年 </a:t>
            </a:r>
            <a:r>
              <a:rPr lang="en-US" altLang="zh-TW" dirty="0"/>
              <a:t>11 </a:t>
            </a:r>
            <a:r>
              <a:rPr lang="zh-TW" altLang="en-US" dirty="0"/>
              <a:t>月 </a:t>
            </a:r>
            <a:r>
              <a:rPr lang="en-US" altLang="zh-TW" dirty="0"/>
              <a:t>29 </a:t>
            </a:r>
            <a:r>
              <a:rPr lang="zh-TW" altLang="en-US" dirty="0" smtClean="0"/>
              <a:t>日推出的</a:t>
            </a:r>
            <a:r>
              <a:rPr lang="zh-TW" altLang="en-US" dirty="0"/>
              <a:t>投幣遊戲機</a:t>
            </a:r>
            <a:r>
              <a:rPr lang="zh-TW" altLang="en-US" dirty="0" smtClean="0"/>
              <a:t>台，是遊</a:t>
            </a:r>
            <a:r>
              <a:rPr lang="zh-TW" altLang="en-US" dirty="0"/>
              <a:t>戲界早期經典作品之</a:t>
            </a:r>
            <a:r>
              <a:rPr lang="zh-TW" altLang="en-US" dirty="0" smtClean="0"/>
              <a:t>一。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5663" y="3223246"/>
            <a:ext cx="1483260" cy="111244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82"/>
          <a:stretch/>
        </p:blipFill>
        <p:spPr>
          <a:xfrm>
            <a:off x="5024763" y="3223243"/>
            <a:ext cx="1479728" cy="1112447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333" y="3223244"/>
            <a:ext cx="2152945" cy="294415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5663" y="4415593"/>
            <a:ext cx="3108830" cy="17518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15367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 smtClean="0"/>
              <a:t>我</a:t>
            </a:r>
            <a:r>
              <a:rPr lang="zh-TW" altLang="en-US" sz="4400" dirty="0"/>
              <a:t>的</a:t>
            </a:r>
            <a:r>
              <a:rPr lang="zh-TW" altLang="en-US" sz="4400" dirty="0" smtClean="0"/>
              <a:t>作品簡介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就是一個乒乓球遊戲的改版，加入玩家可以控制的門框。</a:t>
            </a:r>
            <a:endParaRPr lang="en-US" altLang="zh-TW" dirty="0" smtClean="0"/>
          </a:p>
          <a:p>
            <a:r>
              <a:rPr lang="zh-TW" altLang="en-US" dirty="0" smtClean="0"/>
              <a:t>只</a:t>
            </a:r>
            <a:r>
              <a:rPr lang="zh-TW" altLang="en-US" dirty="0"/>
              <a:t>支</a:t>
            </a:r>
            <a:r>
              <a:rPr lang="zh-TW" altLang="en-US" dirty="0" smtClean="0"/>
              <a:t>援單機遊戲，對手為電腦控制。</a:t>
            </a:r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0020" y="3464767"/>
            <a:ext cx="3417078" cy="2562809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02396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 smtClean="0"/>
              <a:t>遊戲規則說明</a:t>
            </a:r>
            <a:r>
              <a:rPr lang="zh-TW" altLang="en-US" sz="4400" dirty="0"/>
              <a:t>以及操作方</a:t>
            </a:r>
            <a:r>
              <a:rPr lang="zh-TW" altLang="en-US" sz="4400" dirty="0" smtClean="0"/>
              <a:t>式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按下任意按鈕即可開始遊戲。</a:t>
            </a:r>
            <a:endParaRPr lang="en-US" altLang="zh-TW" dirty="0" smtClean="0"/>
          </a:p>
          <a:p>
            <a:r>
              <a:rPr lang="zh-TW" altLang="en-US" dirty="0" smtClean="0"/>
              <a:t>玩家須操控搖</a:t>
            </a:r>
            <a:r>
              <a:rPr lang="zh-TW" altLang="en-US" dirty="0"/>
              <a:t>桿</a:t>
            </a:r>
            <a:r>
              <a:rPr lang="zh-TW" altLang="en-US" dirty="0" smtClean="0"/>
              <a:t>控</a:t>
            </a:r>
            <a:r>
              <a:rPr lang="zh-TW" altLang="en-US" dirty="0"/>
              <a:t>制球</a:t>
            </a:r>
            <a:r>
              <a:rPr lang="zh-TW" altLang="en-US" dirty="0" smtClean="0"/>
              <a:t>拍，</a:t>
            </a:r>
            <a:r>
              <a:rPr lang="zh-TW" altLang="en-US" dirty="0"/>
              <a:t>按下</a:t>
            </a:r>
            <a:r>
              <a:rPr lang="zh-TW" altLang="en-US" dirty="0" smtClean="0"/>
              <a:t>按鈕</a:t>
            </a:r>
            <a:r>
              <a:rPr lang="zh-TW" altLang="en-US" dirty="0"/>
              <a:t>改變</a:t>
            </a:r>
            <a:r>
              <a:rPr lang="zh-TW" altLang="en-US" dirty="0" smtClean="0"/>
              <a:t>球門位置，阻止球進門。</a:t>
            </a:r>
            <a:endParaRPr lang="en-US" altLang="zh-TW" dirty="0" smtClean="0"/>
          </a:p>
          <a:p>
            <a:r>
              <a:rPr lang="zh-TW" altLang="en-US" dirty="0" smtClean="0"/>
              <a:t>當球反彈玩家球拍時，搖桿上的按鈕同時按下，即可殺球。</a:t>
            </a:r>
            <a:endParaRPr lang="en-US" altLang="zh-TW" dirty="0" smtClean="0"/>
          </a:p>
          <a:p>
            <a:r>
              <a:rPr lang="zh-TW" altLang="en-US" dirty="0" smtClean="0"/>
              <a:t>球進對手球門可得</a:t>
            </a:r>
            <a:r>
              <a:rPr lang="en-US" altLang="zh-TW" dirty="0" smtClean="0"/>
              <a:t>100</a:t>
            </a:r>
            <a:r>
              <a:rPr lang="zh-TW" altLang="en-US" dirty="0" smtClean="0"/>
              <a:t>分，分數無上限。</a:t>
            </a:r>
            <a:endParaRPr lang="en-US" altLang="zh-TW" dirty="0" smtClean="0"/>
          </a:p>
          <a:p>
            <a:r>
              <a:rPr lang="zh-TW" altLang="en-US" dirty="0" smtClean="0"/>
              <a:t>被</a:t>
            </a:r>
            <a:r>
              <a:rPr lang="zh-TW" altLang="en-US" dirty="0"/>
              <a:t>進門三次結束一輪遊戲。</a:t>
            </a:r>
            <a:endParaRPr lang="en-US" altLang="zh-TW" dirty="0"/>
          </a:p>
          <a:p>
            <a:r>
              <a:rPr lang="zh-TW" altLang="en-US" dirty="0" smtClean="0"/>
              <a:t>遊戲有無限多次遊玩次數，挑戰得分超越最高分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2278" y="4044150"/>
            <a:ext cx="2855133" cy="1747051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4390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分成三個面向展示：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◉ 實體物件：利用紙箱做的實體外觀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◉ 程</a:t>
            </a:r>
            <a:r>
              <a:rPr lang="zh-TW" altLang="en-US" dirty="0"/>
              <a:t>式內容：耗掉整個假日打的程式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◉ 顯</a:t>
            </a:r>
            <a:r>
              <a:rPr lang="zh-TW" altLang="en-US" dirty="0"/>
              <a:t>示畫</a:t>
            </a:r>
            <a:r>
              <a:rPr lang="zh-TW" altLang="en-US" dirty="0" smtClean="0"/>
              <a:t>面：使用</a:t>
            </a:r>
            <a:r>
              <a:rPr lang="en-US" altLang="zh-TW" dirty="0" smtClean="0"/>
              <a:t>OLED</a:t>
            </a:r>
            <a:r>
              <a:rPr lang="zh-TW" altLang="en-US" dirty="0" smtClean="0"/>
              <a:t>螢幕顯示動畫</a:t>
            </a:r>
            <a:endParaRPr lang="en-US" altLang="zh-TW" dirty="0" smtClean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719911" y="534542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 smtClean="0"/>
              <a:t>作品展示</a:t>
            </a:r>
            <a:endParaRPr lang="zh-TW" altLang="en-US" sz="4400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0965" y="4441372"/>
            <a:ext cx="2321577" cy="174118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2330" y="3314700"/>
            <a:ext cx="3823806" cy="286785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91998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4" name="圖片 6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7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 smtClean="0"/>
              <a:t>◉ </a:t>
            </a:r>
            <a:r>
              <a:rPr lang="zh-TW" altLang="en-US" sz="4400" dirty="0"/>
              <a:t>實體物件</a:t>
            </a:r>
            <a:endParaRPr lang="en-US" altLang="zh-TW" sz="4400" dirty="0"/>
          </a:p>
        </p:txBody>
      </p:sp>
      <p:sp>
        <p:nvSpPr>
          <p:cNvPr id="2" name="文字方塊 1"/>
          <p:cNvSpPr txBox="1"/>
          <p:nvPr/>
        </p:nvSpPr>
        <p:spPr>
          <a:xfrm>
            <a:off x="5556740" y="1157467"/>
            <a:ext cx="50956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dirty="0" smtClean="0">
                <a:latin typeface="Microsoft JhengHei UI" pitchFamily="34" charset="-120"/>
                <a:ea typeface="Microsoft JhengHei UI" pitchFamily="34" charset="-120"/>
              </a:rPr>
              <a:t>材料：</a:t>
            </a:r>
            <a:endParaRPr lang="en-US" altLang="zh-TW" sz="4400" dirty="0" smtClean="0">
              <a:latin typeface="Microsoft JhengHei UI" pitchFamily="34" charset="-120"/>
              <a:ea typeface="Microsoft JhengHei UI" pitchFamily="34" charset="-120"/>
            </a:endParaRPr>
          </a:p>
          <a:p>
            <a:endParaRPr lang="en-US" altLang="zh-TW" sz="2400" dirty="0" smtClean="0">
              <a:latin typeface="Microsoft JhengHei UI" pitchFamily="34" charset="-120"/>
              <a:ea typeface="Microsoft JhengHei UI" pitchFamily="34" charset="-120"/>
            </a:endParaRPr>
          </a:p>
          <a:p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超音波感測器 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1</a:t>
            </a:r>
          </a:p>
          <a:p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蜂鳴器 </a:t>
            </a:r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1</a:t>
            </a:r>
          </a:p>
          <a:p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麵包</a:t>
            </a:r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板 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1</a:t>
            </a:r>
          </a:p>
          <a:p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電線 </a:t>
            </a:r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19</a:t>
            </a:r>
            <a:endParaRPr lang="en-US" altLang="zh-TW" sz="2400" dirty="0">
              <a:latin typeface="Microsoft JhengHei UI" pitchFamily="34" charset="-120"/>
              <a:ea typeface="Microsoft JhengHei UI" pitchFamily="34" charset="-120"/>
            </a:endParaRPr>
          </a:p>
          <a:p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OLED</a:t>
            </a:r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 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1</a:t>
            </a:r>
          </a:p>
          <a:p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電阻 </a:t>
            </a:r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8</a:t>
            </a:r>
          </a:p>
          <a:p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按鈕 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2</a:t>
            </a:r>
          </a:p>
          <a:p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搖</a:t>
            </a:r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桿 * </a:t>
            </a:r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1</a:t>
            </a:r>
          </a:p>
          <a:p>
            <a:r>
              <a:rPr lang="en-US" altLang="zh-TW" sz="2400" dirty="0" smtClean="0">
                <a:latin typeface="Microsoft JhengHei UI" pitchFamily="34" charset="-120"/>
                <a:ea typeface="Microsoft JhengHei UI" pitchFamily="34" charset="-120"/>
              </a:rPr>
              <a:t>LED</a:t>
            </a:r>
            <a:r>
              <a:rPr lang="zh-TW" altLang="en-US" sz="2400" dirty="0" smtClean="0">
                <a:latin typeface="Microsoft JhengHei UI" pitchFamily="34" charset="-120"/>
                <a:ea typeface="Microsoft JhengHei UI" pitchFamily="34" charset="-120"/>
              </a:rPr>
              <a:t> </a:t>
            </a:r>
            <a:r>
              <a:rPr lang="zh-TW" altLang="en-US" sz="2400" dirty="0">
                <a:latin typeface="Microsoft JhengHei UI" pitchFamily="34" charset="-120"/>
                <a:ea typeface="Microsoft JhengHei UI" pitchFamily="34" charset="-120"/>
              </a:rPr>
              <a:t>* </a:t>
            </a:r>
            <a:r>
              <a:rPr lang="en-US" altLang="zh-TW" sz="2400" dirty="0">
                <a:latin typeface="Microsoft JhengHei UI" pitchFamily="34" charset="-120"/>
                <a:ea typeface="Microsoft JhengHei UI" pitchFamily="34" charset="-120"/>
              </a:rPr>
              <a:t>4</a:t>
            </a:r>
          </a:p>
          <a:p>
            <a:endParaRPr lang="en-US" altLang="zh-TW" sz="2400" dirty="0" smtClean="0">
              <a:latin typeface="Microsoft JhengHei UI" pitchFamily="34" charset="-120"/>
              <a:ea typeface="Microsoft JhengHei UI" pitchFamily="34" charset="-120"/>
            </a:endParaRPr>
          </a:p>
        </p:txBody>
      </p:sp>
      <p:pic>
        <p:nvPicPr>
          <p:cNvPr id="65" name="圖片 6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9951" y="3328131"/>
            <a:ext cx="3541342" cy="216694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81823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3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75" name="圖片 7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8978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1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76" name="圖片 7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215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1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87" name="圖片 8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215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2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6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71" name="圖片 7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669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9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6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70" name="圖片 6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669" y="-964716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69" name="圖片 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669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8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68" name="圖片 6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669" y="-964716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6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67" name="圖片 6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432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1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64" name="圖片 6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669" y="-964717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7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62" name="圖片 6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4669" y="-960479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1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 txBox="1">
            <a:spLocks/>
          </p:cNvSpPr>
          <p:nvPr/>
        </p:nvSpPr>
        <p:spPr>
          <a:xfrm>
            <a:off x="1309688" y="2338388"/>
            <a:ext cx="3084891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4400" dirty="0"/>
              <a:t>◉ 程式內容</a:t>
            </a:r>
            <a:endParaRPr lang="en-US" altLang="zh-TW" sz="4400" dirty="0"/>
          </a:p>
        </p:txBody>
      </p:sp>
      <p:pic>
        <p:nvPicPr>
          <p:cNvPr id="74" name="圖片 7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432" y="-964716"/>
            <a:ext cx="5746594" cy="85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4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矩形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pic>
          <p:nvPicPr>
            <p:cNvPr id="176" name="圖片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圖片 3" descr="電路板特寫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4633459" y="9525"/>
            <a:ext cx="7558541" cy="6857990"/>
          </a:xfrm>
          <a:prstGeom prst="rect">
            <a:avLst/>
          </a:prstGeom>
        </p:spPr>
      </p:pic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手繪多邊形​​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手繪多邊形​​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手繪多邊形​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手繪多邊形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手繪多邊形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手繪多邊形​​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手繪多邊形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手繪多邊形​​(F)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手繪多邊形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手繪多邊形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手繪多邊形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手繪多邊形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手繪多邊形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手繪多邊形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手繪多邊形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手繪多邊形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手繪多邊形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手繪多邊形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手繪多邊形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手繪多邊形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手繪多邊形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手繪多邊形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手繪多邊形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手繪多邊形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手繪多邊形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手繪多邊形​​(F)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手繪多邊形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手繪多邊形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手繪多邊形​​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手繪多邊形​​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手繪多邊形​​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手繪多邊形​​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手繪多邊形​​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手繪多邊形​​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手繪多邊形​​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手繪多邊形​​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手繪多邊形​​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手繪多邊形​​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手繪多邊形​​(F)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手繪多邊形​​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手繪多邊形​​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手繪多邊形​​(F)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手繪多邊形​​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手繪多邊形​​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手繪多邊形​​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手繪多邊形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手繪多邊形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手繪多邊形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手繪多邊形​​(F)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手繪多邊形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688" y="2338388"/>
            <a:ext cx="3084891" cy="1478570"/>
          </a:xfrm>
        </p:spPr>
        <p:txBody>
          <a:bodyPr rtlCol="0">
            <a:normAutofit/>
          </a:bodyPr>
          <a:lstStyle/>
          <a:p>
            <a:r>
              <a:rPr lang="zh-TW" altLang="en-US" sz="4400" dirty="0" smtClean="0"/>
              <a:t>◉ </a:t>
            </a:r>
            <a:r>
              <a:rPr lang="zh-TW" altLang="en-US" sz="4400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顯示畫面</a:t>
            </a:r>
            <a:endParaRPr lang="en-US" altLang="zh-TW" sz="44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4516" y="3504463"/>
            <a:ext cx="3254300" cy="244072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6258" y="918937"/>
            <a:ext cx="3254300" cy="244072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9937" y="903288"/>
            <a:ext cx="3254300" cy="244072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3521" y="3504462"/>
            <a:ext cx="3254300" cy="244072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8" name="文字方塊 7"/>
          <p:cNvSpPr txBox="1"/>
          <p:nvPr/>
        </p:nvSpPr>
        <p:spPr>
          <a:xfrm>
            <a:off x="5514977" y="527051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▼遊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戲開始前顯示畫面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8829223" y="524441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▼遊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戲開始前倒數畫面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5969379" y="5968551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▲遊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戲中畫面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9175472" y="5959999"/>
            <a:ext cx="179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▲遊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戲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結束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畫面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197094" y="3478303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使用</a:t>
            </a:r>
            <a:r>
              <a:rPr lang="en-US" altLang="zh-TW" dirty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OLED)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669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製作作品的心路歷程</a:t>
            </a:r>
            <a:endParaRPr lang="en-US" altLang="zh-TW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7839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zh-TW" altLang="en-US" sz="2000" b="1" dirty="0" smtClean="0"/>
              <a:t>雖</a:t>
            </a:r>
            <a:r>
              <a:rPr lang="zh-TW" altLang="en-US" sz="1600" dirty="0" smtClean="0"/>
              <a:t>然我曾經在學校有參加過</a:t>
            </a:r>
            <a:r>
              <a:rPr lang="en-US" altLang="zh-TW" sz="1600" dirty="0" smtClean="0"/>
              <a:t>Arduino</a:t>
            </a:r>
            <a:r>
              <a:rPr lang="zh-TW" altLang="en-US" sz="1600" dirty="0"/>
              <a:t>系統</a:t>
            </a:r>
            <a:r>
              <a:rPr lang="zh-TW" altLang="en-US" sz="1600" dirty="0" smtClean="0"/>
              <a:t>的多元選修，但</a:t>
            </a:r>
            <a:r>
              <a:rPr lang="zh-TW" altLang="zh-TW" sz="1600" dirty="0" smtClean="0"/>
              <a:t>其實</a:t>
            </a:r>
            <a:r>
              <a:rPr lang="zh-TW" altLang="en-US" sz="1600" dirty="0" smtClean="0"/>
              <a:t>我會的只是比較基礎的部分，</a:t>
            </a:r>
            <a:r>
              <a:rPr lang="zh-TW" altLang="zh-TW" sz="1600" dirty="0" smtClean="0"/>
              <a:t>在</a:t>
            </a:r>
            <a:r>
              <a:rPr lang="zh-TW" altLang="zh-TW" sz="1600" dirty="0"/>
              <a:t>製</a:t>
            </a:r>
            <a:r>
              <a:rPr lang="zh-TW" altLang="zh-TW" sz="1600" dirty="0" smtClean="0"/>
              <a:t>作做</a:t>
            </a:r>
            <a:r>
              <a:rPr lang="zh-TW" altLang="zh-TW" sz="1600" dirty="0"/>
              <a:t>品時</a:t>
            </a:r>
            <a:r>
              <a:rPr lang="zh-TW" altLang="zh-TW" sz="1600" dirty="0" smtClean="0"/>
              <a:t>，遇</a:t>
            </a:r>
            <a:r>
              <a:rPr lang="zh-TW" altLang="zh-TW" sz="1600" dirty="0"/>
              <a:t>到</a:t>
            </a:r>
            <a:r>
              <a:rPr lang="zh-TW" altLang="zh-TW" sz="1600" dirty="0" smtClean="0"/>
              <a:t>了</a:t>
            </a:r>
            <a:r>
              <a:rPr lang="zh-TW" altLang="en-US" sz="1600" dirty="0" smtClean="0"/>
              <a:t>許</a:t>
            </a:r>
            <a:r>
              <a:rPr lang="zh-TW" altLang="zh-TW" sz="1600" dirty="0" smtClean="0"/>
              <a:t>多</a:t>
            </a:r>
            <a:r>
              <a:rPr lang="zh-TW" altLang="en-US" sz="1600" dirty="0"/>
              <a:t>難</a:t>
            </a:r>
            <a:r>
              <a:rPr lang="zh-TW" altLang="zh-TW" sz="1600" dirty="0" smtClean="0"/>
              <a:t>題</a:t>
            </a:r>
            <a:r>
              <a:rPr lang="zh-TW" altLang="zh-TW" sz="1600" dirty="0"/>
              <a:t>。首先</a:t>
            </a:r>
            <a:r>
              <a:rPr lang="zh-TW" altLang="zh-TW" sz="1600" dirty="0" smtClean="0"/>
              <a:t>是我</a:t>
            </a:r>
            <a:r>
              <a:rPr lang="zh-TW" altLang="zh-TW" sz="1600" dirty="0"/>
              <a:t>打算要使用兩個</a:t>
            </a:r>
            <a:r>
              <a:rPr lang="en-US" altLang="zh-TW" sz="1600" dirty="0"/>
              <a:t>OLED</a:t>
            </a:r>
            <a:r>
              <a:rPr lang="zh-TW" altLang="zh-TW" sz="1600" dirty="0" smtClean="0"/>
              <a:t>，</a:t>
            </a:r>
            <a:r>
              <a:rPr lang="zh-TW" altLang="en-US" sz="1600" dirty="0"/>
              <a:t>讓</a:t>
            </a:r>
            <a:r>
              <a:rPr lang="zh-TW" altLang="zh-TW" sz="1600" dirty="0" smtClean="0"/>
              <a:t>螢</a:t>
            </a:r>
            <a:r>
              <a:rPr lang="zh-TW" altLang="zh-TW" sz="1600" dirty="0"/>
              <a:t>幕可以比較</a:t>
            </a:r>
            <a:r>
              <a:rPr lang="zh-TW" altLang="zh-TW" sz="1600" dirty="0" smtClean="0"/>
              <a:t>大</a:t>
            </a:r>
            <a:r>
              <a:rPr lang="zh-TW" altLang="en-US" sz="1600" dirty="0" smtClean="0"/>
              <a:t>，</a:t>
            </a:r>
            <a:r>
              <a:rPr lang="zh-TW" altLang="zh-TW" sz="1600" dirty="0" smtClean="0"/>
              <a:t>但是接</a:t>
            </a:r>
            <a:r>
              <a:rPr lang="zh-TW" altLang="zh-TW" sz="1600" dirty="0"/>
              <a:t>線</a:t>
            </a:r>
            <a:r>
              <a:rPr lang="zh-TW" altLang="zh-TW" sz="1600" dirty="0" smtClean="0"/>
              <a:t>就</a:t>
            </a:r>
            <a:r>
              <a:rPr lang="zh-TW" altLang="en-US" sz="1600" dirty="0" smtClean="0"/>
              <a:t>會變得</a:t>
            </a:r>
            <a:r>
              <a:rPr lang="zh-TW" altLang="zh-TW" sz="1600" dirty="0" smtClean="0"/>
              <a:t>相</a:t>
            </a:r>
            <a:r>
              <a:rPr lang="zh-TW" altLang="zh-TW" sz="1600" dirty="0"/>
              <a:t>當麻</a:t>
            </a:r>
            <a:r>
              <a:rPr lang="zh-TW" altLang="zh-TW" sz="1600" dirty="0" smtClean="0"/>
              <a:t>煩</a:t>
            </a:r>
            <a:r>
              <a:rPr lang="zh-TW" altLang="en-US" sz="1600" dirty="0" smtClean="0"/>
              <a:t>。</a:t>
            </a:r>
            <a:r>
              <a:rPr lang="zh-TW" altLang="zh-TW" sz="1600" dirty="0" smtClean="0"/>
              <a:t>我</a:t>
            </a:r>
            <a:r>
              <a:rPr lang="zh-TW" altLang="zh-TW" sz="1600" dirty="0"/>
              <a:t>試了許多方式，發現</a:t>
            </a:r>
            <a:r>
              <a:rPr lang="zh-TW" altLang="zh-TW" sz="1600" dirty="0" smtClean="0"/>
              <a:t>我</a:t>
            </a:r>
            <a:r>
              <a:rPr lang="zh-TW" altLang="en-US" sz="1600" dirty="0" smtClean="0"/>
              <a:t>所</a:t>
            </a:r>
            <a:r>
              <a:rPr lang="zh-TW" altLang="zh-TW" sz="1600" dirty="0" smtClean="0"/>
              <a:t>有</a:t>
            </a:r>
            <a:r>
              <a:rPr lang="zh-TW" altLang="zh-TW" sz="1600" dirty="0" smtClean="0"/>
              <a:t>的線</a:t>
            </a:r>
            <a:r>
              <a:rPr lang="zh-TW" altLang="zh-TW" sz="1600" dirty="0"/>
              <a:t>不夠多，所以</a:t>
            </a:r>
            <a:r>
              <a:rPr lang="zh-TW" altLang="zh-TW" sz="1600" dirty="0" smtClean="0"/>
              <a:t>我</a:t>
            </a:r>
            <a:r>
              <a:rPr lang="zh-TW" altLang="en-US" sz="1600" dirty="0" smtClean="0"/>
              <a:t>想到</a:t>
            </a:r>
            <a:r>
              <a:rPr lang="zh-TW" altLang="zh-TW" sz="1600" b="1" dirty="0" smtClean="0">
                <a:solidFill>
                  <a:srgbClr val="FFFF00"/>
                </a:solidFill>
              </a:rPr>
              <a:t>用</a:t>
            </a:r>
            <a:r>
              <a:rPr lang="zh-TW" altLang="zh-TW" sz="1600" b="1" dirty="0">
                <a:solidFill>
                  <a:srgbClr val="FFFF00"/>
                </a:solidFill>
              </a:rPr>
              <a:t>１歐</a:t>
            </a:r>
            <a:r>
              <a:rPr lang="zh-TW" altLang="zh-TW" sz="1600" b="1" dirty="0" smtClean="0">
                <a:solidFill>
                  <a:srgbClr val="FFFF00"/>
                </a:solidFill>
              </a:rPr>
              <a:t>姆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的</a:t>
            </a:r>
            <a:r>
              <a:rPr lang="zh-TW" altLang="zh-TW" sz="1600" b="1" dirty="0" smtClean="0">
                <a:solidFill>
                  <a:srgbClr val="FFFF00"/>
                </a:solidFill>
              </a:rPr>
              <a:t>電阻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當</a:t>
            </a:r>
            <a:r>
              <a:rPr lang="zh-TW" altLang="zh-TW" sz="1600" b="1" dirty="0" smtClean="0">
                <a:solidFill>
                  <a:srgbClr val="FFFF00"/>
                </a:solidFill>
              </a:rPr>
              <a:t>電</a:t>
            </a:r>
            <a:r>
              <a:rPr lang="zh-TW" altLang="zh-TW" sz="1600" b="1" dirty="0">
                <a:solidFill>
                  <a:srgbClr val="FFFF00"/>
                </a:solidFill>
              </a:rPr>
              <a:t>線</a:t>
            </a:r>
            <a:r>
              <a:rPr lang="zh-TW" altLang="zh-TW" sz="1600" dirty="0"/>
              <a:t>，這還</a:t>
            </a:r>
            <a:r>
              <a:rPr lang="zh-TW" altLang="zh-TW" sz="1600" dirty="0" smtClean="0"/>
              <a:t>有一個好</a:t>
            </a:r>
            <a:r>
              <a:rPr lang="zh-TW" altLang="zh-TW" sz="1600" dirty="0"/>
              <a:t>處</a:t>
            </a:r>
            <a:r>
              <a:rPr lang="en-US" altLang="zh-TW" sz="1600" dirty="0"/>
              <a:t>——</a:t>
            </a:r>
            <a:r>
              <a:rPr lang="zh-TW" altLang="zh-TW" sz="1600" dirty="0"/>
              <a:t>不會</a:t>
            </a:r>
            <a:r>
              <a:rPr lang="zh-TW" altLang="zh-TW" sz="1600" dirty="0" smtClean="0"/>
              <a:t>擋</a:t>
            </a:r>
            <a:r>
              <a:rPr lang="zh-TW" altLang="en-US" sz="1600" dirty="0"/>
              <a:t>到玩</a:t>
            </a:r>
            <a:r>
              <a:rPr lang="zh-TW" altLang="en-US" sz="1600" dirty="0" smtClean="0"/>
              <a:t>家的</a:t>
            </a:r>
            <a:r>
              <a:rPr lang="zh-TW" altLang="zh-TW" sz="1600" dirty="0" smtClean="0"/>
              <a:t>手</a:t>
            </a:r>
            <a:r>
              <a:rPr lang="zh-TW" altLang="zh-TW" sz="1600" dirty="0"/>
              <a:t>去按按鈕</a:t>
            </a:r>
            <a:r>
              <a:rPr lang="zh-TW" altLang="zh-TW" sz="1600" dirty="0" smtClean="0"/>
              <a:t>。</a:t>
            </a:r>
            <a:endParaRPr lang="en-US" altLang="zh-TW" sz="1600" dirty="0"/>
          </a:p>
          <a:p>
            <a:pPr marL="0" indent="0" algn="just">
              <a:buNone/>
            </a:pPr>
            <a:r>
              <a:rPr lang="zh-TW" altLang="en-US" sz="2000" b="1" dirty="0" smtClean="0"/>
              <a:t>然</a:t>
            </a:r>
            <a:r>
              <a:rPr lang="zh-TW" altLang="en-US" sz="1600" dirty="0" smtClean="0"/>
              <a:t>而，在我要寫程式時，發現我無法同時讓兩個</a:t>
            </a:r>
            <a:r>
              <a:rPr lang="en-US" altLang="zh-TW" sz="1600" dirty="0" smtClean="0"/>
              <a:t>OLED</a:t>
            </a:r>
            <a:r>
              <a:rPr lang="zh-TW" altLang="en-US" sz="1600" dirty="0" smtClean="0"/>
              <a:t>成功顯示。跟資訊老師討論後</a:t>
            </a:r>
            <a:r>
              <a:rPr lang="zh-TW" altLang="en-US" sz="1600" dirty="0" smtClean="0"/>
              <a:t>，</a:t>
            </a:r>
            <a:r>
              <a:rPr lang="zh-TW" altLang="en-US" sz="1600" dirty="0"/>
              <a:t>得知</a:t>
            </a:r>
            <a:r>
              <a:rPr lang="en-US" altLang="zh-TW" sz="1600" dirty="0" smtClean="0"/>
              <a:t>initialize</a:t>
            </a:r>
            <a:r>
              <a:rPr lang="en-US" altLang="zh-TW" sz="1600" dirty="0" smtClean="0"/>
              <a:t>() </a:t>
            </a:r>
            <a:r>
              <a:rPr lang="zh-TW" altLang="en-US" sz="1600" dirty="0" smtClean="0"/>
              <a:t>函式只能初始化一個</a:t>
            </a:r>
            <a:r>
              <a:rPr lang="en-US" altLang="zh-TW" sz="1600" dirty="0" smtClean="0"/>
              <a:t>OLED</a:t>
            </a:r>
            <a:r>
              <a:rPr lang="zh-TW" altLang="en-US" sz="1600" dirty="0" smtClean="0"/>
              <a:t>。雖然我有上網找到另外一</a:t>
            </a:r>
            <a:r>
              <a:rPr lang="zh-TW" altLang="en-US" sz="1600" dirty="0" smtClean="0"/>
              <a:t>種初始化</a:t>
            </a:r>
            <a:r>
              <a:rPr lang="en-US" altLang="zh-TW" sz="1600" dirty="0" smtClean="0"/>
              <a:t>OLED</a:t>
            </a:r>
            <a:r>
              <a:rPr lang="zh-TW" altLang="en-US" sz="1600" dirty="0" smtClean="0"/>
              <a:t>的函式，但</a:t>
            </a:r>
            <a:r>
              <a:rPr lang="zh-TW" altLang="en-US" sz="1600" dirty="0" smtClean="0"/>
              <a:t>我試了之後沒</a:t>
            </a:r>
            <a:r>
              <a:rPr lang="zh-TW" altLang="en-US" sz="1600" dirty="0" smtClean="0"/>
              <a:t>有成功，於是我打算只用一個</a:t>
            </a:r>
            <a:r>
              <a:rPr lang="en-US" altLang="zh-TW" sz="1600" dirty="0" smtClean="0"/>
              <a:t>OLED</a:t>
            </a:r>
            <a:r>
              <a:rPr lang="zh-TW" altLang="en-US" sz="1600" dirty="0" smtClean="0"/>
              <a:t>。接</a:t>
            </a:r>
            <a:r>
              <a:rPr lang="zh-TW" altLang="en-US" sz="1600" dirty="0"/>
              <a:t>著</a:t>
            </a:r>
            <a:r>
              <a:rPr lang="zh-TW" altLang="en-US" sz="1600" dirty="0" smtClean="0"/>
              <a:t>，我</a:t>
            </a:r>
            <a:r>
              <a:rPr lang="zh-TW" altLang="en-US" sz="1600" dirty="0"/>
              <a:t>也嘗試在螢幕</a:t>
            </a:r>
            <a:r>
              <a:rPr lang="zh-TW" altLang="en-US" sz="1600" dirty="0" smtClean="0"/>
              <a:t>上顯</a:t>
            </a:r>
            <a:r>
              <a:rPr lang="zh-TW" altLang="en-US" sz="1600" dirty="0"/>
              <a:t>示文字</a:t>
            </a:r>
            <a:r>
              <a:rPr lang="zh-TW" altLang="en-US" sz="1600" dirty="0" smtClean="0"/>
              <a:t>、線</a:t>
            </a:r>
            <a:r>
              <a:rPr lang="zh-TW" altLang="en-US" sz="1600" dirty="0" smtClean="0"/>
              <a:t>條。我測試了一段時間</a:t>
            </a:r>
            <a:r>
              <a:rPr lang="zh-TW" altLang="en-US" sz="1600" dirty="0" smtClean="0"/>
              <a:t>，發覺</a:t>
            </a:r>
            <a:r>
              <a:rPr lang="en-US" altLang="zh-TW" sz="1600" dirty="0" smtClean="0"/>
              <a:t>clear</a:t>
            </a:r>
            <a:r>
              <a:rPr lang="en-US" altLang="zh-TW" sz="1600" dirty="0"/>
              <a:t>()</a:t>
            </a:r>
            <a:r>
              <a:rPr lang="zh-TW" altLang="en-US" sz="1600" dirty="0"/>
              <a:t>函式會把所有在螢幕上的圖</a:t>
            </a:r>
            <a:r>
              <a:rPr lang="zh-TW" altLang="en-US" sz="1600" dirty="0" smtClean="0"/>
              <a:t>案消除</a:t>
            </a:r>
            <a:r>
              <a:rPr lang="zh-TW" altLang="en-US" sz="1600" dirty="0"/>
              <a:t>，就變成如果我要製作動畫時，我需要刪除舊畫面，再顯示新畫</a:t>
            </a:r>
            <a:r>
              <a:rPr lang="zh-TW" altLang="en-US" sz="1600" dirty="0" smtClean="0"/>
              <a:t>面，而且每一次都要把所有物</a:t>
            </a:r>
            <a:r>
              <a:rPr lang="zh-TW" altLang="en-US" sz="1600" dirty="0" smtClean="0"/>
              <a:t>件重新顯</a:t>
            </a:r>
            <a:r>
              <a:rPr lang="zh-TW" altLang="en-US" sz="1600" dirty="0" smtClean="0"/>
              <a:t>示。</a:t>
            </a:r>
            <a:r>
              <a:rPr lang="zh-TW" altLang="en-US" sz="1600" dirty="0"/>
              <a:t>我</a:t>
            </a:r>
            <a:r>
              <a:rPr lang="zh-TW" altLang="en-US" sz="1600" dirty="0" smtClean="0"/>
              <a:t>用</a:t>
            </a:r>
            <a:r>
              <a:rPr lang="en-US" altLang="zh-TW" sz="1600" dirty="0"/>
              <a:t>drawLine</a:t>
            </a:r>
            <a:r>
              <a:rPr lang="en-US" altLang="zh-TW" sz="1600" dirty="0" smtClean="0"/>
              <a:t>()</a:t>
            </a:r>
            <a:r>
              <a:rPr lang="zh-TW" altLang="en-US" sz="1600" dirty="0" smtClean="0"/>
              <a:t>函式來</a:t>
            </a:r>
            <a:r>
              <a:rPr lang="zh-TW" altLang="en-US" sz="1600" dirty="0" smtClean="0"/>
              <a:t>顯示場</a:t>
            </a:r>
            <a:r>
              <a:rPr lang="zh-TW" altLang="en-US" sz="1600" dirty="0"/>
              <a:t>地、球</a:t>
            </a:r>
            <a:r>
              <a:rPr lang="zh-TW" altLang="en-US" sz="1600" dirty="0" smtClean="0"/>
              <a:t>拍的圖形，頓</a:t>
            </a:r>
            <a:r>
              <a:rPr lang="zh-TW" altLang="en-US" sz="1600" dirty="0"/>
              <a:t>時</a:t>
            </a:r>
            <a:r>
              <a:rPr lang="zh-TW" altLang="en-US" sz="1600" dirty="0" smtClean="0"/>
              <a:t>不</a:t>
            </a:r>
            <a:r>
              <a:rPr lang="zh-TW" altLang="en-US" sz="1600" dirty="0"/>
              <a:t>知</a:t>
            </a:r>
            <a:r>
              <a:rPr lang="zh-TW" altLang="en-US" sz="1600" dirty="0" smtClean="0"/>
              <a:t>道該怎麼顯示</a:t>
            </a:r>
            <a:r>
              <a:rPr lang="zh-TW" altLang="en-US" sz="1600" dirty="0" smtClean="0"/>
              <a:t>球。</a:t>
            </a:r>
            <a:r>
              <a:rPr lang="zh-TW" altLang="en-US" sz="1600" dirty="0" smtClean="0"/>
              <a:t>想</a:t>
            </a:r>
            <a:r>
              <a:rPr lang="zh-TW" altLang="en-US" sz="1600" dirty="0"/>
              <a:t>了一下</a:t>
            </a:r>
            <a:r>
              <a:rPr lang="zh-TW" altLang="en-US" sz="1600" dirty="0" smtClean="0"/>
              <a:t>，我想</a:t>
            </a:r>
            <a:r>
              <a:rPr lang="zh-TW" altLang="en-US" sz="1600" dirty="0" smtClean="0"/>
              <a:t>起資訊老師曾教過的</a:t>
            </a:r>
            <a:r>
              <a:rPr lang="en-US" altLang="zh-TW" sz="1600" b="1" dirty="0">
                <a:solidFill>
                  <a:srgbClr val="FFFF00"/>
                </a:solidFill>
              </a:rPr>
              <a:t>drawBitmap()</a:t>
            </a:r>
            <a:r>
              <a:rPr lang="zh-TW" altLang="en-US" sz="1600" b="1" dirty="0">
                <a:solidFill>
                  <a:srgbClr val="FFFF00"/>
                </a:solidFill>
              </a:rPr>
              <a:t>函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式</a:t>
            </a:r>
            <a:r>
              <a:rPr lang="zh-TW" altLang="en-US" sz="1600" dirty="0" smtClean="0"/>
              <a:t>。經過測試，我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成</a:t>
            </a:r>
            <a:r>
              <a:rPr lang="zh-TW" altLang="en-US" sz="1600" b="1" dirty="0">
                <a:solidFill>
                  <a:srgbClr val="FFFF00"/>
                </a:solidFill>
              </a:rPr>
              <a:t>功顯示一個圓</a:t>
            </a:r>
            <a:r>
              <a:rPr lang="zh-TW" altLang="en-US" sz="1600" dirty="0"/>
              <a:t>，這下我只要</a:t>
            </a:r>
            <a:r>
              <a:rPr lang="zh-TW" altLang="en-US" sz="1600" b="1" dirty="0">
                <a:solidFill>
                  <a:srgbClr val="FFFF00"/>
                </a:solidFill>
              </a:rPr>
              <a:t>控制</a:t>
            </a:r>
            <a:r>
              <a:rPr lang="en-US" altLang="zh-TW" sz="1600" b="1" dirty="0">
                <a:solidFill>
                  <a:srgbClr val="FFFF00"/>
                </a:solidFill>
              </a:rPr>
              <a:t>x</a:t>
            </a:r>
            <a:r>
              <a:rPr lang="zh-TW" altLang="en-US" sz="1600" b="1" dirty="0">
                <a:solidFill>
                  <a:srgbClr val="FFFF00"/>
                </a:solidFill>
              </a:rPr>
              <a:t>和</a:t>
            </a:r>
            <a:r>
              <a:rPr lang="en-US" altLang="zh-TW" sz="1600" b="1" dirty="0">
                <a:solidFill>
                  <a:srgbClr val="FFFF00"/>
                </a:solidFill>
              </a:rPr>
              <a:t>y</a:t>
            </a:r>
            <a:r>
              <a:rPr lang="zh-TW" altLang="en-US" sz="1600" b="1" dirty="0">
                <a:solidFill>
                  <a:srgbClr val="FFFF00"/>
                </a:solidFill>
              </a:rPr>
              <a:t>座標</a:t>
            </a:r>
            <a:r>
              <a:rPr lang="zh-TW" altLang="en-US" sz="1600" dirty="0"/>
              <a:t>，就可以</a:t>
            </a:r>
            <a:r>
              <a:rPr lang="zh-TW" altLang="en-US" sz="1600" b="1" dirty="0">
                <a:solidFill>
                  <a:srgbClr val="FFFF00"/>
                </a:solidFill>
              </a:rPr>
              <a:t>製造出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球在移</a:t>
            </a:r>
            <a:r>
              <a:rPr lang="zh-TW" altLang="en-US" sz="1600" b="1" dirty="0">
                <a:solidFill>
                  <a:srgbClr val="FFFF00"/>
                </a:solidFill>
              </a:rPr>
              <a:t>動的效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果</a:t>
            </a:r>
            <a:r>
              <a:rPr lang="zh-TW" altLang="en-US" sz="1600" dirty="0" smtClean="0"/>
              <a:t>。</a:t>
            </a:r>
            <a:r>
              <a:rPr lang="zh-TW" altLang="en-US" sz="1600" dirty="0"/>
              <a:t>正</a:t>
            </a:r>
            <a:r>
              <a:rPr lang="zh-TW" altLang="en-US" sz="1600" dirty="0" smtClean="0"/>
              <a:t>當</a:t>
            </a:r>
            <a:r>
              <a:rPr lang="zh-TW" altLang="en-US" sz="1600" dirty="0" smtClean="0"/>
              <a:t>我得意時，</a:t>
            </a:r>
            <a:r>
              <a:rPr lang="zh-TW" altLang="en-US" sz="1600" dirty="0"/>
              <a:t>然後我就卡在如何讓球移動</a:t>
            </a:r>
            <a:r>
              <a:rPr lang="zh-TW" altLang="en-US" sz="1600" dirty="0" smtClean="0"/>
              <a:t>了</a:t>
            </a:r>
            <a:r>
              <a:rPr lang="en-US" altLang="zh-TW" sz="1600" dirty="0" smtClean="0"/>
              <a:t>……</a:t>
            </a:r>
            <a:r>
              <a:rPr lang="zh-TW" altLang="en-US" sz="1600" dirty="0" smtClean="0"/>
              <a:t>。</a:t>
            </a:r>
            <a:endParaRPr lang="zh-TW" altLang="zh-TW" sz="1600" dirty="0"/>
          </a:p>
        </p:txBody>
      </p:sp>
      <p:sp>
        <p:nvSpPr>
          <p:cNvPr id="6" name="文字方塊 5"/>
          <p:cNvSpPr txBox="1"/>
          <p:nvPr/>
        </p:nvSpPr>
        <p:spPr>
          <a:xfrm rot="16200000">
            <a:off x="5457143" y="506398"/>
            <a:ext cx="1274536" cy="1170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0" dirty="0" smtClean="0"/>
              <a:t>#include &lt;Adafruit_ssd1306syp.h&gt;</a:t>
            </a:r>
          </a:p>
          <a:p>
            <a:r>
              <a:rPr lang="en-US" altLang="zh-TW" sz="170" dirty="0" smtClean="0"/>
              <a:t>Adafruit_ssd1306syp A(A3,A2);</a:t>
            </a:r>
          </a:p>
          <a:p>
            <a:r>
              <a:rPr lang="en-US" altLang="zh-TW" sz="170" dirty="0" smtClean="0"/>
              <a:t>int h = 0, s = 0;</a:t>
            </a:r>
          </a:p>
          <a:p>
            <a:r>
              <a:rPr lang="en-US" altLang="zh-TW" sz="170" dirty="0" smtClean="0"/>
              <a:t>const double Pi = 3.14;</a:t>
            </a:r>
          </a:p>
          <a:p>
            <a:r>
              <a:rPr lang="en-US" altLang="zh-TW" sz="170" dirty="0" smtClean="0"/>
              <a:t>const unsigned char PROGMEM bmp[] =</a:t>
            </a:r>
          </a:p>
          <a:p>
            <a:r>
              <a:rPr lang="en-US" altLang="zh-TW" sz="170" dirty="0" smtClean="0"/>
              <a:t>{  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};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setup() {</a:t>
            </a:r>
          </a:p>
          <a:p>
            <a:r>
              <a:rPr lang="en-US" altLang="zh-TW" sz="170" dirty="0" smtClean="0"/>
              <a:t>  Serial.begin(250000);</a:t>
            </a:r>
          </a:p>
          <a:p>
            <a:r>
              <a:rPr lang="en-US" altLang="zh-TW" sz="170" dirty="0" smtClean="0"/>
              <a:t>  for (int i = 8; i &lt;= 11; i++) {</a:t>
            </a:r>
          </a:p>
          <a:p>
            <a:r>
              <a:rPr lang="en-US" altLang="zh-TW" sz="170" dirty="0" smtClean="0"/>
              <a:t>    pinMode (i, OUTPUT);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pinMode (13, INPUT);</a:t>
            </a:r>
          </a:p>
          <a:p>
            <a:r>
              <a:rPr lang="en-US" altLang="zh-TW" sz="170" dirty="0" smtClean="0"/>
              <a:t>  pinMode (12, INPUT);</a:t>
            </a:r>
          </a:p>
          <a:p>
            <a:r>
              <a:rPr lang="en-US" altLang="zh-TW" sz="170" dirty="0" smtClean="0"/>
              <a:t>  pinMode(7,INPUT);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pinMode (5, OUTPUT);</a:t>
            </a:r>
          </a:p>
          <a:p>
            <a:r>
              <a:rPr lang="en-US" altLang="zh-TW" sz="170" dirty="0" smtClean="0"/>
              <a:t>  pinMode (6, 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digitalWrite(10, LOW);   //LED</a:t>
            </a:r>
            <a:r>
              <a:rPr lang="zh-TW" altLang="en-US" sz="170" dirty="0" smtClean="0"/>
              <a:t>燈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digitalWrite(9, LOW);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A.initialize();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int Adisplay(int ag, int bg, int axl, int ayu, int bxl, int byu, int ballx, int bally) {    //</a:t>
            </a:r>
            <a:r>
              <a:rPr lang="zh-TW" altLang="en-US" sz="170" dirty="0" smtClean="0"/>
              <a:t>顯示畫面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顯示分數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A.drawLine(0, 17, 127, 17,WHITE);    //</a:t>
            </a:r>
            <a:r>
              <a:rPr lang="zh-TW" altLang="en-US" sz="170" dirty="0" smtClean="0"/>
              <a:t>顯示外框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A.drawLine(0, 63, 127, 63,WHITE);</a:t>
            </a:r>
          </a:p>
          <a:p>
            <a:r>
              <a:rPr lang="en-US" altLang="zh-TW" sz="170" dirty="0" smtClean="0"/>
              <a:t>  for (int i = 17; i &lt; 63; i += 2) {</a:t>
            </a:r>
          </a:p>
          <a:p>
            <a:r>
              <a:rPr lang="en-US" altLang="zh-TW" sz="170" dirty="0" smtClean="0"/>
              <a:t>    A.drawLine(63, i, 64, i,WHITE);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A.drawLine(0, 17, 0, ag,WHITE);</a:t>
            </a:r>
          </a:p>
          <a:p>
            <a:r>
              <a:rPr lang="en-US" altLang="zh-TW" sz="170" dirty="0" smtClean="0"/>
              <a:t>  A.drawLine(0, 63, 0, ag + 30,WHITE);</a:t>
            </a:r>
          </a:p>
          <a:p>
            <a:r>
              <a:rPr lang="en-US" altLang="zh-TW" sz="170" dirty="0" smtClean="0"/>
              <a:t>  A.drawLine(127, 17, 127, bg,WHITE);</a:t>
            </a:r>
          </a:p>
          <a:p>
            <a:r>
              <a:rPr lang="en-US" altLang="zh-TW" sz="170" dirty="0" smtClean="0"/>
              <a:t>  A.drawLine(127, 63, 127, bg + 30,WHITE);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A.drawLine(axl, ayu, axl + 5, ayu,WHITE);   //</a:t>
            </a:r>
            <a:r>
              <a:rPr lang="zh-TW" altLang="en-US" sz="170" dirty="0" smtClean="0"/>
              <a:t>顯示玩家球拍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A.drawLine(axl, ayu + 16, axl + 5, ayu + 16,WHITE);</a:t>
            </a:r>
          </a:p>
          <a:p>
            <a:r>
              <a:rPr lang="en-US" altLang="zh-TW" sz="170" dirty="0" smtClean="0"/>
              <a:t>  A.drawLine(axl, ayu, axl, ayu + 16,WHITE);</a:t>
            </a:r>
          </a:p>
          <a:p>
            <a:r>
              <a:rPr lang="en-US" altLang="zh-TW" sz="170" dirty="0" smtClean="0"/>
              <a:t>  A.drawLine(axl + 5, ayu, axl + 5, ayu + 16,WHITE);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A.drawLine(bxl, byu, bxl + 5, byu,WHITE);   //</a:t>
            </a:r>
            <a:r>
              <a:rPr lang="zh-TW" altLang="en-US" sz="170" dirty="0" smtClean="0"/>
              <a:t>顯示對手球拍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A.drawLine(bxl, byu + 16, bxl + 5, byu + 16,WHITE);</a:t>
            </a:r>
          </a:p>
          <a:p>
            <a:r>
              <a:rPr lang="en-US" altLang="zh-TW" sz="170" dirty="0" smtClean="0"/>
              <a:t>  A.drawLine(bxl, byu, bxl, byu + 16,WHITE);</a:t>
            </a:r>
          </a:p>
          <a:p>
            <a:r>
              <a:rPr lang="en-US" altLang="zh-TW" sz="170" dirty="0" smtClean="0"/>
              <a:t>  A.drawLine(bxl + 5, byu, bxl + 5, byu + 16,WHITE);</a:t>
            </a:r>
          </a:p>
          <a:p>
            <a:r>
              <a:rPr lang="en-US" altLang="zh-TW" sz="170" dirty="0" smtClean="0"/>
              <a:t>        </a:t>
            </a:r>
          </a:p>
          <a:p>
            <a:r>
              <a:rPr lang="en-US" altLang="zh-TW" sz="170" dirty="0" smtClean="0"/>
              <a:t>  A.drawBitmap(ballx, bally, bmp, 8, 8, 1);   //</a:t>
            </a:r>
            <a:r>
              <a:rPr lang="zh-TW" altLang="en-US" sz="170" dirty="0" smtClean="0"/>
              <a:t>顯示球</a:t>
            </a:r>
          </a:p>
          <a:p>
            <a:endParaRPr lang="zh-TW" altLang="en-US" sz="170" dirty="0" smtClean="0"/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A.update();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loop() {</a:t>
            </a:r>
          </a:p>
          <a:p>
            <a:r>
              <a:rPr lang="en-US" altLang="zh-TW" sz="170" dirty="0" smtClean="0"/>
              <a:t>  int flag = 1;</a:t>
            </a:r>
          </a:p>
          <a:p>
            <a:r>
              <a:rPr lang="en-US" altLang="zh-TW" sz="170" dirty="0" smtClean="0"/>
              <a:t>  if (h &lt; s) {</a:t>
            </a:r>
          </a:p>
          <a:p>
            <a:r>
              <a:rPr lang="en-US" altLang="zh-TW" sz="170" dirty="0" smtClean="0"/>
              <a:t>    h = s;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digitalWrite(13, HIGH);</a:t>
            </a:r>
          </a:p>
          <a:p>
            <a:r>
              <a:rPr lang="en-US" altLang="zh-TW" sz="170" dirty="0" smtClean="0"/>
              <a:t>  digitalWrite(12, HIGH);</a:t>
            </a:r>
          </a:p>
          <a:p>
            <a:r>
              <a:rPr lang="en-US" altLang="zh-TW" sz="170" dirty="0" smtClean="0"/>
              <a:t>  digitalWrite(7, HIGH);</a:t>
            </a:r>
          </a:p>
          <a:p>
            <a:r>
              <a:rPr lang="en-US" altLang="zh-TW" sz="170" dirty="0" smtClean="0"/>
              <a:t>  while (digitalRead(12) &amp;&amp; digitalRead(13) &amp;&amp; digitalRead(7) &amp;&amp; flag) {    //</a:t>
            </a:r>
            <a:r>
              <a:rPr lang="zh-TW" altLang="en-US" sz="170" dirty="0" smtClean="0"/>
              <a:t>遊戲初始介面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固定的圖案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  A.println("* highest score");</a:t>
            </a:r>
          </a:p>
          <a:p>
            <a:r>
              <a:rPr lang="en-US" altLang="zh-TW" sz="170" dirty="0" smtClean="0"/>
              <a:t>    A.setCursor(95,8);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A.println(h);</a:t>
            </a:r>
          </a:p>
          <a:p>
            <a:r>
              <a:rPr lang="en-US" altLang="zh-TW" sz="170" dirty="0" smtClean="0"/>
              <a:t>    A.setCursor(0,18);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A.println("your score");</a:t>
            </a:r>
          </a:p>
          <a:p>
            <a:r>
              <a:rPr lang="en-US" altLang="zh-TW" sz="170" dirty="0" smtClean="0"/>
              <a:t>    A.setCursor(65,18);</a:t>
            </a:r>
          </a:p>
          <a:p>
            <a:r>
              <a:rPr lang="en-US" altLang="zh-TW" sz="170" dirty="0" smtClean="0"/>
              <a:t>    A.println(s);</a:t>
            </a:r>
          </a:p>
          <a:p>
            <a:r>
              <a:rPr lang="en-US" altLang="zh-TW" sz="170" dirty="0" smtClean="0"/>
              <a:t>    A.drawLine(6, 34, 112, 34,WHITE);</a:t>
            </a:r>
          </a:p>
          <a:p>
            <a:r>
              <a:rPr lang="en-US" altLang="zh-TW" sz="170" dirty="0" smtClean="0"/>
              <a:t>    A.drawLine(6, 57, 112, 57,WHITE);</a:t>
            </a:r>
          </a:p>
          <a:p>
            <a:r>
              <a:rPr lang="en-US" altLang="zh-TW" sz="170" dirty="0" smtClean="0"/>
              <a:t>    A.drawLine(6, 34, 6, 57,WHITE);</a:t>
            </a:r>
          </a:p>
          <a:p>
            <a:r>
              <a:rPr lang="en-US" altLang="zh-TW" sz="170" dirty="0" smtClean="0"/>
              <a:t>    A.drawLine(112, 34, 112, 57,WHITE);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digitalWrite(4, LOW);</a:t>
            </a:r>
          </a:p>
          <a:p>
            <a:r>
              <a:rPr lang="en-US" altLang="zh-TW" sz="170" dirty="0" smtClean="0"/>
              <a:t>    A.setCursor(0,38);   //</a:t>
            </a:r>
            <a:r>
              <a:rPr lang="zh-TW" altLang="en-US" sz="170" dirty="0" smtClean="0"/>
              <a:t>閃爍的圖案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A.println("  press any button");</a:t>
            </a:r>
          </a:p>
          <a:p>
            <a:r>
              <a:rPr lang="en-US" altLang="zh-TW" sz="170" dirty="0" smtClean="0"/>
              <a:t>    A.println("     to start");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digitalWrite(4, HIGH);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digitalWrite(4, LOW);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for (int i = 3; i &gt; 0; i--) {    //</a:t>
            </a:r>
            <a:r>
              <a:rPr lang="zh-TW" altLang="en-US" sz="170" dirty="0" smtClean="0"/>
              <a:t>倒數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A.clear();</a:t>
            </a:r>
          </a:p>
          <a:p>
            <a:r>
              <a:rPr lang="en-US" altLang="zh-TW" sz="170" dirty="0" smtClean="0"/>
              <a:t>    A.setCursor(0,8);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A.println("game start in :");</a:t>
            </a:r>
          </a:p>
          <a:p>
            <a:r>
              <a:rPr lang="en-US" altLang="zh-TW" sz="170" dirty="0" smtClean="0"/>
              <a:t>    A.setCursor(54,25);</a:t>
            </a:r>
          </a:p>
          <a:p>
            <a:r>
              <a:rPr lang="en-US" altLang="zh-TW" sz="170" dirty="0" smtClean="0"/>
              <a:t>    A.setTextSize(4);</a:t>
            </a:r>
          </a:p>
          <a:p>
            <a:r>
              <a:rPr lang="en-US" altLang="zh-TW" sz="170" dirty="0" smtClean="0"/>
              <a:t>    A.println(i);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tone(11, 659, 250);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digitalWrite(i + 7, LOW);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  A.setCursor(27,20);</a:t>
            </a:r>
          </a:p>
          <a:p>
            <a:r>
              <a:rPr lang="en-US" altLang="zh-TW" sz="170" dirty="0" smtClean="0"/>
              <a:t>  A.setTextSize(5);</a:t>
            </a:r>
          </a:p>
          <a:p>
            <a:r>
              <a:rPr lang="en-US" altLang="zh-TW" sz="170" dirty="0" smtClean="0"/>
              <a:t>  A.println("GO!");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tone(11, 1318, 500);</a:t>
            </a:r>
          </a:p>
          <a:p>
            <a:r>
              <a:rPr lang="en-US" altLang="zh-TW" sz="170" dirty="0" smtClean="0"/>
              <a:t>  digitalWrite(4, HIGH);</a:t>
            </a:r>
          </a:p>
          <a:p>
            <a:r>
              <a:rPr lang="en-US" altLang="zh-TW" sz="170" dirty="0" smtClean="0"/>
              <a:t>  delay(1000);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//</a:t>
            </a:r>
            <a:r>
              <a:rPr lang="zh-TW" altLang="en-US" sz="170" dirty="0" smtClean="0"/>
              <a:t>遊戲開始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int life = 3, ag, bg, axl, ayu, bxl, byu, ballx, bally, ballspeed = 6, t, times = 0;</a:t>
            </a:r>
          </a:p>
          <a:p>
            <a:r>
              <a:rPr lang="en-US" altLang="zh-TW" sz="170" dirty="0" smtClean="0"/>
              <a:t>  s = 0;</a:t>
            </a:r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while (life) {</a:t>
            </a:r>
          </a:p>
          <a:p>
            <a:r>
              <a:rPr lang="en-US" altLang="zh-TW" sz="170" dirty="0" smtClean="0"/>
              <a:t>    ag = 25, bg = 25, axl = 20, ayu = 32, bxl = 102, byu = 32, ballx = 60, bally = 36;</a:t>
            </a:r>
          </a:p>
          <a:p>
            <a:r>
              <a:rPr lang="en-US" altLang="zh-TW" sz="170" dirty="0" smtClean="0"/>
              <a:t>    bool rebounda = 1, reboundb = 0, speedup = 0;</a:t>
            </a:r>
          </a:p>
          <a:p>
            <a:r>
              <a:rPr lang="en-US" altLang="zh-TW" sz="170" dirty="0" smtClean="0"/>
              <a:t>    times++;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digitalWrite(5, HIGH);    //</a:t>
            </a:r>
            <a:r>
              <a:rPr lang="zh-TW" altLang="en-US" sz="170" dirty="0" smtClean="0"/>
              <a:t>速度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方向設定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delayMicroseconds(10); </a:t>
            </a:r>
          </a:p>
          <a:p>
            <a:r>
              <a:rPr lang="en-US" altLang="zh-TW" sz="170" dirty="0" smtClean="0"/>
              <a:t>    digitalWrite(5, LOW); </a:t>
            </a:r>
          </a:p>
          <a:p>
            <a:r>
              <a:rPr lang="en-US" altLang="zh-TW" sz="170" dirty="0" smtClean="0"/>
              <a:t>    int time_echo = pulseIn(6, HIGH);</a:t>
            </a:r>
          </a:p>
          <a:p>
            <a:r>
              <a:rPr lang="en-US" altLang="zh-TW" sz="170" dirty="0" smtClean="0"/>
              <a:t>    Serial.print(time_echo);</a:t>
            </a:r>
          </a:p>
          <a:p>
            <a:r>
              <a:rPr lang="en-US" altLang="zh-TW" sz="170" dirty="0" smtClean="0"/>
              <a:t>    t = (time_echo + random(10000)) % 60 - 30;</a:t>
            </a:r>
          </a:p>
          <a:p>
            <a:r>
              <a:rPr lang="en-US" altLang="zh-TW" sz="170" dirty="0" smtClean="0"/>
              <a:t>    if ((random(2) + time_echo) % 2) {</a:t>
            </a:r>
          </a:p>
          <a:p>
            <a:r>
              <a:rPr lang="en-US" altLang="zh-TW" sz="170" dirty="0" smtClean="0"/>
              <a:t>      t = 180 - t;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ballspeed += ballspeed / 2.6 / times;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  Adisplay(ag, bg, axl, ayu, bxl, byu, ballx, bally);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while (1) {</a:t>
            </a:r>
          </a:p>
          <a:p>
            <a:r>
              <a:rPr lang="en-US" altLang="zh-TW" sz="170" dirty="0" smtClean="0"/>
              <a:t>      A.clear();</a:t>
            </a:r>
          </a:p>
          <a:p>
            <a:r>
              <a:rPr lang="en-US" altLang="zh-TW" sz="170" dirty="0" smtClean="0"/>
              <a:t>           </a:t>
            </a:r>
          </a:p>
          <a:p>
            <a:r>
              <a:rPr lang="en-US" altLang="zh-TW" sz="170" dirty="0" smtClean="0"/>
              <a:t>      if (!digitalRead(13) &amp;&amp; ag &gt; 17) {   //</a:t>
            </a:r>
            <a:r>
              <a:rPr lang="zh-TW" altLang="en-US" sz="170" dirty="0" smtClean="0"/>
              <a:t>玩家操控球門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ag -=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(!digitalRead(12) &amp;&amp; ag &lt; 33) {</a:t>
            </a:r>
          </a:p>
          <a:p>
            <a:r>
              <a:rPr lang="en-US" altLang="zh-TW" sz="170" dirty="0" smtClean="0"/>
              <a:t>        ag +=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(analogRead(A4) &lt; 550) {   //</a:t>
            </a:r>
            <a:r>
              <a:rPr lang="zh-TW" altLang="en-US" sz="170" dirty="0" smtClean="0"/>
              <a:t>玩家操控球拍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(axl + pow((550 - analogRead(A4)) / 165, 1.2) &lt; 58) {</a:t>
            </a:r>
          </a:p>
          <a:p>
            <a:r>
              <a:rPr lang="en-US" altLang="zh-TW" sz="170" dirty="0" smtClean="0"/>
              <a:t>          axl += pow((550 - analogRead(A4))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58;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(analogRead(A4) &gt; 500) {</a:t>
            </a:r>
          </a:p>
          <a:p>
            <a:r>
              <a:rPr lang="en-US" altLang="zh-TW" sz="170" dirty="0" smtClean="0"/>
              <a:t>        if (axl - pow((analogRead(A4) - 500) / 150, 1.2) &gt; 20) {</a:t>
            </a:r>
          </a:p>
          <a:p>
            <a:r>
              <a:rPr lang="en-US" altLang="zh-TW" sz="170" dirty="0" smtClean="0"/>
              <a:t>          axl -= pow((analogRead(A4)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20;</a:t>
            </a:r>
          </a:p>
          <a:p>
            <a:r>
              <a:rPr lang="en-US" altLang="zh-TW" sz="170" dirty="0" smtClean="0"/>
              <a:t>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&lt; 550) {</a:t>
            </a:r>
          </a:p>
          <a:p>
            <a:r>
              <a:rPr lang="en-US" altLang="zh-TW" sz="170" dirty="0" smtClean="0"/>
              <a:t>        if (ayu - pow((550 - analogRead(A5)) / 165, 1.2) &gt; 17) {</a:t>
            </a:r>
          </a:p>
          <a:p>
            <a:r>
              <a:rPr lang="en-US" altLang="zh-TW" sz="170" dirty="0" smtClean="0"/>
              <a:t>          ayu -= pow((550 - analogRead(A5))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 ayu = 17;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&gt; 500) {</a:t>
            </a:r>
          </a:p>
          <a:p>
            <a:r>
              <a:rPr lang="en-US" altLang="zh-TW" sz="170" dirty="0" smtClean="0"/>
              <a:t>        if (ayu + pow((analogRead(A5) - 500) / 150, 1.2) &lt; 46) {</a:t>
            </a:r>
          </a:p>
          <a:p>
            <a:r>
              <a:rPr lang="en-US" altLang="zh-TW" sz="170" dirty="0" smtClean="0"/>
              <a:t>          ayu += pow((analogRead(A5)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ayu = 46;</a:t>
            </a:r>
          </a:p>
          <a:p>
            <a:r>
              <a:rPr lang="en-US" altLang="zh-TW" sz="170" dirty="0" smtClean="0"/>
              <a:t>         }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(ballx &gt; 96) {   //</a:t>
            </a:r>
            <a:r>
              <a:rPr lang="zh-TW" altLang="en-US" sz="170" dirty="0" smtClean="0"/>
              <a:t>電腦操控球門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   </a:t>
            </a:r>
          </a:p>
          <a:p>
            <a:r>
              <a:rPr lang="en-US" altLang="zh-TW" sz="170" dirty="0" smtClean="0"/>
              <a:t>        if (k &lt;= 4) {</a:t>
            </a:r>
          </a:p>
          <a:p>
            <a:r>
              <a:rPr lang="en-US" altLang="zh-TW" sz="170" dirty="0" smtClean="0"/>
              <a:t>          if (bg &gt; 17 &amp;&amp; bally &gt; 40)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&lt; 32)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== 5) {</a:t>
            </a:r>
          </a:p>
          <a:p>
            <a:r>
              <a:rPr lang="en-US" altLang="zh-TW" sz="170" dirty="0" smtClean="0"/>
              <a:t>          if (bg &gt; 17 &amp;&amp; bally &lt; 32)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&gt; 40)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40) {   //</a:t>
            </a:r>
            <a:r>
              <a:rPr lang="zh-TW" altLang="en-US" sz="170" dirty="0" smtClean="0"/>
              <a:t>電腦操控球拍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</a:t>
            </a:r>
          </a:p>
          <a:p>
            <a:r>
              <a:rPr lang="en-US" altLang="zh-TW" sz="170" dirty="0" smtClean="0"/>
              <a:t>        if (ballx &lt; bxl &amp;&amp; k &gt; 3) {</a:t>
            </a:r>
          </a:p>
          <a:p>
            <a:r>
              <a:rPr lang="en-US" altLang="zh-TW" sz="170" dirty="0" smtClean="0"/>
              <a:t>          if (byu &gt; 20 &amp;&amp; bally &lt; byu)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- 9 &gt; byu) {</a:t>
            </a:r>
          </a:p>
          <a:p>
            <a:r>
              <a:rPr lang="en-US" altLang="zh-TW" sz="170" dirty="0" smtClean="0"/>
              <a:t>            byu += 3; </a:t>
            </a:r>
          </a:p>
          <a:p>
            <a:r>
              <a:rPr lang="en-US" altLang="zh-TW" sz="170" dirty="0" smtClean="0"/>
              <a:t>          }  </a:t>
            </a:r>
          </a:p>
          <a:p>
            <a:r>
              <a:rPr lang="en-US" altLang="zh-TW" sz="170" dirty="0" smtClean="0"/>
              <a:t>          if (bxl &lt; 99 &amp;&amp; k &gt; 7)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 else if (bxl &gt; 67 &amp;&amp; k &lt; 6) {</a:t>
            </a:r>
          </a:p>
          <a:p>
            <a:r>
              <a:rPr lang="en-US" altLang="zh-TW" sz="170" dirty="0" smtClean="0"/>
              <a:t>            bxl -= 3; 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!= 0) {</a:t>
            </a:r>
          </a:p>
          <a:p>
            <a:r>
              <a:rPr lang="en-US" altLang="zh-TW" sz="170" dirty="0" smtClean="0"/>
              <a:t>          if (byu &gt; 20 &amp;&amp; bally &gt; 46 - (times % 2) * 20)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&lt; 63) {</a:t>
            </a:r>
          </a:p>
          <a:p>
            <a:r>
              <a:rPr lang="en-US" altLang="zh-TW" sz="170" dirty="0" smtClean="0"/>
              <a:t>            byu += 3;</a:t>
            </a:r>
          </a:p>
          <a:p>
            <a:r>
              <a:rPr lang="en-US" altLang="zh-TW" sz="170" dirty="0" smtClean="0"/>
              <a:t>          } </a:t>
            </a:r>
          </a:p>
          <a:p>
            <a:r>
              <a:rPr lang="en-US" altLang="zh-TW" sz="170" dirty="0" smtClean="0"/>
              <a:t>          if (bxl &lt; 99)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(bally &lt; 20) {   //</a:t>
            </a:r>
            <a:r>
              <a:rPr lang="zh-TW" altLang="en-US" sz="170" dirty="0" smtClean="0"/>
              <a:t>球反彈場地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進球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t = 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54) {</a:t>
            </a:r>
          </a:p>
          <a:p>
            <a:r>
              <a:rPr lang="en-US" altLang="zh-TW" sz="170" dirty="0" smtClean="0"/>
              <a:t>        t = -abs(t);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&lt; 1) {</a:t>
            </a:r>
          </a:p>
          <a:p>
            <a:r>
              <a:rPr lang="en-US" altLang="zh-TW" sz="170" dirty="0" smtClean="0"/>
              <a:t>        rebounda = 0, reboundb = 0, speedup = 0;</a:t>
            </a:r>
          </a:p>
          <a:p>
            <a:r>
              <a:rPr lang="en-US" altLang="zh-TW" sz="170" dirty="0" smtClean="0"/>
              <a:t>        if (bally &gt;= ag &amp;&amp; bally &lt;= ag + 22) {</a:t>
            </a:r>
          </a:p>
          <a:p>
            <a:r>
              <a:rPr lang="en-US" altLang="zh-TW" sz="170" dirty="0" smtClean="0"/>
              <a:t>          life--;</a:t>
            </a:r>
          </a:p>
          <a:p>
            <a:r>
              <a:rPr lang="en-US" altLang="zh-TW" sz="170" dirty="0" smtClean="0"/>
              <a:t>          A.clear();</a:t>
            </a:r>
          </a:p>
          <a:p>
            <a:r>
              <a:rPr lang="en-US" altLang="zh-TW" sz="170" dirty="0" smtClean="0"/>
              <a:t>          Adisplay(ag, bg, axl, ayu, bxl, byu, -100, -100);</a:t>
            </a:r>
          </a:p>
          <a:p>
            <a:r>
              <a:rPr lang="en-US" altLang="zh-TW" sz="170" dirty="0" smtClean="0"/>
              <a:t>          for (int i = 0; i &lt; 3; i++) {   //</a:t>
            </a:r>
            <a:r>
              <a:rPr lang="zh-TW" altLang="en-US" sz="170" dirty="0" smtClean="0"/>
              <a:t>電腦進球動畫</a:t>
            </a:r>
          </a:p>
          <a:p>
            <a:r>
              <a:rPr lang="zh-TW" altLang="en-US" sz="170" dirty="0" smtClean="0"/>
              <a:t>            </a:t>
            </a:r>
            <a:r>
              <a:rPr lang="en-US" altLang="zh-TW" sz="170" dirty="0" smtClean="0"/>
              <a:t>digitalWrite(life + 8, LOW);</a:t>
            </a:r>
          </a:p>
          <a:p>
            <a:r>
              <a:rPr lang="en-US" altLang="zh-TW" sz="170" dirty="0" smtClean="0"/>
              <a:t>            tone(11, 466,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  digitalWrite(life + 8, HIGH);</a:t>
            </a:r>
          </a:p>
          <a:p>
            <a:r>
              <a:rPr lang="en-US" altLang="zh-TW" sz="170" dirty="0" smtClean="0"/>
              <a:t>            tone(11, 440,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digitalWrite(life + 8, LOW);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&gt; 118) {</a:t>
            </a:r>
          </a:p>
          <a:p>
            <a:r>
              <a:rPr lang="en-US" altLang="zh-TW" sz="170" dirty="0" smtClean="0"/>
              <a:t>        rebounda = 1, reboundb = 1, speedup = 0;</a:t>
            </a:r>
          </a:p>
          <a:p>
            <a:r>
              <a:rPr lang="en-US" altLang="zh-TW" sz="170" dirty="0" smtClean="0"/>
              <a:t>        A.clear();</a:t>
            </a:r>
          </a:p>
          <a:p>
            <a:r>
              <a:rPr lang="en-US" altLang="zh-TW" sz="170" dirty="0" smtClean="0"/>
              <a:t>        Adisplay(ag, bg, axl, ayu, bxl, byu, -100, -100);</a:t>
            </a:r>
          </a:p>
          <a:p>
            <a:r>
              <a:rPr lang="en-US" altLang="zh-TW" sz="170" dirty="0" smtClean="0"/>
              <a:t>        if (bally &gt;= bg &amp;&amp; bally &lt;= bg + 22) {   //</a:t>
            </a:r>
            <a:r>
              <a:rPr lang="zh-TW" altLang="en-US" sz="170" dirty="0" smtClean="0"/>
              <a:t>玩家進球動畫</a:t>
            </a:r>
          </a:p>
          <a:p>
            <a:r>
              <a:rPr lang="zh-TW" altLang="en-US" sz="170" dirty="0" smtClean="0"/>
              <a:t>          </a:t>
            </a:r>
            <a:r>
              <a:rPr lang="en-US" altLang="zh-TW" sz="170" dirty="0" smtClean="0"/>
              <a:t>s += 100;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784,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988,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1046, 200);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axl - 8 &amp;&amp; ballx &lt; axl + 9 &amp;&amp; bally &gt; ayu - 8 &amp;&amp; bally &lt; ayu + 17) {    //</a:t>
            </a:r>
            <a:r>
              <a:rPr lang="zh-TW" altLang="en-US" sz="170" dirty="0" smtClean="0"/>
              <a:t>球反彈玩家球拍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(rebounda)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reboundb = 0;</a:t>
            </a:r>
          </a:p>
          <a:p>
            <a:r>
              <a:rPr lang="en-US" altLang="zh-TW" sz="170" dirty="0" smtClean="0"/>
              <a:t>        tone(11, 784, 100);</a:t>
            </a:r>
          </a:p>
          <a:p>
            <a:r>
              <a:rPr lang="en-US" altLang="zh-TW" sz="170" dirty="0" smtClean="0"/>
              <a:t>        if (!digitalRead(7)) {</a:t>
            </a:r>
          </a:p>
          <a:p>
            <a:r>
              <a:rPr lang="en-US" altLang="zh-TW" sz="170" dirty="0" smtClean="0"/>
              <a:t>          speedup = 1;</a:t>
            </a:r>
          </a:p>
          <a:p>
            <a:r>
              <a:rPr lang="en-US" altLang="zh-TW" sz="170" dirty="0" smtClean="0"/>
              <a:t>          t *= 0.7;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speedup = 0;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bxl - 8 &amp;&amp; ballx &lt; bxl + 9 &amp;&amp; bally &gt; byu - 8 &amp;&amp; bally &lt; byu + 17) {    //</a:t>
            </a:r>
            <a:r>
              <a:rPr lang="zh-TW" altLang="en-US" sz="170" dirty="0" smtClean="0"/>
              <a:t>球反彈對手球拍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(reboundb)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if (random(4) + time_echo) {</a:t>
            </a:r>
          </a:p>
          <a:p>
            <a:r>
              <a:rPr lang="en-US" altLang="zh-TW" sz="170" dirty="0" smtClean="0"/>
              <a:t>            speedup = 0;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speedup = 1;</a:t>
            </a:r>
          </a:p>
          <a:p>
            <a:r>
              <a:rPr lang="en-US" altLang="zh-TW" sz="170" dirty="0" smtClean="0"/>
              <a:t>            t *= 0.7;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rebounda = 1;</a:t>
            </a:r>
          </a:p>
          <a:p>
            <a:r>
              <a:rPr lang="en-US" altLang="zh-TW" sz="170" dirty="0" smtClean="0"/>
              <a:t>        tone(11, 1568, 100);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(speedup) {</a:t>
            </a:r>
          </a:p>
          <a:p>
            <a:r>
              <a:rPr lang="en-US" altLang="zh-TW" sz="170" dirty="0" smtClean="0"/>
              <a:t>        ballx += (ballspeed * 1.4)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(ballspeed * 1.4) * sin(t * Pi / 180);</a:t>
            </a:r>
          </a:p>
          <a:p>
            <a:r>
              <a:rPr lang="en-US" altLang="zh-TW" sz="170" dirty="0" smtClean="0"/>
              <a:t>      } else {</a:t>
            </a:r>
          </a:p>
          <a:p>
            <a:r>
              <a:rPr lang="en-US" altLang="zh-TW" sz="170" dirty="0" smtClean="0"/>
              <a:t>        ballx += ballspeed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ballspeed * sin(t * Pi / 180);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119) {</a:t>
            </a:r>
          </a:p>
          <a:p>
            <a:r>
              <a:rPr lang="en-US" altLang="zh-TW" sz="170" dirty="0" smtClean="0"/>
              <a:t>        ballx = 119;</a:t>
            </a:r>
          </a:p>
          <a:p>
            <a:r>
              <a:rPr lang="en-US" altLang="zh-TW" sz="170" dirty="0" smtClean="0"/>
              <a:t>      } else if (ballx &lt; 0) {</a:t>
            </a:r>
          </a:p>
          <a:p>
            <a:r>
              <a:rPr lang="en-US" altLang="zh-TW" sz="170" dirty="0" smtClean="0"/>
              <a:t>        ballx = 0;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55) {</a:t>
            </a:r>
          </a:p>
          <a:p>
            <a:r>
              <a:rPr lang="en-US" altLang="zh-TW" sz="170" dirty="0" smtClean="0"/>
              <a:t>        bally = 55;</a:t>
            </a:r>
          </a:p>
          <a:p>
            <a:r>
              <a:rPr lang="en-US" altLang="zh-TW" sz="170" dirty="0" smtClean="0"/>
              <a:t>      } else if (bally &lt; 18) {</a:t>
            </a:r>
          </a:p>
          <a:p>
            <a:r>
              <a:rPr lang="en-US" altLang="zh-TW" sz="170" dirty="0" smtClean="0"/>
              <a:t>        bally = 18;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Adisplay(ag, bg, axl, ayu, bxl, byu, ballx, bally);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    //</a:t>
            </a:r>
            <a:r>
              <a:rPr lang="zh-TW" altLang="en-US" sz="170" dirty="0" smtClean="0"/>
              <a:t>遊戲結束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A.setCursor(10, 40);</a:t>
            </a:r>
          </a:p>
          <a:p>
            <a:r>
              <a:rPr lang="en-US" altLang="zh-TW" sz="170" dirty="0" smtClean="0"/>
              <a:t>  A.setTextSize(2);</a:t>
            </a:r>
          </a:p>
          <a:p>
            <a:r>
              <a:rPr lang="en-US" altLang="zh-TW" sz="170" dirty="0" smtClean="0"/>
              <a:t>  A.println("GAME OVER");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int p = 120;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for (int i = 440; i &gt; 138; i -= 25.5) {</a:t>
            </a:r>
          </a:p>
          <a:p>
            <a:r>
              <a:rPr lang="en-US" altLang="zh-TW" sz="170" dirty="0" smtClean="0"/>
              <a:t>    digitalWrite(i % 3 + 8, LOW);</a:t>
            </a:r>
          </a:p>
          <a:p>
            <a:r>
              <a:rPr lang="en-US" altLang="zh-TW" sz="170" dirty="0" smtClean="0"/>
              <a:t>    digitalWrite((i + 1) % 3 + 8, LOW);</a:t>
            </a:r>
          </a:p>
          <a:p>
            <a:r>
              <a:rPr lang="en-US" altLang="zh-TW" sz="170" dirty="0" smtClean="0"/>
              <a:t>    digitalWrite((i + 2) % 3 + 8, HIGH);</a:t>
            </a:r>
          </a:p>
          <a:p>
            <a:r>
              <a:rPr lang="en-US" altLang="zh-TW" sz="170" dirty="0" smtClean="0"/>
              <a:t>    tone(11, i);</a:t>
            </a:r>
          </a:p>
          <a:p>
            <a:r>
              <a:rPr lang="en-US" altLang="zh-TW" sz="170" dirty="0" smtClean="0"/>
              <a:t>    delay(p / 3);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digitalWrite(9, LOW);</a:t>
            </a:r>
          </a:p>
          <a:p>
            <a:r>
              <a:rPr lang="en-US" altLang="zh-TW" sz="170" dirty="0" smtClean="0"/>
              <a:t>  digitalWrite(10, LOW);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delay(p * 8);</a:t>
            </a:r>
          </a:p>
          <a:p>
            <a:r>
              <a:rPr lang="en-US" altLang="zh-TW" sz="170" dirty="0" smtClean="0"/>
              <a:t>  tone(11, 784);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1661);</a:t>
            </a:r>
          </a:p>
          <a:p>
            <a:r>
              <a:rPr lang="en-US" altLang="zh-TW" sz="170" dirty="0" smtClean="0"/>
              <a:t>  delay(p * 2);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1397);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 * 4);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delay(2500);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}</a:t>
            </a:r>
            <a:endParaRPr lang="zh-TW" altLang="en-US" sz="170" dirty="0"/>
          </a:p>
        </p:txBody>
      </p:sp>
    </p:spTree>
    <p:extLst>
      <p:ext uri="{BB962C8B-B14F-4D97-AF65-F5344CB8AC3E}">
        <p14:creationId xmlns:p14="http://schemas.microsoft.com/office/powerpoint/2010/main" val="181810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製作作品的心路歷程</a:t>
            </a:r>
            <a:endParaRPr lang="en-US" altLang="zh-TW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sz="2000" b="1" dirty="0" smtClean="0"/>
              <a:t>我</a:t>
            </a:r>
            <a:r>
              <a:rPr lang="zh-TW" altLang="en-US" sz="1600" dirty="0" smtClean="0"/>
              <a:t>想要讓球往一個方向等速移動，碰到</a:t>
            </a:r>
            <a:r>
              <a:rPr lang="zh-TW" altLang="en-US" sz="1600" dirty="0" smtClean="0"/>
              <a:t>邊框後</a:t>
            </a:r>
            <a:r>
              <a:rPr lang="zh-TW" altLang="en-US" sz="1600" dirty="0" smtClean="0"/>
              <a:t>反</a:t>
            </a:r>
            <a:r>
              <a:rPr lang="zh-TW" altLang="en-US" sz="1600" dirty="0" smtClean="0"/>
              <a:t>彈。剛</a:t>
            </a:r>
            <a:r>
              <a:rPr lang="zh-TW" altLang="en-US" sz="1600" dirty="0" smtClean="0"/>
              <a:t>開始我把</a:t>
            </a:r>
            <a:r>
              <a:rPr lang="en-US" altLang="zh-TW" sz="1600" dirty="0" smtClean="0"/>
              <a:t>x</a:t>
            </a:r>
            <a:r>
              <a:rPr lang="zh-TW" altLang="en-US" sz="1600" dirty="0" smtClean="0"/>
              <a:t>與</a:t>
            </a:r>
            <a:r>
              <a:rPr lang="en-US" altLang="zh-TW" sz="1600" dirty="0" smtClean="0"/>
              <a:t>y</a:t>
            </a:r>
            <a:r>
              <a:rPr lang="zh-TW" altLang="en-US" sz="1600" dirty="0" smtClean="0"/>
              <a:t>座標分開討論</a:t>
            </a:r>
            <a:r>
              <a:rPr lang="zh-TW" altLang="en-US" sz="1600" dirty="0"/>
              <a:t>，但</a:t>
            </a:r>
            <a:r>
              <a:rPr lang="zh-TW" altLang="en-US" sz="1600" dirty="0" smtClean="0"/>
              <a:t>是我後來發現如果想要</a:t>
            </a:r>
            <a:r>
              <a:rPr lang="zh-TW" altLang="en-US" sz="1600" dirty="0"/>
              <a:t>讓球在反彈球拍後，朝著隨機方向移動，隨機</a:t>
            </a:r>
            <a:r>
              <a:rPr lang="en-US" altLang="zh-TW" sz="1600" dirty="0"/>
              <a:t>x</a:t>
            </a:r>
            <a:r>
              <a:rPr lang="zh-TW" altLang="en-US" sz="1600" dirty="0"/>
              <a:t>跟</a:t>
            </a:r>
            <a:r>
              <a:rPr lang="en-US" altLang="zh-TW" sz="1600" dirty="0"/>
              <a:t>y</a:t>
            </a:r>
            <a:r>
              <a:rPr lang="zh-TW" altLang="en-US" sz="1600" dirty="0"/>
              <a:t>座標的改變量會導致球在反彈球拍前後速度不一致，有點奇怪。因</a:t>
            </a:r>
            <a:r>
              <a:rPr lang="zh-TW" altLang="en-US" sz="1600" dirty="0" smtClean="0"/>
              <a:t>此，我用了另一種方式</a:t>
            </a:r>
            <a:r>
              <a:rPr lang="en-US" altLang="zh-TW" sz="1600" dirty="0" smtClean="0"/>
              <a:t>——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分別控制速度與角度</a:t>
            </a:r>
            <a:r>
              <a:rPr lang="zh-TW" altLang="en-US" sz="1600" dirty="0" smtClean="0"/>
              <a:t>。剛好那陣子物理課有上到相關的知識，只需要把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速度量值乘上三角函數</a:t>
            </a:r>
            <a:r>
              <a:rPr lang="zh-TW" altLang="en-US" sz="1600" dirty="0" smtClean="0"/>
              <a:t>，就會是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x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或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y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座標的改變量數值</a:t>
            </a:r>
            <a:r>
              <a:rPr lang="zh-TW" altLang="en-US" sz="1600" dirty="0" smtClean="0"/>
              <a:t>，而且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反彈邊框只要把角度改變</a:t>
            </a:r>
            <a:r>
              <a:rPr lang="zh-TW" altLang="en-US" sz="1600" dirty="0" smtClean="0"/>
              <a:t>即可。</a:t>
            </a:r>
            <a:endParaRPr lang="en-US" altLang="zh-TW" sz="1600" dirty="0" smtClean="0"/>
          </a:p>
          <a:p>
            <a:pPr marL="0" indent="0" algn="just">
              <a:buNone/>
            </a:pPr>
            <a:r>
              <a:rPr lang="zh-TW" altLang="en-US" sz="2000" b="1" dirty="0" smtClean="0"/>
              <a:t>之</a:t>
            </a:r>
            <a:r>
              <a:rPr lang="zh-TW" altLang="en-US" sz="1600" dirty="0" smtClean="0"/>
              <a:t>後我在寫球門和球拍移動的程式時還</a:t>
            </a:r>
            <a:r>
              <a:rPr lang="zh-TW" altLang="en-US" sz="1600" dirty="0" smtClean="0"/>
              <a:t>蠻順利</a:t>
            </a:r>
            <a:r>
              <a:rPr lang="zh-TW" altLang="en-US" sz="1600" dirty="0" smtClean="0"/>
              <a:t>的</a:t>
            </a:r>
            <a:r>
              <a:rPr lang="zh-TW" altLang="en-US" sz="1600" dirty="0"/>
              <a:t>。</a:t>
            </a:r>
            <a:r>
              <a:rPr lang="zh-TW" altLang="en-US" sz="1600" dirty="0" smtClean="0"/>
              <a:t>我</a:t>
            </a:r>
            <a:r>
              <a:rPr lang="zh-TW" altLang="en-US" sz="1600" dirty="0" smtClean="0"/>
              <a:t>讓</a:t>
            </a:r>
            <a:r>
              <a:rPr lang="zh-TW" altLang="en-US" sz="1600" dirty="0" smtClean="0"/>
              <a:t>球可以反</a:t>
            </a:r>
            <a:r>
              <a:rPr lang="zh-TW" altLang="en-US" sz="1600" dirty="0" smtClean="0"/>
              <a:t>彈球拍，</a:t>
            </a:r>
            <a:r>
              <a:rPr lang="zh-TW" altLang="en-US" sz="1600" dirty="0" smtClean="0"/>
              <a:t>不過發生了一個問</a:t>
            </a:r>
            <a:r>
              <a:rPr lang="zh-TW" altLang="en-US" sz="1600" dirty="0" smtClean="0"/>
              <a:t>題。</a:t>
            </a:r>
            <a:r>
              <a:rPr lang="zh-TW" altLang="en-US" sz="1600" dirty="0"/>
              <a:t>我讓電腦判斷球</a:t>
            </a:r>
            <a:r>
              <a:rPr lang="zh-TW" altLang="en-US" sz="1600" dirty="0" smtClean="0"/>
              <a:t>的座標只</a:t>
            </a:r>
            <a:r>
              <a:rPr lang="zh-TW" altLang="en-US" sz="1600" dirty="0" smtClean="0"/>
              <a:t>要在球拍內的區域</a:t>
            </a:r>
            <a:r>
              <a:rPr lang="zh-TW" altLang="en-US" sz="1600" dirty="0" smtClean="0"/>
              <a:t>，球就</a:t>
            </a:r>
            <a:r>
              <a:rPr lang="zh-TW" altLang="en-US" sz="1600" dirty="0" smtClean="0"/>
              <a:t>會向對手方向反彈，但當球反彈球拍</a:t>
            </a:r>
            <a:r>
              <a:rPr lang="zh-TW" altLang="en-US" sz="1600" dirty="0" smtClean="0"/>
              <a:t>後方的</a:t>
            </a:r>
            <a:r>
              <a:rPr lang="zh-TW" altLang="en-US" sz="1600" dirty="0" smtClean="0"/>
              <a:t>牆</a:t>
            </a:r>
            <a:r>
              <a:rPr lang="zh-TW" altLang="en-US" sz="1600" dirty="0" smtClean="0"/>
              <a:t>壁，</a:t>
            </a:r>
            <a:r>
              <a:rPr lang="zh-TW" altLang="en-US" sz="1600" dirty="0" smtClean="0"/>
              <a:t>會導致球再次撞擊球拍</a:t>
            </a:r>
            <a:r>
              <a:rPr lang="zh-TW" altLang="en-US" sz="1600" dirty="0" smtClean="0"/>
              <a:t>時會</a:t>
            </a:r>
            <a:r>
              <a:rPr lang="zh-TW" altLang="en-US" sz="1600" dirty="0" smtClean="0"/>
              <a:t>穿越球拍，非常不合</a:t>
            </a:r>
            <a:r>
              <a:rPr lang="zh-TW" altLang="en-US" sz="1600" dirty="0" smtClean="0"/>
              <a:t>理。而</a:t>
            </a:r>
            <a:r>
              <a:rPr lang="zh-TW" altLang="en-US" sz="1600" dirty="0" smtClean="0"/>
              <a:t>且就不會發生烏龍球，對我來說</a:t>
            </a:r>
            <a:r>
              <a:rPr lang="zh-TW" altLang="en-US" sz="1600" dirty="0" smtClean="0"/>
              <a:t>不好</a:t>
            </a:r>
            <a:r>
              <a:rPr lang="zh-TW" altLang="en-US" sz="1600" dirty="0" smtClean="0"/>
              <a:t>玩。我想到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用布林值去判斷球最後反彈的位置</a:t>
            </a:r>
            <a:r>
              <a:rPr lang="zh-TW" altLang="en-US" sz="1600" dirty="0" smtClean="0"/>
              <a:t>，下</a:t>
            </a:r>
            <a:r>
              <a:rPr lang="zh-TW" altLang="en-US" sz="1600" dirty="0" smtClean="0"/>
              <a:t>一</a:t>
            </a:r>
            <a:r>
              <a:rPr lang="zh-TW" altLang="en-US" sz="1600" dirty="0" smtClean="0"/>
              <a:t>次再反</a:t>
            </a:r>
            <a:r>
              <a:rPr lang="zh-TW" altLang="en-US" sz="1600" dirty="0" smtClean="0"/>
              <a:t>彈，就可以知</a:t>
            </a:r>
            <a:r>
              <a:rPr lang="zh-TW" altLang="en-US" sz="1600" dirty="0" smtClean="0"/>
              <a:t>道球是</a:t>
            </a:r>
            <a:r>
              <a:rPr lang="zh-TW" altLang="en-US" sz="1600" dirty="0" smtClean="0"/>
              <a:t>從</a:t>
            </a:r>
            <a:r>
              <a:rPr lang="zh-TW" altLang="en-US" sz="1600" dirty="0" smtClean="0"/>
              <a:t>哪個方向來的？要</a:t>
            </a:r>
            <a:r>
              <a:rPr lang="zh-TW" altLang="en-US" sz="1600" dirty="0" smtClean="0"/>
              <a:t>往哪方向反</a:t>
            </a:r>
            <a:r>
              <a:rPr lang="zh-TW" altLang="en-US" sz="1600" dirty="0" smtClean="0"/>
              <a:t>彈？</a:t>
            </a:r>
            <a:endParaRPr lang="en-US" altLang="zh-TW" sz="1600" dirty="0" smtClean="0"/>
          </a:p>
          <a:p>
            <a:pPr marL="0" indent="0" algn="just">
              <a:buNone/>
            </a:pPr>
            <a:r>
              <a:rPr lang="zh-TW" altLang="en-US" sz="2000" b="1" dirty="0" smtClean="0"/>
              <a:t>接</a:t>
            </a:r>
            <a:r>
              <a:rPr lang="zh-TW" altLang="en-US" sz="1600" dirty="0" smtClean="0"/>
              <a:t>下來，我寫判斷球進門的程式，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只要球的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y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座標在球門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內、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x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座標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在螢幕的邊框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外就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是球進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門得分</a:t>
            </a:r>
            <a:r>
              <a:rPr lang="zh-TW" altLang="en-US" sz="1600" dirty="0" smtClean="0"/>
              <a:t>，不然就會碰到牆反彈回</a:t>
            </a:r>
            <a:r>
              <a:rPr lang="zh-TW" altLang="en-US" sz="1600" dirty="0" smtClean="0"/>
              <a:t>去。</a:t>
            </a:r>
            <a:endParaRPr lang="zh-TW" altLang="en-US" sz="1600" dirty="0"/>
          </a:p>
        </p:txBody>
      </p:sp>
      <p:sp>
        <p:nvSpPr>
          <p:cNvPr id="5" name="文字方塊 4"/>
          <p:cNvSpPr txBox="1"/>
          <p:nvPr/>
        </p:nvSpPr>
        <p:spPr>
          <a:xfrm rot="16200000">
            <a:off x="5457143" y="506398"/>
            <a:ext cx="1274536" cy="1170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0" dirty="0" smtClean="0"/>
              <a:t>#include &lt;Adafruit_ssd1306syp.h&gt;</a:t>
            </a:r>
          </a:p>
          <a:p>
            <a:r>
              <a:rPr lang="en-US" altLang="zh-TW" sz="170" dirty="0" smtClean="0"/>
              <a:t>Adafruit_ssd1306syp A(A3,A2);</a:t>
            </a:r>
          </a:p>
          <a:p>
            <a:r>
              <a:rPr lang="en-US" altLang="zh-TW" sz="170" dirty="0" smtClean="0"/>
              <a:t>int h = 0, s = 0;</a:t>
            </a:r>
          </a:p>
          <a:p>
            <a:r>
              <a:rPr lang="en-US" altLang="zh-TW" sz="170" dirty="0" smtClean="0"/>
              <a:t>const double Pi = 3.14;</a:t>
            </a:r>
          </a:p>
          <a:p>
            <a:r>
              <a:rPr lang="en-US" altLang="zh-TW" sz="170" dirty="0" smtClean="0"/>
              <a:t>const unsigned char PROGMEM bmp[] =</a:t>
            </a:r>
          </a:p>
          <a:p>
            <a:r>
              <a:rPr lang="en-US" altLang="zh-TW" sz="170" dirty="0" smtClean="0"/>
              <a:t>{  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};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setup() {</a:t>
            </a:r>
          </a:p>
          <a:p>
            <a:r>
              <a:rPr lang="en-US" altLang="zh-TW" sz="170" dirty="0" smtClean="0"/>
              <a:t>  Serial.begin(250000);</a:t>
            </a:r>
          </a:p>
          <a:p>
            <a:r>
              <a:rPr lang="en-US" altLang="zh-TW" sz="170" dirty="0" smtClean="0"/>
              <a:t>  for (int i = 8; i &lt;= 11; i++) {</a:t>
            </a:r>
          </a:p>
          <a:p>
            <a:r>
              <a:rPr lang="en-US" altLang="zh-TW" sz="170" dirty="0" smtClean="0"/>
              <a:t>    pinMode (i, OUTPUT);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pinMode (13, INPUT);</a:t>
            </a:r>
          </a:p>
          <a:p>
            <a:r>
              <a:rPr lang="en-US" altLang="zh-TW" sz="170" dirty="0" smtClean="0"/>
              <a:t>  pinMode (12, INPUT);</a:t>
            </a:r>
          </a:p>
          <a:p>
            <a:r>
              <a:rPr lang="en-US" altLang="zh-TW" sz="170" dirty="0" smtClean="0"/>
              <a:t>  pinMode(7,INPUT);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pinMode (5, OUTPUT);</a:t>
            </a:r>
          </a:p>
          <a:p>
            <a:r>
              <a:rPr lang="en-US" altLang="zh-TW" sz="170" dirty="0" smtClean="0"/>
              <a:t>  pinMode (6, 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digitalWrite(10, LOW);   //LED</a:t>
            </a:r>
            <a:r>
              <a:rPr lang="zh-TW" altLang="en-US" sz="170" dirty="0" smtClean="0"/>
              <a:t>燈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digitalWrite(9, LOW);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A.initialize();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int Adisplay(int ag, int bg, int axl, int ayu, int bxl, int byu, int ballx, int bally) {    //</a:t>
            </a:r>
            <a:r>
              <a:rPr lang="zh-TW" altLang="en-US" sz="170" dirty="0" smtClean="0"/>
              <a:t>顯示畫面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顯示分數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A.drawLine(0, 17, 127, 17,WHITE);    //</a:t>
            </a:r>
            <a:r>
              <a:rPr lang="zh-TW" altLang="en-US" sz="170" dirty="0" smtClean="0"/>
              <a:t>顯示外框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A.drawLine(0, 63, 127, 63,WHITE);</a:t>
            </a:r>
          </a:p>
          <a:p>
            <a:r>
              <a:rPr lang="en-US" altLang="zh-TW" sz="170" dirty="0" smtClean="0"/>
              <a:t>  for (int i = 17; i &lt; 63; i += 2) {</a:t>
            </a:r>
          </a:p>
          <a:p>
            <a:r>
              <a:rPr lang="en-US" altLang="zh-TW" sz="170" dirty="0" smtClean="0"/>
              <a:t>    A.drawLine(63, i, 64, i,WHITE);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A.drawLine(0, 17, 0, ag,WHITE);</a:t>
            </a:r>
          </a:p>
          <a:p>
            <a:r>
              <a:rPr lang="en-US" altLang="zh-TW" sz="170" dirty="0" smtClean="0"/>
              <a:t>  A.drawLine(0, 63, 0, ag + 30,WHITE);</a:t>
            </a:r>
          </a:p>
          <a:p>
            <a:r>
              <a:rPr lang="en-US" altLang="zh-TW" sz="170" dirty="0" smtClean="0"/>
              <a:t>  A.drawLine(127, 17, 127, bg,WHITE);</a:t>
            </a:r>
          </a:p>
          <a:p>
            <a:r>
              <a:rPr lang="en-US" altLang="zh-TW" sz="170" dirty="0" smtClean="0"/>
              <a:t>  A.drawLine(127, 63, 127, bg + 30,WHITE);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A.drawLine(axl, ayu, axl + 5, ayu,WHITE);   //</a:t>
            </a:r>
            <a:r>
              <a:rPr lang="zh-TW" altLang="en-US" sz="170" dirty="0" smtClean="0"/>
              <a:t>顯示玩家球拍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A.drawLine(axl, ayu + 16, axl + 5, ayu + 16,WHITE);</a:t>
            </a:r>
          </a:p>
          <a:p>
            <a:r>
              <a:rPr lang="en-US" altLang="zh-TW" sz="170" dirty="0" smtClean="0"/>
              <a:t>  A.drawLine(axl, ayu, axl, ayu + 16,WHITE);</a:t>
            </a:r>
          </a:p>
          <a:p>
            <a:r>
              <a:rPr lang="en-US" altLang="zh-TW" sz="170" dirty="0" smtClean="0"/>
              <a:t>  A.drawLine(axl + 5, ayu, axl + 5, ayu + 16,WHITE);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A.drawLine(bxl, byu, bxl + 5, byu,WHITE);   //</a:t>
            </a:r>
            <a:r>
              <a:rPr lang="zh-TW" altLang="en-US" sz="170" dirty="0" smtClean="0"/>
              <a:t>顯示對手球拍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A.drawLine(bxl, byu + 16, bxl + 5, byu + 16,WHITE);</a:t>
            </a:r>
          </a:p>
          <a:p>
            <a:r>
              <a:rPr lang="en-US" altLang="zh-TW" sz="170" dirty="0" smtClean="0"/>
              <a:t>  A.drawLine(bxl, byu, bxl, byu + 16,WHITE);</a:t>
            </a:r>
          </a:p>
          <a:p>
            <a:r>
              <a:rPr lang="en-US" altLang="zh-TW" sz="170" dirty="0" smtClean="0"/>
              <a:t>  A.drawLine(bxl + 5, byu, bxl + 5, byu + 16,WHITE);</a:t>
            </a:r>
          </a:p>
          <a:p>
            <a:r>
              <a:rPr lang="en-US" altLang="zh-TW" sz="170" dirty="0" smtClean="0"/>
              <a:t>        </a:t>
            </a:r>
          </a:p>
          <a:p>
            <a:r>
              <a:rPr lang="en-US" altLang="zh-TW" sz="170" dirty="0" smtClean="0"/>
              <a:t>  A.drawBitmap(ballx, bally, bmp, 8, 8, 1);   //</a:t>
            </a:r>
            <a:r>
              <a:rPr lang="zh-TW" altLang="en-US" sz="170" dirty="0" smtClean="0"/>
              <a:t>顯示球</a:t>
            </a:r>
          </a:p>
          <a:p>
            <a:endParaRPr lang="zh-TW" altLang="en-US" sz="170" dirty="0" smtClean="0"/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A.update();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loop() {</a:t>
            </a:r>
          </a:p>
          <a:p>
            <a:r>
              <a:rPr lang="en-US" altLang="zh-TW" sz="170" dirty="0" smtClean="0"/>
              <a:t>  int flag = 1;</a:t>
            </a:r>
          </a:p>
          <a:p>
            <a:r>
              <a:rPr lang="en-US" altLang="zh-TW" sz="170" dirty="0" smtClean="0"/>
              <a:t>  if (h &lt; s) {</a:t>
            </a:r>
          </a:p>
          <a:p>
            <a:r>
              <a:rPr lang="en-US" altLang="zh-TW" sz="170" dirty="0" smtClean="0"/>
              <a:t>    h = s;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digitalWrite(13, HIGH);</a:t>
            </a:r>
          </a:p>
          <a:p>
            <a:r>
              <a:rPr lang="en-US" altLang="zh-TW" sz="170" dirty="0" smtClean="0"/>
              <a:t>  digitalWrite(12, HIGH);</a:t>
            </a:r>
          </a:p>
          <a:p>
            <a:r>
              <a:rPr lang="en-US" altLang="zh-TW" sz="170" dirty="0" smtClean="0"/>
              <a:t>  digitalWrite(7, HIGH);</a:t>
            </a:r>
          </a:p>
          <a:p>
            <a:r>
              <a:rPr lang="en-US" altLang="zh-TW" sz="170" dirty="0" smtClean="0"/>
              <a:t>  while (digitalRead(12) &amp;&amp; digitalRead(13) &amp;&amp; digitalRead(7) &amp;&amp; flag) {    //</a:t>
            </a:r>
            <a:r>
              <a:rPr lang="zh-TW" altLang="en-US" sz="170" dirty="0" smtClean="0"/>
              <a:t>遊戲初始介面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固定的圖案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  A.println("* highest score");</a:t>
            </a:r>
          </a:p>
          <a:p>
            <a:r>
              <a:rPr lang="en-US" altLang="zh-TW" sz="170" dirty="0" smtClean="0"/>
              <a:t>    A.setCursor(95,8);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A.println(h);</a:t>
            </a:r>
          </a:p>
          <a:p>
            <a:r>
              <a:rPr lang="en-US" altLang="zh-TW" sz="170" dirty="0" smtClean="0"/>
              <a:t>    A.setCursor(0,18);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A.println("your score");</a:t>
            </a:r>
          </a:p>
          <a:p>
            <a:r>
              <a:rPr lang="en-US" altLang="zh-TW" sz="170" dirty="0" smtClean="0"/>
              <a:t>    A.setCursor(65,18);</a:t>
            </a:r>
          </a:p>
          <a:p>
            <a:r>
              <a:rPr lang="en-US" altLang="zh-TW" sz="170" dirty="0" smtClean="0"/>
              <a:t>    A.println(s);</a:t>
            </a:r>
          </a:p>
          <a:p>
            <a:r>
              <a:rPr lang="en-US" altLang="zh-TW" sz="170" dirty="0" smtClean="0"/>
              <a:t>    A.drawLine(6, 34, 112, 34,WHITE);</a:t>
            </a:r>
          </a:p>
          <a:p>
            <a:r>
              <a:rPr lang="en-US" altLang="zh-TW" sz="170" dirty="0" smtClean="0"/>
              <a:t>    A.drawLine(6, 57, 112, 57,WHITE);</a:t>
            </a:r>
          </a:p>
          <a:p>
            <a:r>
              <a:rPr lang="en-US" altLang="zh-TW" sz="170" dirty="0" smtClean="0"/>
              <a:t>    A.drawLine(6, 34, 6, 57,WHITE);</a:t>
            </a:r>
          </a:p>
          <a:p>
            <a:r>
              <a:rPr lang="en-US" altLang="zh-TW" sz="170" dirty="0" smtClean="0"/>
              <a:t>    A.drawLine(112, 34, 112, 57,WHITE);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digitalWrite(4, LOW);</a:t>
            </a:r>
          </a:p>
          <a:p>
            <a:r>
              <a:rPr lang="en-US" altLang="zh-TW" sz="170" dirty="0" smtClean="0"/>
              <a:t>    A.setCursor(0,38);   //</a:t>
            </a:r>
            <a:r>
              <a:rPr lang="zh-TW" altLang="en-US" sz="170" dirty="0" smtClean="0"/>
              <a:t>閃爍的圖案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A.println("  press any button");</a:t>
            </a:r>
          </a:p>
          <a:p>
            <a:r>
              <a:rPr lang="en-US" altLang="zh-TW" sz="170" dirty="0" smtClean="0"/>
              <a:t>    A.println("     to start");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digitalWrite(4, HIGH);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digitalWrite(4, LOW);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for (int i = 3; i &gt; 0; i--) {    //</a:t>
            </a:r>
            <a:r>
              <a:rPr lang="zh-TW" altLang="en-US" sz="170" dirty="0" smtClean="0"/>
              <a:t>倒數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A.clear();</a:t>
            </a:r>
          </a:p>
          <a:p>
            <a:r>
              <a:rPr lang="en-US" altLang="zh-TW" sz="170" dirty="0" smtClean="0"/>
              <a:t>    A.setCursor(0,8);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A.println("game start in :");</a:t>
            </a:r>
          </a:p>
          <a:p>
            <a:r>
              <a:rPr lang="en-US" altLang="zh-TW" sz="170" dirty="0" smtClean="0"/>
              <a:t>    A.setCursor(54,25);</a:t>
            </a:r>
          </a:p>
          <a:p>
            <a:r>
              <a:rPr lang="en-US" altLang="zh-TW" sz="170" dirty="0" smtClean="0"/>
              <a:t>    A.setTextSize(4);</a:t>
            </a:r>
          </a:p>
          <a:p>
            <a:r>
              <a:rPr lang="en-US" altLang="zh-TW" sz="170" dirty="0" smtClean="0"/>
              <a:t>    A.println(i);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tone(11, 659, 250);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digitalWrite(i + 7, LOW);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  A.setCursor(27,20);</a:t>
            </a:r>
          </a:p>
          <a:p>
            <a:r>
              <a:rPr lang="en-US" altLang="zh-TW" sz="170" dirty="0" smtClean="0"/>
              <a:t>  A.setTextSize(5);</a:t>
            </a:r>
          </a:p>
          <a:p>
            <a:r>
              <a:rPr lang="en-US" altLang="zh-TW" sz="170" dirty="0" smtClean="0"/>
              <a:t>  A.println("GO!");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tone(11, 1318, 500);</a:t>
            </a:r>
          </a:p>
          <a:p>
            <a:r>
              <a:rPr lang="en-US" altLang="zh-TW" sz="170" dirty="0" smtClean="0"/>
              <a:t>  digitalWrite(4, HIGH);</a:t>
            </a:r>
          </a:p>
          <a:p>
            <a:r>
              <a:rPr lang="en-US" altLang="zh-TW" sz="170" dirty="0" smtClean="0"/>
              <a:t>  delay(1000);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//</a:t>
            </a:r>
            <a:r>
              <a:rPr lang="zh-TW" altLang="en-US" sz="170" dirty="0" smtClean="0"/>
              <a:t>遊戲開始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int life = 3, ag, bg, axl, ayu, bxl, byu, ballx, bally, ballspeed = 6, t, times = 0;</a:t>
            </a:r>
          </a:p>
          <a:p>
            <a:r>
              <a:rPr lang="en-US" altLang="zh-TW" sz="170" dirty="0" smtClean="0"/>
              <a:t>  s = 0;</a:t>
            </a:r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while (life) {</a:t>
            </a:r>
          </a:p>
          <a:p>
            <a:r>
              <a:rPr lang="en-US" altLang="zh-TW" sz="170" dirty="0" smtClean="0"/>
              <a:t>    ag = 25, bg = 25, axl = 20, ayu = 32, bxl = 102, byu = 32, ballx = 60, bally = 36;</a:t>
            </a:r>
          </a:p>
          <a:p>
            <a:r>
              <a:rPr lang="en-US" altLang="zh-TW" sz="170" dirty="0" smtClean="0"/>
              <a:t>    bool rebounda = 1, reboundb = 0, speedup = 0;</a:t>
            </a:r>
          </a:p>
          <a:p>
            <a:r>
              <a:rPr lang="en-US" altLang="zh-TW" sz="170" dirty="0" smtClean="0"/>
              <a:t>    times++;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digitalWrite(5, HIGH);    //</a:t>
            </a:r>
            <a:r>
              <a:rPr lang="zh-TW" altLang="en-US" sz="170" dirty="0" smtClean="0"/>
              <a:t>速度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方向設定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delayMicroseconds(10); </a:t>
            </a:r>
          </a:p>
          <a:p>
            <a:r>
              <a:rPr lang="en-US" altLang="zh-TW" sz="170" dirty="0" smtClean="0"/>
              <a:t>    digitalWrite(5, LOW); </a:t>
            </a:r>
          </a:p>
          <a:p>
            <a:r>
              <a:rPr lang="en-US" altLang="zh-TW" sz="170" dirty="0" smtClean="0"/>
              <a:t>    int time_echo = pulseIn(6, HIGH);</a:t>
            </a:r>
          </a:p>
          <a:p>
            <a:r>
              <a:rPr lang="en-US" altLang="zh-TW" sz="170" dirty="0" smtClean="0"/>
              <a:t>    Serial.print(time_echo);</a:t>
            </a:r>
          </a:p>
          <a:p>
            <a:r>
              <a:rPr lang="en-US" altLang="zh-TW" sz="170" dirty="0" smtClean="0"/>
              <a:t>    t = (time_echo + random(10000)) % 60 - 30;</a:t>
            </a:r>
          </a:p>
          <a:p>
            <a:r>
              <a:rPr lang="en-US" altLang="zh-TW" sz="170" dirty="0" smtClean="0"/>
              <a:t>    if ((random(2) + time_echo) % 2) {</a:t>
            </a:r>
          </a:p>
          <a:p>
            <a:r>
              <a:rPr lang="en-US" altLang="zh-TW" sz="170" dirty="0" smtClean="0"/>
              <a:t>      t = 180 - t;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ballspeed += ballspeed / 2.6 / times;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  Adisplay(ag, bg, axl, ayu, bxl, byu, ballx, bally);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while (1) {</a:t>
            </a:r>
          </a:p>
          <a:p>
            <a:r>
              <a:rPr lang="en-US" altLang="zh-TW" sz="170" dirty="0" smtClean="0"/>
              <a:t>      A.clear();</a:t>
            </a:r>
          </a:p>
          <a:p>
            <a:r>
              <a:rPr lang="en-US" altLang="zh-TW" sz="170" dirty="0" smtClean="0"/>
              <a:t>           </a:t>
            </a:r>
          </a:p>
          <a:p>
            <a:r>
              <a:rPr lang="en-US" altLang="zh-TW" sz="170" dirty="0" smtClean="0"/>
              <a:t>      if (!digitalRead(13) &amp;&amp; ag &gt; 17) {   //</a:t>
            </a:r>
            <a:r>
              <a:rPr lang="zh-TW" altLang="en-US" sz="170" dirty="0" smtClean="0"/>
              <a:t>玩家操控球門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ag -=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(!digitalRead(12) &amp;&amp; ag &lt; 33) {</a:t>
            </a:r>
          </a:p>
          <a:p>
            <a:r>
              <a:rPr lang="en-US" altLang="zh-TW" sz="170" dirty="0" smtClean="0"/>
              <a:t>        ag +=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(analogRead(A4) &lt; 550) {   //</a:t>
            </a:r>
            <a:r>
              <a:rPr lang="zh-TW" altLang="en-US" sz="170" dirty="0" smtClean="0"/>
              <a:t>玩家操控球拍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(axl + pow((550 - analogRead(A4)) / 165, 1.2) &lt; 58) {</a:t>
            </a:r>
          </a:p>
          <a:p>
            <a:r>
              <a:rPr lang="en-US" altLang="zh-TW" sz="170" dirty="0" smtClean="0"/>
              <a:t>          axl += pow((550 - analogRead(A4))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58;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(analogRead(A4) &gt; 500) {</a:t>
            </a:r>
          </a:p>
          <a:p>
            <a:r>
              <a:rPr lang="en-US" altLang="zh-TW" sz="170" dirty="0" smtClean="0"/>
              <a:t>        if (axl - pow((analogRead(A4) - 500) / 150, 1.2) &gt; 20) {</a:t>
            </a:r>
          </a:p>
          <a:p>
            <a:r>
              <a:rPr lang="en-US" altLang="zh-TW" sz="170" dirty="0" smtClean="0"/>
              <a:t>          axl -= pow((analogRead(A4)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20;</a:t>
            </a:r>
          </a:p>
          <a:p>
            <a:r>
              <a:rPr lang="en-US" altLang="zh-TW" sz="170" dirty="0" smtClean="0"/>
              <a:t>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&lt; 550) {</a:t>
            </a:r>
          </a:p>
          <a:p>
            <a:r>
              <a:rPr lang="en-US" altLang="zh-TW" sz="170" dirty="0" smtClean="0"/>
              <a:t>        if (ayu - pow((550 - analogRead(A5)) / 165, 1.2) &gt; 17) {</a:t>
            </a:r>
          </a:p>
          <a:p>
            <a:r>
              <a:rPr lang="en-US" altLang="zh-TW" sz="170" dirty="0" smtClean="0"/>
              <a:t>          ayu -= pow((550 - analogRead(A5))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 ayu = 17;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&gt; 500) {</a:t>
            </a:r>
          </a:p>
          <a:p>
            <a:r>
              <a:rPr lang="en-US" altLang="zh-TW" sz="170" dirty="0" smtClean="0"/>
              <a:t>        if (ayu + pow((analogRead(A5) - 500) / 150, 1.2) &lt; 46) {</a:t>
            </a:r>
          </a:p>
          <a:p>
            <a:r>
              <a:rPr lang="en-US" altLang="zh-TW" sz="170" dirty="0" smtClean="0"/>
              <a:t>          ayu += pow((analogRead(A5)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ayu = 46;</a:t>
            </a:r>
          </a:p>
          <a:p>
            <a:r>
              <a:rPr lang="en-US" altLang="zh-TW" sz="170" dirty="0" smtClean="0"/>
              <a:t>         }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(ballx &gt; 96) {   //</a:t>
            </a:r>
            <a:r>
              <a:rPr lang="zh-TW" altLang="en-US" sz="170" dirty="0" smtClean="0"/>
              <a:t>電腦操控球門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   </a:t>
            </a:r>
          </a:p>
          <a:p>
            <a:r>
              <a:rPr lang="en-US" altLang="zh-TW" sz="170" dirty="0" smtClean="0"/>
              <a:t>        if (k &lt;= 4) {</a:t>
            </a:r>
          </a:p>
          <a:p>
            <a:r>
              <a:rPr lang="en-US" altLang="zh-TW" sz="170" dirty="0" smtClean="0"/>
              <a:t>          if (bg &gt; 17 &amp;&amp; bally &gt; 40)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&lt; 32)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== 5) {</a:t>
            </a:r>
          </a:p>
          <a:p>
            <a:r>
              <a:rPr lang="en-US" altLang="zh-TW" sz="170" dirty="0" smtClean="0"/>
              <a:t>          if (bg &gt; 17 &amp;&amp; bally &lt; 32)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&gt; 40)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40) {   //</a:t>
            </a:r>
            <a:r>
              <a:rPr lang="zh-TW" altLang="en-US" sz="170" dirty="0" smtClean="0"/>
              <a:t>電腦操控球拍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</a:t>
            </a:r>
          </a:p>
          <a:p>
            <a:r>
              <a:rPr lang="en-US" altLang="zh-TW" sz="170" dirty="0" smtClean="0"/>
              <a:t>        if (ballx &lt; bxl &amp;&amp; k &gt; 3) {</a:t>
            </a:r>
          </a:p>
          <a:p>
            <a:r>
              <a:rPr lang="en-US" altLang="zh-TW" sz="170" dirty="0" smtClean="0"/>
              <a:t>          if (byu &gt; 20 &amp;&amp; bally &lt; byu)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- 9 &gt; byu) {</a:t>
            </a:r>
          </a:p>
          <a:p>
            <a:r>
              <a:rPr lang="en-US" altLang="zh-TW" sz="170" dirty="0" smtClean="0"/>
              <a:t>            byu += 3; </a:t>
            </a:r>
          </a:p>
          <a:p>
            <a:r>
              <a:rPr lang="en-US" altLang="zh-TW" sz="170" dirty="0" smtClean="0"/>
              <a:t>          }  </a:t>
            </a:r>
          </a:p>
          <a:p>
            <a:r>
              <a:rPr lang="en-US" altLang="zh-TW" sz="170" dirty="0" smtClean="0"/>
              <a:t>          if (bxl &lt; 99 &amp;&amp; k &gt; 7)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 else if (bxl &gt; 67 &amp;&amp; k &lt; 6) {</a:t>
            </a:r>
          </a:p>
          <a:p>
            <a:r>
              <a:rPr lang="en-US" altLang="zh-TW" sz="170" dirty="0" smtClean="0"/>
              <a:t>            bxl -= 3; 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!= 0) {</a:t>
            </a:r>
          </a:p>
          <a:p>
            <a:r>
              <a:rPr lang="en-US" altLang="zh-TW" sz="170" dirty="0" smtClean="0"/>
              <a:t>          if (byu &gt; 20 &amp;&amp; bally &gt; 46 - (times % 2) * 20)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&lt; 63) {</a:t>
            </a:r>
          </a:p>
          <a:p>
            <a:r>
              <a:rPr lang="en-US" altLang="zh-TW" sz="170" dirty="0" smtClean="0"/>
              <a:t>            byu += 3;</a:t>
            </a:r>
          </a:p>
          <a:p>
            <a:r>
              <a:rPr lang="en-US" altLang="zh-TW" sz="170" dirty="0" smtClean="0"/>
              <a:t>          } </a:t>
            </a:r>
          </a:p>
          <a:p>
            <a:r>
              <a:rPr lang="en-US" altLang="zh-TW" sz="170" dirty="0" smtClean="0"/>
              <a:t>          if (bxl &lt; 99)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(bally &lt; 20) {   //</a:t>
            </a:r>
            <a:r>
              <a:rPr lang="zh-TW" altLang="en-US" sz="170" dirty="0" smtClean="0"/>
              <a:t>球反彈場地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進球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t = 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54) {</a:t>
            </a:r>
          </a:p>
          <a:p>
            <a:r>
              <a:rPr lang="en-US" altLang="zh-TW" sz="170" dirty="0" smtClean="0"/>
              <a:t>        t = -abs(t);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&lt; 1) {</a:t>
            </a:r>
          </a:p>
          <a:p>
            <a:r>
              <a:rPr lang="en-US" altLang="zh-TW" sz="170" dirty="0" smtClean="0"/>
              <a:t>        rebounda = 0, reboundb = 0, speedup = 0;</a:t>
            </a:r>
          </a:p>
          <a:p>
            <a:r>
              <a:rPr lang="en-US" altLang="zh-TW" sz="170" dirty="0" smtClean="0"/>
              <a:t>        if (bally &gt;= ag &amp;&amp; bally &lt;= ag + 22) {</a:t>
            </a:r>
          </a:p>
          <a:p>
            <a:r>
              <a:rPr lang="en-US" altLang="zh-TW" sz="170" dirty="0" smtClean="0"/>
              <a:t>          life--;</a:t>
            </a:r>
          </a:p>
          <a:p>
            <a:r>
              <a:rPr lang="en-US" altLang="zh-TW" sz="170" dirty="0" smtClean="0"/>
              <a:t>          A.clear();</a:t>
            </a:r>
          </a:p>
          <a:p>
            <a:r>
              <a:rPr lang="en-US" altLang="zh-TW" sz="170" dirty="0" smtClean="0"/>
              <a:t>          Adisplay(ag, bg, axl, ayu, bxl, byu, -100, -100);</a:t>
            </a:r>
          </a:p>
          <a:p>
            <a:r>
              <a:rPr lang="en-US" altLang="zh-TW" sz="170" dirty="0" smtClean="0"/>
              <a:t>          for (int i = 0; i &lt; 3; i++) {   //</a:t>
            </a:r>
            <a:r>
              <a:rPr lang="zh-TW" altLang="en-US" sz="170" dirty="0" smtClean="0"/>
              <a:t>電腦進球動畫</a:t>
            </a:r>
          </a:p>
          <a:p>
            <a:r>
              <a:rPr lang="zh-TW" altLang="en-US" sz="170" dirty="0" smtClean="0"/>
              <a:t>            </a:t>
            </a:r>
            <a:r>
              <a:rPr lang="en-US" altLang="zh-TW" sz="170" dirty="0" smtClean="0"/>
              <a:t>digitalWrite(life + 8, LOW);</a:t>
            </a:r>
          </a:p>
          <a:p>
            <a:r>
              <a:rPr lang="en-US" altLang="zh-TW" sz="170" dirty="0" smtClean="0"/>
              <a:t>            tone(11, 466,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  digitalWrite(life + 8, HIGH);</a:t>
            </a:r>
          </a:p>
          <a:p>
            <a:r>
              <a:rPr lang="en-US" altLang="zh-TW" sz="170" dirty="0" smtClean="0"/>
              <a:t>            tone(11, 440,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digitalWrite(life + 8, LOW);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&gt; 118) {</a:t>
            </a:r>
          </a:p>
          <a:p>
            <a:r>
              <a:rPr lang="en-US" altLang="zh-TW" sz="170" dirty="0" smtClean="0"/>
              <a:t>        rebounda = 1, reboundb = 1, speedup = 0;</a:t>
            </a:r>
          </a:p>
          <a:p>
            <a:r>
              <a:rPr lang="en-US" altLang="zh-TW" sz="170" dirty="0" smtClean="0"/>
              <a:t>        A.clear();</a:t>
            </a:r>
          </a:p>
          <a:p>
            <a:r>
              <a:rPr lang="en-US" altLang="zh-TW" sz="170" dirty="0" smtClean="0"/>
              <a:t>        Adisplay(ag, bg, axl, ayu, bxl, byu, -100, -100);</a:t>
            </a:r>
          </a:p>
          <a:p>
            <a:r>
              <a:rPr lang="en-US" altLang="zh-TW" sz="170" dirty="0" smtClean="0"/>
              <a:t>        if (bally &gt;= bg &amp;&amp; bally &lt;= bg + 22) {   //</a:t>
            </a:r>
            <a:r>
              <a:rPr lang="zh-TW" altLang="en-US" sz="170" dirty="0" smtClean="0"/>
              <a:t>玩家進球動畫</a:t>
            </a:r>
          </a:p>
          <a:p>
            <a:r>
              <a:rPr lang="zh-TW" altLang="en-US" sz="170" dirty="0" smtClean="0"/>
              <a:t>          </a:t>
            </a:r>
            <a:r>
              <a:rPr lang="en-US" altLang="zh-TW" sz="170" dirty="0" smtClean="0"/>
              <a:t>s += 100;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784,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988,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1046, 200);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axl - 8 &amp;&amp; ballx &lt; axl + 9 &amp;&amp; bally &gt; ayu - 8 &amp;&amp; bally &lt; ayu + 17) {    //</a:t>
            </a:r>
            <a:r>
              <a:rPr lang="zh-TW" altLang="en-US" sz="170" dirty="0" smtClean="0"/>
              <a:t>球反彈玩家球拍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(rebounda)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reboundb = 0;</a:t>
            </a:r>
          </a:p>
          <a:p>
            <a:r>
              <a:rPr lang="en-US" altLang="zh-TW" sz="170" dirty="0" smtClean="0"/>
              <a:t>        tone(11, 784, 100);</a:t>
            </a:r>
          </a:p>
          <a:p>
            <a:r>
              <a:rPr lang="en-US" altLang="zh-TW" sz="170" dirty="0" smtClean="0"/>
              <a:t>        if (!digitalRead(7)) {</a:t>
            </a:r>
          </a:p>
          <a:p>
            <a:r>
              <a:rPr lang="en-US" altLang="zh-TW" sz="170" dirty="0" smtClean="0"/>
              <a:t>          speedup = 1;</a:t>
            </a:r>
          </a:p>
          <a:p>
            <a:r>
              <a:rPr lang="en-US" altLang="zh-TW" sz="170" dirty="0" smtClean="0"/>
              <a:t>          t *= 0.7;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speedup = 0;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bxl - 8 &amp;&amp; ballx &lt; bxl + 9 &amp;&amp; bally &gt; byu - 8 &amp;&amp; bally &lt; byu + 17) {    //</a:t>
            </a:r>
            <a:r>
              <a:rPr lang="zh-TW" altLang="en-US" sz="170" dirty="0" smtClean="0"/>
              <a:t>球反彈對手球拍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(reboundb)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if (random(4) + time_echo) {</a:t>
            </a:r>
          </a:p>
          <a:p>
            <a:r>
              <a:rPr lang="en-US" altLang="zh-TW" sz="170" dirty="0" smtClean="0"/>
              <a:t>            speedup = 0;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speedup = 1;</a:t>
            </a:r>
          </a:p>
          <a:p>
            <a:r>
              <a:rPr lang="en-US" altLang="zh-TW" sz="170" dirty="0" smtClean="0"/>
              <a:t>            t *= 0.7;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rebounda = 1;</a:t>
            </a:r>
          </a:p>
          <a:p>
            <a:r>
              <a:rPr lang="en-US" altLang="zh-TW" sz="170" dirty="0" smtClean="0"/>
              <a:t>        tone(11, 1568, 100);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(speedup) {</a:t>
            </a:r>
          </a:p>
          <a:p>
            <a:r>
              <a:rPr lang="en-US" altLang="zh-TW" sz="170" dirty="0" smtClean="0"/>
              <a:t>        ballx += (ballspeed * 1.4)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(ballspeed * 1.4) * sin(t * Pi / 180);</a:t>
            </a:r>
          </a:p>
          <a:p>
            <a:r>
              <a:rPr lang="en-US" altLang="zh-TW" sz="170" dirty="0" smtClean="0"/>
              <a:t>      } else {</a:t>
            </a:r>
          </a:p>
          <a:p>
            <a:r>
              <a:rPr lang="en-US" altLang="zh-TW" sz="170" dirty="0" smtClean="0"/>
              <a:t>        ballx += ballspeed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ballspeed * sin(t * Pi / 180);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119) {</a:t>
            </a:r>
          </a:p>
          <a:p>
            <a:r>
              <a:rPr lang="en-US" altLang="zh-TW" sz="170" dirty="0" smtClean="0"/>
              <a:t>        ballx = 119;</a:t>
            </a:r>
          </a:p>
          <a:p>
            <a:r>
              <a:rPr lang="en-US" altLang="zh-TW" sz="170" dirty="0" smtClean="0"/>
              <a:t>      } else if (ballx &lt; 0) {</a:t>
            </a:r>
          </a:p>
          <a:p>
            <a:r>
              <a:rPr lang="en-US" altLang="zh-TW" sz="170" dirty="0" smtClean="0"/>
              <a:t>        ballx = 0;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55) {</a:t>
            </a:r>
          </a:p>
          <a:p>
            <a:r>
              <a:rPr lang="en-US" altLang="zh-TW" sz="170" dirty="0" smtClean="0"/>
              <a:t>        bally = 55;</a:t>
            </a:r>
          </a:p>
          <a:p>
            <a:r>
              <a:rPr lang="en-US" altLang="zh-TW" sz="170" dirty="0" smtClean="0"/>
              <a:t>      } else if (bally &lt; 18) {</a:t>
            </a:r>
          </a:p>
          <a:p>
            <a:r>
              <a:rPr lang="en-US" altLang="zh-TW" sz="170" dirty="0" smtClean="0"/>
              <a:t>        bally = 18;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Adisplay(ag, bg, axl, ayu, bxl, byu, ballx, bally);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    //</a:t>
            </a:r>
            <a:r>
              <a:rPr lang="zh-TW" altLang="en-US" sz="170" dirty="0" smtClean="0"/>
              <a:t>遊戲結束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A.setCursor(10, 40);</a:t>
            </a:r>
          </a:p>
          <a:p>
            <a:r>
              <a:rPr lang="en-US" altLang="zh-TW" sz="170" dirty="0" smtClean="0"/>
              <a:t>  A.setTextSize(2);</a:t>
            </a:r>
          </a:p>
          <a:p>
            <a:r>
              <a:rPr lang="en-US" altLang="zh-TW" sz="170" dirty="0" smtClean="0"/>
              <a:t>  A.println("GAME OVER");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int p = 120;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for (int i = 440; i &gt; 138; i -= 25.5) {</a:t>
            </a:r>
          </a:p>
          <a:p>
            <a:r>
              <a:rPr lang="en-US" altLang="zh-TW" sz="170" dirty="0" smtClean="0"/>
              <a:t>    digitalWrite(i % 3 + 8, LOW);</a:t>
            </a:r>
          </a:p>
          <a:p>
            <a:r>
              <a:rPr lang="en-US" altLang="zh-TW" sz="170" dirty="0" smtClean="0"/>
              <a:t>    digitalWrite((i + 1) % 3 + 8, LOW);</a:t>
            </a:r>
          </a:p>
          <a:p>
            <a:r>
              <a:rPr lang="en-US" altLang="zh-TW" sz="170" dirty="0" smtClean="0"/>
              <a:t>    digitalWrite((i + 2) % 3 + 8, HIGH);</a:t>
            </a:r>
          </a:p>
          <a:p>
            <a:r>
              <a:rPr lang="en-US" altLang="zh-TW" sz="170" dirty="0" smtClean="0"/>
              <a:t>    tone(11, i);</a:t>
            </a:r>
          </a:p>
          <a:p>
            <a:r>
              <a:rPr lang="en-US" altLang="zh-TW" sz="170" dirty="0" smtClean="0"/>
              <a:t>    delay(p / 3);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digitalWrite(9, LOW);</a:t>
            </a:r>
          </a:p>
          <a:p>
            <a:r>
              <a:rPr lang="en-US" altLang="zh-TW" sz="170" dirty="0" smtClean="0"/>
              <a:t>  digitalWrite(10, LOW);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delay(p * 8);</a:t>
            </a:r>
          </a:p>
          <a:p>
            <a:r>
              <a:rPr lang="en-US" altLang="zh-TW" sz="170" dirty="0" smtClean="0"/>
              <a:t>  tone(11, 784);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1661);</a:t>
            </a:r>
          </a:p>
          <a:p>
            <a:r>
              <a:rPr lang="en-US" altLang="zh-TW" sz="170" dirty="0" smtClean="0"/>
              <a:t>  delay(p * 2);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1397);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 * 4);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delay(2500);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}</a:t>
            </a:r>
            <a:endParaRPr lang="zh-TW" altLang="en-US" sz="170" dirty="0"/>
          </a:p>
        </p:txBody>
      </p:sp>
    </p:spTree>
    <p:extLst>
      <p:ext uri="{BB962C8B-B14F-4D97-AF65-F5344CB8AC3E}">
        <p14:creationId xmlns:p14="http://schemas.microsoft.com/office/powerpoint/2010/main" val="201022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製作作品的心路歷程</a:t>
            </a:r>
            <a:endParaRPr lang="en-US" altLang="zh-TW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sz="2000" b="1" dirty="0" smtClean="0"/>
              <a:t>後</a:t>
            </a:r>
            <a:r>
              <a:rPr lang="zh-TW" altLang="en-US" sz="1600" dirty="0" smtClean="0"/>
              <a:t>來，我想讓球在球場中間初始時，可以隨機往任何方向移動。我用</a:t>
            </a:r>
            <a:r>
              <a:rPr lang="en-US" altLang="zh-TW" sz="1600" dirty="0" smtClean="0"/>
              <a:t>random()</a:t>
            </a:r>
            <a:r>
              <a:rPr lang="zh-TW" altLang="en-US" sz="1600" dirty="0" smtClean="0"/>
              <a:t>函式隨機球的移動方向，</a:t>
            </a:r>
            <a:r>
              <a:rPr lang="zh-TW" altLang="en-US" sz="1600" dirty="0" smtClean="0"/>
              <a:t>但經過多次實驗後，我發現球會往特定的方向移動。上網查了一下，得知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random()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函式初始會以亂數種子來產生亂數</a:t>
            </a:r>
            <a:r>
              <a:rPr lang="zh-TW" altLang="en-US" sz="1600" dirty="0" smtClean="0"/>
              <a:t>，導致每次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初始過後取的亂數會依照一定的順序</a:t>
            </a:r>
            <a:r>
              <a:rPr lang="zh-TW" altLang="en-US" sz="1600" dirty="0" smtClean="0"/>
              <a:t>。我想要讓球的移動方向更隨機，這也是為什麼我後來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加了超音波感測器</a:t>
            </a:r>
            <a:r>
              <a:rPr lang="zh-TW" altLang="en-US" sz="1600" dirty="0" smtClean="0"/>
              <a:t>，目的是為了讓亂數更亂。試玩了一下，我還蠻滿意的。但經過多次測試，我失望的發現，有機率球會剛好上下反彈，這樣球就永遠不會射進球門，所以我又改寫程式。</a:t>
            </a:r>
          </a:p>
          <a:p>
            <a:pPr marL="0" indent="0" algn="just">
              <a:buNone/>
            </a:pPr>
            <a:r>
              <a:rPr lang="zh-TW" altLang="en-US" sz="2000" b="1" dirty="0" smtClean="0"/>
              <a:t>最</a:t>
            </a:r>
            <a:r>
              <a:rPr lang="zh-TW" altLang="en-US" sz="1600" dirty="0"/>
              <a:t>後只</a:t>
            </a:r>
            <a:r>
              <a:rPr lang="zh-TW" altLang="en-US" sz="1600" dirty="0" smtClean="0"/>
              <a:t>差用電腦自動控</a:t>
            </a:r>
            <a:r>
              <a:rPr lang="zh-TW" altLang="en-US" sz="1600" dirty="0"/>
              <a:t>制對</a:t>
            </a:r>
            <a:r>
              <a:rPr lang="zh-TW" altLang="en-US" sz="1600" dirty="0" smtClean="0"/>
              <a:t>手的球拍了</a:t>
            </a:r>
            <a:r>
              <a:rPr lang="zh-TW" altLang="en-US" sz="1600" dirty="0"/>
              <a:t>，我想到一個最簡單的方式</a:t>
            </a:r>
            <a:r>
              <a:rPr lang="en-US" altLang="zh-TW" sz="1600" dirty="0"/>
              <a:t>——</a:t>
            </a:r>
            <a:r>
              <a:rPr lang="zh-TW" altLang="en-US" sz="1600" b="1" dirty="0">
                <a:solidFill>
                  <a:srgbClr val="FFFF00"/>
                </a:solidFill>
              </a:rPr>
              <a:t>球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拍的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y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座標跟</a:t>
            </a:r>
            <a:r>
              <a:rPr lang="zh-TW" altLang="en-US" sz="1600" b="1" dirty="0">
                <a:solidFill>
                  <a:srgbClr val="FFFF00"/>
                </a:solidFill>
              </a:rPr>
              <a:t>著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球的</a:t>
            </a:r>
            <a:r>
              <a:rPr lang="en-US" altLang="zh-TW" sz="1600" b="1" dirty="0" smtClean="0">
                <a:solidFill>
                  <a:srgbClr val="FFFF00"/>
                </a:solidFill>
              </a:rPr>
              <a:t>y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座標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走；球門則往反向移動</a:t>
            </a:r>
            <a:r>
              <a:rPr lang="zh-TW" altLang="en-US" sz="1600" dirty="0" smtClean="0"/>
              <a:t>。</a:t>
            </a:r>
            <a:r>
              <a:rPr lang="zh-TW" altLang="en-US" sz="1600" dirty="0" smtClean="0"/>
              <a:t>但這</a:t>
            </a:r>
            <a:r>
              <a:rPr lang="zh-TW" altLang="en-US" sz="1600" dirty="0"/>
              <a:t>樣對手就顯得很假，我想要它看起來是另一個真人在玩，於是</a:t>
            </a:r>
            <a:r>
              <a:rPr lang="zh-TW" altLang="en-US" sz="1600" dirty="0" smtClean="0"/>
              <a:t>我想到用</a:t>
            </a:r>
            <a:r>
              <a:rPr lang="zh-TW" altLang="en-US" sz="1600" dirty="0"/>
              <a:t>三種方式模擬真人的操控</a:t>
            </a:r>
            <a:r>
              <a:rPr lang="en-US" altLang="zh-TW" sz="1600" dirty="0"/>
              <a:t>——</a:t>
            </a:r>
            <a:r>
              <a:rPr lang="zh-TW" altLang="en-US" sz="1600" b="1" dirty="0">
                <a:solidFill>
                  <a:srgbClr val="FFFF00"/>
                </a:solidFill>
              </a:rPr>
              <a:t>球在靠近玩家的那一半場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地時不</a:t>
            </a:r>
            <a:r>
              <a:rPr lang="zh-TW" altLang="en-US" sz="1600" b="1" dirty="0">
                <a:solidFill>
                  <a:srgbClr val="FFFF00"/>
                </a:solidFill>
              </a:rPr>
              <a:t>需要動作；球拍隨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機左右移</a:t>
            </a:r>
            <a:r>
              <a:rPr lang="zh-TW" altLang="en-US" sz="1600" b="1" dirty="0">
                <a:solidFill>
                  <a:srgbClr val="FFFF00"/>
                </a:solidFill>
              </a:rPr>
              <a:t>動；隨機製造錯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誤移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動</a:t>
            </a:r>
            <a:r>
              <a:rPr lang="zh-TW" altLang="en-US" sz="1600" dirty="0" smtClean="0"/>
              <a:t>。</a:t>
            </a:r>
            <a:endParaRPr lang="zh-TW" altLang="en-US" sz="1600" dirty="0"/>
          </a:p>
          <a:p>
            <a:pPr marL="0" indent="0" algn="just">
              <a:buNone/>
            </a:pPr>
            <a:r>
              <a:rPr lang="zh-TW" altLang="en-US" sz="2000" b="1" dirty="0" smtClean="0"/>
              <a:t>接</a:t>
            </a:r>
            <a:r>
              <a:rPr lang="zh-TW" altLang="en-US" sz="1600" dirty="0" smtClean="0"/>
              <a:t>著，</a:t>
            </a:r>
            <a:r>
              <a:rPr lang="zh-TW" altLang="en-US" sz="1600" dirty="0"/>
              <a:t>我再加一</a:t>
            </a:r>
            <a:r>
              <a:rPr lang="zh-TW" altLang="en-US" sz="1600" dirty="0" smtClean="0"/>
              <a:t>點音</a:t>
            </a:r>
            <a:r>
              <a:rPr lang="zh-TW" altLang="en-US" sz="1600" dirty="0"/>
              <a:t>效及</a:t>
            </a:r>
            <a:r>
              <a:rPr lang="en-US" altLang="zh-TW" sz="1600" dirty="0"/>
              <a:t>LED</a:t>
            </a:r>
            <a:r>
              <a:rPr lang="zh-TW" altLang="en-US" sz="1600" dirty="0"/>
              <a:t>的閃爍效果，更改一</a:t>
            </a:r>
            <a:r>
              <a:rPr lang="zh-TW" altLang="en-US" sz="1600" dirty="0" smtClean="0"/>
              <a:t>下畫面的</a:t>
            </a:r>
            <a:r>
              <a:rPr lang="zh-TW" altLang="en-US" sz="1600" dirty="0"/>
              <a:t>細</a:t>
            </a:r>
            <a:r>
              <a:rPr lang="zh-TW" altLang="en-US" sz="1600" dirty="0" smtClean="0"/>
              <a:t>節。最</a:t>
            </a:r>
            <a:r>
              <a:rPr lang="zh-TW" altLang="en-US" sz="1600" dirty="0"/>
              <a:t>終，我終於製作出來了！ </a:t>
            </a:r>
          </a:p>
        </p:txBody>
      </p:sp>
      <p:sp>
        <p:nvSpPr>
          <p:cNvPr id="5" name="文字方塊 4"/>
          <p:cNvSpPr txBox="1"/>
          <p:nvPr/>
        </p:nvSpPr>
        <p:spPr>
          <a:xfrm rot="16200000">
            <a:off x="5457143" y="506398"/>
            <a:ext cx="1274536" cy="1170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0" dirty="0" smtClean="0"/>
              <a:t>#include &lt;Adafruit_ssd1306syp.h&gt;</a:t>
            </a:r>
          </a:p>
          <a:p>
            <a:r>
              <a:rPr lang="en-US" altLang="zh-TW" sz="170" dirty="0" smtClean="0"/>
              <a:t>Adafruit_ssd1306syp A(A3,A2);</a:t>
            </a:r>
          </a:p>
          <a:p>
            <a:r>
              <a:rPr lang="en-US" altLang="zh-TW" sz="170" dirty="0" smtClean="0"/>
              <a:t>int h = 0, s = 0;</a:t>
            </a:r>
          </a:p>
          <a:p>
            <a:r>
              <a:rPr lang="en-US" altLang="zh-TW" sz="170" dirty="0" smtClean="0"/>
              <a:t>const double Pi = 3.14;</a:t>
            </a:r>
          </a:p>
          <a:p>
            <a:r>
              <a:rPr lang="en-US" altLang="zh-TW" sz="170" dirty="0" smtClean="0"/>
              <a:t>const unsigned char PROGMEM bmp[] =</a:t>
            </a:r>
          </a:p>
          <a:p>
            <a:r>
              <a:rPr lang="en-US" altLang="zh-TW" sz="170" dirty="0" smtClean="0"/>
              <a:t>{  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};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setup() {</a:t>
            </a:r>
          </a:p>
          <a:p>
            <a:r>
              <a:rPr lang="en-US" altLang="zh-TW" sz="170" dirty="0" smtClean="0"/>
              <a:t>  Serial.begin(250000);</a:t>
            </a:r>
          </a:p>
          <a:p>
            <a:r>
              <a:rPr lang="en-US" altLang="zh-TW" sz="170" dirty="0" smtClean="0"/>
              <a:t>  for (int i = 8; i &lt;= 11; i++) {</a:t>
            </a:r>
          </a:p>
          <a:p>
            <a:r>
              <a:rPr lang="en-US" altLang="zh-TW" sz="170" dirty="0" smtClean="0"/>
              <a:t>    pinMode (i, OUTPUT);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pinMode (13, INPUT);</a:t>
            </a:r>
          </a:p>
          <a:p>
            <a:r>
              <a:rPr lang="en-US" altLang="zh-TW" sz="170" dirty="0" smtClean="0"/>
              <a:t>  pinMode (12, INPUT);</a:t>
            </a:r>
          </a:p>
          <a:p>
            <a:r>
              <a:rPr lang="en-US" altLang="zh-TW" sz="170" dirty="0" smtClean="0"/>
              <a:t>  pinMode(7,INPUT);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pinMode (5, OUTPUT);</a:t>
            </a:r>
          </a:p>
          <a:p>
            <a:r>
              <a:rPr lang="en-US" altLang="zh-TW" sz="170" dirty="0" smtClean="0"/>
              <a:t>  pinMode (6, 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digitalWrite(10, LOW);   //LED</a:t>
            </a:r>
            <a:r>
              <a:rPr lang="zh-TW" altLang="en-US" sz="170" dirty="0" smtClean="0"/>
              <a:t>燈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digitalWrite(9, LOW);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A.initialize();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int Adisplay(int ag, int bg, int axl, int ayu, int bxl, int byu, int ballx, int bally) {    //</a:t>
            </a:r>
            <a:r>
              <a:rPr lang="zh-TW" altLang="en-US" sz="170" dirty="0" smtClean="0"/>
              <a:t>顯示畫面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顯示分數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A.drawLine(0, 17, 127, 17,WHITE);    //</a:t>
            </a:r>
            <a:r>
              <a:rPr lang="zh-TW" altLang="en-US" sz="170" dirty="0" smtClean="0"/>
              <a:t>顯示外框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A.drawLine(0, 63, 127, 63,WHITE);</a:t>
            </a:r>
          </a:p>
          <a:p>
            <a:r>
              <a:rPr lang="en-US" altLang="zh-TW" sz="170" dirty="0" smtClean="0"/>
              <a:t>  for (int i = 17; i &lt; 63; i += 2) {</a:t>
            </a:r>
          </a:p>
          <a:p>
            <a:r>
              <a:rPr lang="en-US" altLang="zh-TW" sz="170" dirty="0" smtClean="0"/>
              <a:t>    A.drawLine(63, i, 64, i,WHITE);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A.drawLine(0, 17, 0, ag,WHITE);</a:t>
            </a:r>
          </a:p>
          <a:p>
            <a:r>
              <a:rPr lang="en-US" altLang="zh-TW" sz="170" dirty="0" smtClean="0"/>
              <a:t>  A.drawLine(0, 63, 0, ag + 30,WHITE);</a:t>
            </a:r>
          </a:p>
          <a:p>
            <a:r>
              <a:rPr lang="en-US" altLang="zh-TW" sz="170" dirty="0" smtClean="0"/>
              <a:t>  A.drawLine(127, 17, 127, bg,WHITE);</a:t>
            </a:r>
          </a:p>
          <a:p>
            <a:r>
              <a:rPr lang="en-US" altLang="zh-TW" sz="170" dirty="0" smtClean="0"/>
              <a:t>  A.drawLine(127, 63, 127, bg + 30,WHITE);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A.drawLine(axl, ayu, axl + 5, ayu,WHITE);   //</a:t>
            </a:r>
            <a:r>
              <a:rPr lang="zh-TW" altLang="en-US" sz="170" dirty="0" smtClean="0"/>
              <a:t>顯示玩家球拍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A.drawLine(axl, ayu + 16, axl + 5, ayu + 16,WHITE);</a:t>
            </a:r>
          </a:p>
          <a:p>
            <a:r>
              <a:rPr lang="en-US" altLang="zh-TW" sz="170" dirty="0" smtClean="0"/>
              <a:t>  A.drawLine(axl, ayu, axl, ayu + 16,WHITE);</a:t>
            </a:r>
          </a:p>
          <a:p>
            <a:r>
              <a:rPr lang="en-US" altLang="zh-TW" sz="170" dirty="0" smtClean="0"/>
              <a:t>  A.drawLine(axl + 5, ayu, axl + 5, ayu + 16,WHITE);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A.drawLine(bxl, byu, bxl + 5, byu,WHITE);   //</a:t>
            </a:r>
            <a:r>
              <a:rPr lang="zh-TW" altLang="en-US" sz="170" dirty="0" smtClean="0"/>
              <a:t>顯示對手球拍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A.drawLine(bxl, byu + 16, bxl + 5, byu + 16,WHITE);</a:t>
            </a:r>
          </a:p>
          <a:p>
            <a:r>
              <a:rPr lang="en-US" altLang="zh-TW" sz="170" dirty="0" smtClean="0"/>
              <a:t>  A.drawLine(bxl, byu, bxl, byu + 16,WHITE);</a:t>
            </a:r>
          </a:p>
          <a:p>
            <a:r>
              <a:rPr lang="en-US" altLang="zh-TW" sz="170" dirty="0" smtClean="0"/>
              <a:t>  A.drawLine(bxl + 5, byu, bxl + 5, byu + 16,WHITE);</a:t>
            </a:r>
          </a:p>
          <a:p>
            <a:r>
              <a:rPr lang="en-US" altLang="zh-TW" sz="170" dirty="0" smtClean="0"/>
              <a:t>        </a:t>
            </a:r>
          </a:p>
          <a:p>
            <a:r>
              <a:rPr lang="en-US" altLang="zh-TW" sz="170" dirty="0" smtClean="0"/>
              <a:t>  A.drawBitmap(ballx, bally, bmp, 8, 8, 1);   //</a:t>
            </a:r>
            <a:r>
              <a:rPr lang="zh-TW" altLang="en-US" sz="170" dirty="0" smtClean="0"/>
              <a:t>顯示球</a:t>
            </a:r>
          </a:p>
          <a:p>
            <a:endParaRPr lang="zh-TW" altLang="en-US" sz="170" dirty="0" smtClean="0"/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A.update();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loop() {</a:t>
            </a:r>
          </a:p>
          <a:p>
            <a:r>
              <a:rPr lang="en-US" altLang="zh-TW" sz="170" dirty="0" smtClean="0"/>
              <a:t>  int flag = 1;</a:t>
            </a:r>
          </a:p>
          <a:p>
            <a:r>
              <a:rPr lang="en-US" altLang="zh-TW" sz="170" dirty="0" smtClean="0"/>
              <a:t>  if (h &lt; s) {</a:t>
            </a:r>
          </a:p>
          <a:p>
            <a:r>
              <a:rPr lang="en-US" altLang="zh-TW" sz="170" dirty="0" smtClean="0"/>
              <a:t>    h = s;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digitalWrite(13, HIGH);</a:t>
            </a:r>
          </a:p>
          <a:p>
            <a:r>
              <a:rPr lang="en-US" altLang="zh-TW" sz="170" dirty="0" smtClean="0"/>
              <a:t>  digitalWrite(12, HIGH);</a:t>
            </a:r>
          </a:p>
          <a:p>
            <a:r>
              <a:rPr lang="en-US" altLang="zh-TW" sz="170" dirty="0" smtClean="0"/>
              <a:t>  digitalWrite(7, HIGH);</a:t>
            </a:r>
          </a:p>
          <a:p>
            <a:r>
              <a:rPr lang="en-US" altLang="zh-TW" sz="170" dirty="0" smtClean="0"/>
              <a:t>  while (digitalRead(12) &amp;&amp; digitalRead(13) &amp;&amp; digitalRead(7) &amp;&amp; flag) {    //</a:t>
            </a:r>
            <a:r>
              <a:rPr lang="zh-TW" altLang="en-US" sz="170" dirty="0" smtClean="0"/>
              <a:t>遊戲初始介面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固定的圖案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  A.println("* highest score");</a:t>
            </a:r>
          </a:p>
          <a:p>
            <a:r>
              <a:rPr lang="en-US" altLang="zh-TW" sz="170" dirty="0" smtClean="0"/>
              <a:t>    A.setCursor(95,8);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A.println(h);</a:t>
            </a:r>
          </a:p>
          <a:p>
            <a:r>
              <a:rPr lang="en-US" altLang="zh-TW" sz="170" dirty="0" smtClean="0"/>
              <a:t>    A.setCursor(0,18);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A.println("your score");</a:t>
            </a:r>
          </a:p>
          <a:p>
            <a:r>
              <a:rPr lang="en-US" altLang="zh-TW" sz="170" dirty="0" smtClean="0"/>
              <a:t>    A.setCursor(65,18);</a:t>
            </a:r>
          </a:p>
          <a:p>
            <a:r>
              <a:rPr lang="en-US" altLang="zh-TW" sz="170" dirty="0" smtClean="0"/>
              <a:t>    A.println(s);</a:t>
            </a:r>
          </a:p>
          <a:p>
            <a:r>
              <a:rPr lang="en-US" altLang="zh-TW" sz="170" dirty="0" smtClean="0"/>
              <a:t>    A.drawLine(6, 34, 112, 34,WHITE);</a:t>
            </a:r>
          </a:p>
          <a:p>
            <a:r>
              <a:rPr lang="en-US" altLang="zh-TW" sz="170" dirty="0" smtClean="0"/>
              <a:t>    A.drawLine(6, 57, 112, 57,WHITE);</a:t>
            </a:r>
          </a:p>
          <a:p>
            <a:r>
              <a:rPr lang="en-US" altLang="zh-TW" sz="170" dirty="0" smtClean="0"/>
              <a:t>    A.drawLine(6, 34, 6, 57,WHITE);</a:t>
            </a:r>
          </a:p>
          <a:p>
            <a:r>
              <a:rPr lang="en-US" altLang="zh-TW" sz="170" dirty="0" smtClean="0"/>
              <a:t>    A.drawLine(112, 34, 112, 57,WHITE);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digitalWrite(4, LOW);</a:t>
            </a:r>
          </a:p>
          <a:p>
            <a:r>
              <a:rPr lang="en-US" altLang="zh-TW" sz="170" dirty="0" smtClean="0"/>
              <a:t>    A.setCursor(0,38);   //</a:t>
            </a:r>
            <a:r>
              <a:rPr lang="zh-TW" altLang="en-US" sz="170" dirty="0" smtClean="0"/>
              <a:t>閃爍的圖案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A.println("  press any button");</a:t>
            </a:r>
          </a:p>
          <a:p>
            <a:r>
              <a:rPr lang="en-US" altLang="zh-TW" sz="170" dirty="0" smtClean="0"/>
              <a:t>    A.println("     to start");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digitalWrite(4, HIGH);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digitalWrite(4, LOW);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for (int i = 3; i &gt; 0; i--) {    //</a:t>
            </a:r>
            <a:r>
              <a:rPr lang="zh-TW" altLang="en-US" sz="170" dirty="0" smtClean="0"/>
              <a:t>倒數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A.clear();</a:t>
            </a:r>
          </a:p>
          <a:p>
            <a:r>
              <a:rPr lang="en-US" altLang="zh-TW" sz="170" dirty="0" smtClean="0"/>
              <a:t>    A.setCursor(0,8);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A.println("game start in :");</a:t>
            </a:r>
          </a:p>
          <a:p>
            <a:r>
              <a:rPr lang="en-US" altLang="zh-TW" sz="170" dirty="0" smtClean="0"/>
              <a:t>    A.setCursor(54,25);</a:t>
            </a:r>
          </a:p>
          <a:p>
            <a:r>
              <a:rPr lang="en-US" altLang="zh-TW" sz="170" dirty="0" smtClean="0"/>
              <a:t>    A.setTextSize(4);</a:t>
            </a:r>
          </a:p>
          <a:p>
            <a:r>
              <a:rPr lang="en-US" altLang="zh-TW" sz="170" dirty="0" smtClean="0"/>
              <a:t>    A.println(i);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tone(11, 659, 250);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digitalWrite(i + 7, LOW);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  A.setCursor(27,20);</a:t>
            </a:r>
          </a:p>
          <a:p>
            <a:r>
              <a:rPr lang="en-US" altLang="zh-TW" sz="170" dirty="0" smtClean="0"/>
              <a:t>  A.setTextSize(5);</a:t>
            </a:r>
          </a:p>
          <a:p>
            <a:r>
              <a:rPr lang="en-US" altLang="zh-TW" sz="170" dirty="0" smtClean="0"/>
              <a:t>  A.println("GO!");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tone(11, 1318, 500);</a:t>
            </a:r>
          </a:p>
          <a:p>
            <a:r>
              <a:rPr lang="en-US" altLang="zh-TW" sz="170" dirty="0" smtClean="0"/>
              <a:t>  digitalWrite(4, HIGH);</a:t>
            </a:r>
          </a:p>
          <a:p>
            <a:r>
              <a:rPr lang="en-US" altLang="zh-TW" sz="170" dirty="0" smtClean="0"/>
              <a:t>  delay(1000);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//</a:t>
            </a:r>
            <a:r>
              <a:rPr lang="zh-TW" altLang="en-US" sz="170" dirty="0" smtClean="0"/>
              <a:t>遊戲開始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int life = 3, ag, bg, axl, ayu, bxl, byu, ballx, bally, ballspeed = 6, t, times = 0;</a:t>
            </a:r>
          </a:p>
          <a:p>
            <a:r>
              <a:rPr lang="en-US" altLang="zh-TW" sz="170" dirty="0" smtClean="0"/>
              <a:t>  s = 0;</a:t>
            </a:r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while (life) {</a:t>
            </a:r>
          </a:p>
          <a:p>
            <a:r>
              <a:rPr lang="en-US" altLang="zh-TW" sz="170" dirty="0" smtClean="0"/>
              <a:t>    ag = 25, bg = 25, axl = 20, ayu = 32, bxl = 102, byu = 32, ballx = 60, bally = 36;</a:t>
            </a:r>
          </a:p>
          <a:p>
            <a:r>
              <a:rPr lang="en-US" altLang="zh-TW" sz="170" dirty="0" smtClean="0"/>
              <a:t>    bool rebounda = 1, reboundb = 0, speedup = 0;</a:t>
            </a:r>
          </a:p>
          <a:p>
            <a:r>
              <a:rPr lang="en-US" altLang="zh-TW" sz="170" dirty="0" smtClean="0"/>
              <a:t>    times++;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digitalWrite(5, HIGH);    //</a:t>
            </a:r>
            <a:r>
              <a:rPr lang="zh-TW" altLang="en-US" sz="170" dirty="0" smtClean="0"/>
              <a:t>速度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方向設定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delayMicroseconds(10); </a:t>
            </a:r>
          </a:p>
          <a:p>
            <a:r>
              <a:rPr lang="en-US" altLang="zh-TW" sz="170" dirty="0" smtClean="0"/>
              <a:t>    digitalWrite(5, LOW); </a:t>
            </a:r>
          </a:p>
          <a:p>
            <a:r>
              <a:rPr lang="en-US" altLang="zh-TW" sz="170" dirty="0" smtClean="0"/>
              <a:t>    int time_echo = pulseIn(6, HIGH);</a:t>
            </a:r>
          </a:p>
          <a:p>
            <a:r>
              <a:rPr lang="en-US" altLang="zh-TW" sz="170" dirty="0" smtClean="0"/>
              <a:t>    Serial.print(time_echo);</a:t>
            </a:r>
          </a:p>
          <a:p>
            <a:r>
              <a:rPr lang="en-US" altLang="zh-TW" sz="170" dirty="0" smtClean="0"/>
              <a:t>    t = (time_echo + random(10000)) % 60 - 30;</a:t>
            </a:r>
          </a:p>
          <a:p>
            <a:r>
              <a:rPr lang="en-US" altLang="zh-TW" sz="170" dirty="0" smtClean="0"/>
              <a:t>    if ((random(2) + time_echo) % 2) {</a:t>
            </a:r>
          </a:p>
          <a:p>
            <a:r>
              <a:rPr lang="en-US" altLang="zh-TW" sz="170" dirty="0" smtClean="0"/>
              <a:t>      t = 180 - t;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ballspeed += ballspeed / 2.6 / times;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  Adisplay(ag, bg, axl, ayu, bxl, byu, ballx, bally);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while (1) {</a:t>
            </a:r>
          </a:p>
          <a:p>
            <a:r>
              <a:rPr lang="en-US" altLang="zh-TW" sz="170" dirty="0" smtClean="0"/>
              <a:t>      A.clear();</a:t>
            </a:r>
          </a:p>
          <a:p>
            <a:r>
              <a:rPr lang="en-US" altLang="zh-TW" sz="170" dirty="0" smtClean="0"/>
              <a:t>           </a:t>
            </a:r>
          </a:p>
          <a:p>
            <a:r>
              <a:rPr lang="en-US" altLang="zh-TW" sz="170" dirty="0" smtClean="0"/>
              <a:t>      if (!digitalRead(13) &amp;&amp; ag &gt; 17) {   //</a:t>
            </a:r>
            <a:r>
              <a:rPr lang="zh-TW" altLang="en-US" sz="170" dirty="0" smtClean="0"/>
              <a:t>玩家操控球門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ag -=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(!digitalRead(12) &amp;&amp; ag &lt; 33) {</a:t>
            </a:r>
          </a:p>
          <a:p>
            <a:r>
              <a:rPr lang="en-US" altLang="zh-TW" sz="170" dirty="0" smtClean="0"/>
              <a:t>        ag +=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(analogRead(A4) &lt; 550) {   //</a:t>
            </a:r>
            <a:r>
              <a:rPr lang="zh-TW" altLang="en-US" sz="170" dirty="0" smtClean="0"/>
              <a:t>玩家操控球拍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(axl + pow((550 - analogRead(A4)) / 165, 1.2) &lt; 58) {</a:t>
            </a:r>
          </a:p>
          <a:p>
            <a:r>
              <a:rPr lang="en-US" altLang="zh-TW" sz="170" dirty="0" smtClean="0"/>
              <a:t>          axl += pow((550 - analogRead(A4))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58;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(analogRead(A4) &gt; 500) {</a:t>
            </a:r>
          </a:p>
          <a:p>
            <a:r>
              <a:rPr lang="en-US" altLang="zh-TW" sz="170" dirty="0" smtClean="0"/>
              <a:t>        if (axl - pow((analogRead(A4) - 500) / 150, 1.2) &gt; 20) {</a:t>
            </a:r>
          </a:p>
          <a:p>
            <a:r>
              <a:rPr lang="en-US" altLang="zh-TW" sz="170" dirty="0" smtClean="0"/>
              <a:t>          axl -= pow((analogRead(A4)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20;</a:t>
            </a:r>
          </a:p>
          <a:p>
            <a:r>
              <a:rPr lang="en-US" altLang="zh-TW" sz="170" dirty="0" smtClean="0"/>
              <a:t>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&lt; 550) {</a:t>
            </a:r>
          </a:p>
          <a:p>
            <a:r>
              <a:rPr lang="en-US" altLang="zh-TW" sz="170" dirty="0" smtClean="0"/>
              <a:t>        if (ayu - pow((550 - analogRead(A5)) / 165, 1.2) &gt; 17) {</a:t>
            </a:r>
          </a:p>
          <a:p>
            <a:r>
              <a:rPr lang="en-US" altLang="zh-TW" sz="170" dirty="0" smtClean="0"/>
              <a:t>          ayu -= pow((550 - analogRead(A5))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 ayu = 17;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&gt; 500) {</a:t>
            </a:r>
          </a:p>
          <a:p>
            <a:r>
              <a:rPr lang="en-US" altLang="zh-TW" sz="170" dirty="0" smtClean="0"/>
              <a:t>        if (ayu + pow((analogRead(A5) - 500) / 150, 1.2) &lt; 46) {</a:t>
            </a:r>
          </a:p>
          <a:p>
            <a:r>
              <a:rPr lang="en-US" altLang="zh-TW" sz="170" dirty="0" smtClean="0"/>
              <a:t>          ayu += pow((analogRead(A5)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ayu = 46;</a:t>
            </a:r>
          </a:p>
          <a:p>
            <a:r>
              <a:rPr lang="en-US" altLang="zh-TW" sz="170" dirty="0" smtClean="0"/>
              <a:t>         }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(ballx &gt; 96) {   //</a:t>
            </a:r>
            <a:r>
              <a:rPr lang="zh-TW" altLang="en-US" sz="170" dirty="0" smtClean="0"/>
              <a:t>電腦操控球門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   </a:t>
            </a:r>
          </a:p>
          <a:p>
            <a:r>
              <a:rPr lang="en-US" altLang="zh-TW" sz="170" dirty="0" smtClean="0"/>
              <a:t>        if (k &lt;= 4) {</a:t>
            </a:r>
          </a:p>
          <a:p>
            <a:r>
              <a:rPr lang="en-US" altLang="zh-TW" sz="170" dirty="0" smtClean="0"/>
              <a:t>          if (bg &gt; 17 &amp;&amp; bally &gt; 40)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&lt; 32)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== 5) {</a:t>
            </a:r>
          </a:p>
          <a:p>
            <a:r>
              <a:rPr lang="en-US" altLang="zh-TW" sz="170" dirty="0" smtClean="0"/>
              <a:t>          if (bg &gt; 17 &amp;&amp; bally &lt; 32)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&gt; 40)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40) {   //</a:t>
            </a:r>
            <a:r>
              <a:rPr lang="zh-TW" altLang="en-US" sz="170" dirty="0" smtClean="0"/>
              <a:t>電腦操控球拍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</a:t>
            </a:r>
          </a:p>
          <a:p>
            <a:r>
              <a:rPr lang="en-US" altLang="zh-TW" sz="170" dirty="0" smtClean="0"/>
              <a:t>        if (ballx &lt; bxl &amp;&amp; k &gt; 3) {</a:t>
            </a:r>
          </a:p>
          <a:p>
            <a:r>
              <a:rPr lang="en-US" altLang="zh-TW" sz="170" dirty="0" smtClean="0"/>
              <a:t>          if (byu &gt; 20 &amp;&amp; bally &lt; byu)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- 9 &gt; byu) {</a:t>
            </a:r>
          </a:p>
          <a:p>
            <a:r>
              <a:rPr lang="en-US" altLang="zh-TW" sz="170" dirty="0" smtClean="0"/>
              <a:t>            byu += 3; </a:t>
            </a:r>
          </a:p>
          <a:p>
            <a:r>
              <a:rPr lang="en-US" altLang="zh-TW" sz="170" dirty="0" smtClean="0"/>
              <a:t>          }  </a:t>
            </a:r>
          </a:p>
          <a:p>
            <a:r>
              <a:rPr lang="en-US" altLang="zh-TW" sz="170" dirty="0" smtClean="0"/>
              <a:t>          if (bxl &lt; 99 &amp;&amp; k &gt; 7)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 else if (bxl &gt; 67 &amp;&amp; k &lt; 6) {</a:t>
            </a:r>
          </a:p>
          <a:p>
            <a:r>
              <a:rPr lang="en-US" altLang="zh-TW" sz="170" dirty="0" smtClean="0"/>
              <a:t>            bxl -= 3; 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!= 0) {</a:t>
            </a:r>
          </a:p>
          <a:p>
            <a:r>
              <a:rPr lang="en-US" altLang="zh-TW" sz="170" dirty="0" smtClean="0"/>
              <a:t>          if (byu &gt; 20 &amp;&amp; bally &gt; 46 - (times % 2) * 20)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&lt; 63) {</a:t>
            </a:r>
          </a:p>
          <a:p>
            <a:r>
              <a:rPr lang="en-US" altLang="zh-TW" sz="170" dirty="0" smtClean="0"/>
              <a:t>            byu += 3;</a:t>
            </a:r>
          </a:p>
          <a:p>
            <a:r>
              <a:rPr lang="en-US" altLang="zh-TW" sz="170" dirty="0" smtClean="0"/>
              <a:t>          } </a:t>
            </a:r>
          </a:p>
          <a:p>
            <a:r>
              <a:rPr lang="en-US" altLang="zh-TW" sz="170" dirty="0" smtClean="0"/>
              <a:t>          if (bxl &lt; 99)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(bally &lt; 20) {   //</a:t>
            </a:r>
            <a:r>
              <a:rPr lang="zh-TW" altLang="en-US" sz="170" dirty="0" smtClean="0"/>
              <a:t>球反彈場地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進球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t = 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54) {</a:t>
            </a:r>
          </a:p>
          <a:p>
            <a:r>
              <a:rPr lang="en-US" altLang="zh-TW" sz="170" dirty="0" smtClean="0"/>
              <a:t>        t = -abs(t);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&lt; 1) {</a:t>
            </a:r>
          </a:p>
          <a:p>
            <a:r>
              <a:rPr lang="en-US" altLang="zh-TW" sz="170" dirty="0" smtClean="0"/>
              <a:t>        rebounda = 0, reboundb = 0, speedup = 0;</a:t>
            </a:r>
          </a:p>
          <a:p>
            <a:r>
              <a:rPr lang="en-US" altLang="zh-TW" sz="170" dirty="0" smtClean="0"/>
              <a:t>        if (bally &gt;= ag &amp;&amp; bally &lt;= ag + 22) {</a:t>
            </a:r>
          </a:p>
          <a:p>
            <a:r>
              <a:rPr lang="en-US" altLang="zh-TW" sz="170" dirty="0" smtClean="0"/>
              <a:t>          life--;</a:t>
            </a:r>
          </a:p>
          <a:p>
            <a:r>
              <a:rPr lang="en-US" altLang="zh-TW" sz="170" dirty="0" smtClean="0"/>
              <a:t>          A.clear();</a:t>
            </a:r>
          </a:p>
          <a:p>
            <a:r>
              <a:rPr lang="en-US" altLang="zh-TW" sz="170" dirty="0" smtClean="0"/>
              <a:t>          Adisplay(ag, bg, axl, ayu, bxl, byu, -100, -100);</a:t>
            </a:r>
          </a:p>
          <a:p>
            <a:r>
              <a:rPr lang="en-US" altLang="zh-TW" sz="170" dirty="0" smtClean="0"/>
              <a:t>          for (int i = 0; i &lt; 3; i++) {   //</a:t>
            </a:r>
            <a:r>
              <a:rPr lang="zh-TW" altLang="en-US" sz="170" dirty="0" smtClean="0"/>
              <a:t>電腦進球動畫</a:t>
            </a:r>
          </a:p>
          <a:p>
            <a:r>
              <a:rPr lang="zh-TW" altLang="en-US" sz="170" dirty="0" smtClean="0"/>
              <a:t>            </a:t>
            </a:r>
            <a:r>
              <a:rPr lang="en-US" altLang="zh-TW" sz="170" dirty="0" smtClean="0"/>
              <a:t>digitalWrite(life + 8, LOW);</a:t>
            </a:r>
          </a:p>
          <a:p>
            <a:r>
              <a:rPr lang="en-US" altLang="zh-TW" sz="170" dirty="0" smtClean="0"/>
              <a:t>            tone(11, 466,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  digitalWrite(life + 8, HIGH);</a:t>
            </a:r>
          </a:p>
          <a:p>
            <a:r>
              <a:rPr lang="en-US" altLang="zh-TW" sz="170" dirty="0" smtClean="0"/>
              <a:t>            tone(11, 440,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digitalWrite(life + 8, LOW);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&gt; 118) {</a:t>
            </a:r>
          </a:p>
          <a:p>
            <a:r>
              <a:rPr lang="en-US" altLang="zh-TW" sz="170" dirty="0" smtClean="0"/>
              <a:t>        rebounda = 1, reboundb = 1, speedup = 0;</a:t>
            </a:r>
          </a:p>
          <a:p>
            <a:r>
              <a:rPr lang="en-US" altLang="zh-TW" sz="170" dirty="0" smtClean="0"/>
              <a:t>        A.clear();</a:t>
            </a:r>
          </a:p>
          <a:p>
            <a:r>
              <a:rPr lang="en-US" altLang="zh-TW" sz="170" dirty="0" smtClean="0"/>
              <a:t>        Adisplay(ag, bg, axl, ayu, bxl, byu, -100, -100);</a:t>
            </a:r>
          </a:p>
          <a:p>
            <a:r>
              <a:rPr lang="en-US" altLang="zh-TW" sz="170" dirty="0" smtClean="0"/>
              <a:t>        if (bally &gt;= bg &amp;&amp; bally &lt;= bg + 22) {   //</a:t>
            </a:r>
            <a:r>
              <a:rPr lang="zh-TW" altLang="en-US" sz="170" dirty="0" smtClean="0"/>
              <a:t>玩家進球動畫</a:t>
            </a:r>
          </a:p>
          <a:p>
            <a:r>
              <a:rPr lang="zh-TW" altLang="en-US" sz="170" dirty="0" smtClean="0"/>
              <a:t>          </a:t>
            </a:r>
            <a:r>
              <a:rPr lang="en-US" altLang="zh-TW" sz="170" dirty="0" smtClean="0"/>
              <a:t>s += 100;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784,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988,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1046, 200);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axl - 8 &amp;&amp; ballx &lt; axl + 9 &amp;&amp; bally &gt; ayu - 8 &amp;&amp; bally &lt; ayu + 17) {    //</a:t>
            </a:r>
            <a:r>
              <a:rPr lang="zh-TW" altLang="en-US" sz="170" dirty="0" smtClean="0"/>
              <a:t>球反彈玩家球拍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(rebounda)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reboundb = 0;</a:t>
            </a:r>
          </a:p>
          <a:p>
            <a:r>
              <a:rPr lang="en-US" altLang="zh-TW" sz="170" dirty="0" smtClean="0"/>
              <a:t>        tone(11, 784, 100);</a:t>
            </a:r>
          </a:p>
          <a:p>
            <a:r>
              <a:rPr lang="en-US" altLang="zh-TW" sz="170" dirty="0" smtClean="0"/>
              <a:t>        if (!digitalRead(7)) {</a:t>
            </a:r>
          </a:p>
          <a:p>
            <a:r>
              <a:rPr lang="en-US" altLang="zh-TW" sz="170" dirty="0" smtClean="0"/>
              <a:t>          speedup = 1;</a:t>
            </a:r>
          </a:p>
          <a:p>
            <a:r>
              <a:rPr lang="en-US" altLang="zh-TW" sz="170" dirty="0" smtClean="0"/>
              <a:t>          t *= 0.7;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speedup = 0;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bxl - 8 &amp;&amp; ballx &lt; bxl + 9 &amp;&amp; bally &gt; byu - 8 &amp;&amp; bally &lt; byu + 17) {    //</a:t>
            </a:r>
            <a:r>
              <a:rPr lang="zh-TW" altLang="en-US" sz="170" dirty="0" smtClean="0"/>
              <a:t>球反彈對手球拍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(reboundb)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if (random(4) + time_echo) {</a:t>
            </a:r>
          </a:p>
          <a:p>
            <a:r>
              <a:rPr lang="en-US" altLang="zh-TW" sz="170" dirty="0" smtClean="0"/>
              <a:t>            speedup = 0;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speedup = 1;</a:t>
            </a:r>
          </a:p>
          <a:p>
            <a:r>
              <a:rPr lang="en-US" altLang="zh-TW" sz="170" dirty="0" smtClean="0"/>
              <a:t>            t *= 0.7;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rebounda = 1;</a:t>
            </a:r>
          </a:p>
          <a:p>
            <a:r>
              <a:rPr lang="en-US" altLang="zh-TW" sz="170" dirty="0" smtClean="0"/>
              <a:t>        tone(11, 1568, 100);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(speedup) {</a:t>
            </a:r>
          </a:p>
          <a:p>
            <a:r>
              <a:rPr lang="en-US" altLang="zh-TW" sz="170" dirty="0" smtClean="0"/>
              <a:t>        ballx += (ballspeed * 1.4)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(ballspeed * 1.4) * sin(t * Pi / 180);</a:t>
            </a:r>
          </a:p>
          <a:p>
            <a:r>
              <a:rPr lang="en-US" altLang="zh-TW" sz="170" dirty="0" smtClean="0"/>
              <a:t>      } else {</a:t>
            </a:r>
          </a:p>
          <a:p>
            <a:r>
              <a:rPr lang="en-US" altLang="zh-TW" sz="170" dirty="0" smtClean="0"/>
              <a:t>        ballx += ballspeed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ballspeed * sin(t * Pi / 180);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119) {</a:t>
            </a:r>
          </a:p>
          <a:p>
            <a:r>
              <a:rPr lang="en-US" altLang="zh-TW" sz="170" dirty="0" smtClean="0"/>
              <a:t>        ballx = 119;</a:t>
            </a:r>
          </a:p>
          <a:p>
            <a:r>
              <a:rPr lang="en-US" altLang="zh-TW" sz="170" dirty="0" smtClean="0"/>
              <a:t>      } else if (ballx &lt; 0) {</a:t>
            </a:r>
          </a:p>
          <a:p>
            <a:r>
              <a:rPr lang="en-US" altLang="zh-TW" sz="170" dirty="0" smtClean="0"/>
              <a:t>        ballx = 0;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55) {</a:t>
            </a:r>
          </a:p>
          <a:p>
            <a:r>
              <a:rPr lang="en-US" altLang="zh-TW" sz="170" dirty="0" smtClean="0"/>
              <a:t>        bally = 55;</a:t>
            </a:r>
          </a:p>
          <a:p>
            <a:r>
              <a:rPr lang="en-US" altLang="zh-TW" sz="170" dirty="0" smtClean="0"/>
              <a:t>      } else if (bally &lt; 18) {</a:t>
            </a:r>
          </a:p>
          <a:p>
            <a:r>
              <a:rPr lang="en-US" altLang="zh-TW" sz="170" dirty="0" smtClean="0"/>
              <a:t>        bally = 18;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Adisplay(ag, bg, axl, ayu, bxl, byu, ballx, bally);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    //</a:t>
            </a:r>
            <a:r>
              <a:rPr lang="zh-TW" altLang="en-US" sz="170" dirty="0" smtClean="0"/>
              <a:t>遊戲結束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A.setCursor(10, 40);</a:t>
            </a:r>
          </a:p>
          <a:p>
            <a:r>
              <a:rPr lang="en-US" altLang="zh-TW" sz="170" dirty="0" smtClean="0"/>
              <a:t>  A.setTextSize(2);</a:t>
            </a:r>
          </a:p>
          <a:p>
            <a:r>
              <a:rPr lang="en-US" altLang="zh-TW" sz="170" dirty="0" smtClean="0"/>
              <a:t>  A.println("GAME OVER");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int p = 120;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for (int i = 440; i &gt; 138; i -= 25.5) {</a:t>
            </a:r>
          </a:p>
          <a:p>
            <a:r>
              <a:rPr lang="en-US" altLang="zh-TW" sz="170" dirty="0" smtClean="0"/>
              <a:t>    digitalWrite(i % 3 + 8, LOW);</a:t>
            </a:r>
          </a:p>
          <a:p>
            <a:r>
              <a:rPr lang="en-US" altLang="zh-TW" sz="170" dirty="0" smtClean="0"/>
              <a:t>    digitalWrite((i + 1) % 3 + 8, LOW);</a:t>
            </a:r>
          </a:p>
          <a:p>
            <a:r>
              <a:rPr lang="en-US" altLang="zh-TW" sz="170" dirty="0" smtClean="0"/>
              <a:t>    digitalWrite((i + 2) % 3 + 8, HIGH);</a:t>
            </a:r>
          </a:p>
          <a:p>
            <a:r>
              <a:rPr lang="en-US" altLang="zh-TW" sz="170" dirty="0" smtClean="0"/>
              <a:t>    tone(11, i);</a:t>
            </a:r>
          </a:p>
          <a:p>
            <a:r>
              <a:rPr lang="en-US" altLang="zh-TW" sz="170" dirty="0" smtClean="0"/>
              <a:t>    delay(p / 3);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digitalWrite(9, LOW);</a:t>
            </a:r>
          </a:p>
          <a:p>
            <a:r>
              <a:rPr lang="en-US" altLang="zh-TW" sz="170" dirty="0" smtClean="0"/>
              <a:t>  digitalWrite(10, LOW);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delay(p * 8);</a:t>
            </a:r>
          </a:p>
          <a:p>
            <a:r>
              <a:rPr lang="en-US" altLang="zh-TW" sz="170" dirty="0" smtClean="0"/>
              <a:t>  tone(11, 784);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1661);</a:t>
            </a:r>
          </a:p>
          <a:p>
            <a:r>
              <a:rPr lang="en-US" altLang="zh-TW" sz="170" dirty="0" smtClean="0"/>
              <a:t>  delay(p * 2);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1397);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 * 4);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delay(2500);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}</a:t>
            </a:r>
            <a:endParaRPr lang="zh-TW" altLang="en-US" sz="170" dirty="0"/>
          </a:p>
        </p:txBody>
      </p:sp>
    </p:spTree>
    <p:extLst>
      <p:ext uri="{BB962C8B-B14F-4D97-AF65-F5344CB8AC3E}">
        <p14:creationId xmlns:p14="http://schemas.microsoft.com/office/powerpoint/2010/main" val="395948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心得與反思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sz="2000" b="1" dirty="0" smtClean="0"/>
              <a:t>經</a:t>
            </a:r>
            <a:r>
              <a:rPr lang="zh-TW" altLang="en-US" sz="1600" dirty="0" smtClean="0"/>
              <a:t>過這次的經驗，我對於</a:t>
            </a:r>
            <a:r>
              <a:rPr lang="en-US" altLang="zh-TW" sz="1600" dirty="0" smtClean="0"/>
              <a:t>Arduino</a:t>
            </a:r>
            <a:r>
              <a:rPr lang="zh-TW" altLang="en-US" sz="1600" dirty="0" smtClean="0"/>
              <a:t>系統有更加一步的認識，也讓我的邏輯思維能力成長了不少。製作遊戲的過程中，我發現當我有不會的地方時，請教老師或網路上查資料都是不錯的方法。其實資源都在身邊，只是有沒有去找而已。而做完遊戲後，我發覺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只要願意花時間，就可以把遊戲做出來</a:t>
            </a:r>
            <a:r>
              <a:rPr lang="zh-TW" altLang="en-US" sz="1600" dirty="0" smtClean="0"/>
              <a:t>。做出遊戲的條件除了硬體材料與程式能力，毅力也佔一大部分，即便有再多的能力，</a:t>
            </a:r>
            <a:r>
              <a:rPr lang="zh-TW" altLang="en-US" sz="1600" b="1" dirty="0">
                <a:solidFill>
                  <a:srgbClr val="FFFF00"/>
                </a:solidFill>
              </a:rPr>
              <a:t>沒有恆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心、半途而廢，就是什麼都做不出來</a:t>
            </a:r>
            <a:r>
              <a:rPr lang="zh-TW" altLang="en-US" sz="1600" dirty="0" smtClean="0"/>
              <a:t>。</a:t>
            </a:r>
            <a:endParaRPr lang="en-US" altLang="zh-TW" sz="1600" dirty="0" smtClean="0"/>
          </a:p>
          <a:p>
            <a:pPr marL="0" indent="0" algn="just">
              <a:buNone/>
            </a:pPr>
            <a:r>
              <a:rPr lang="zh-TW" altLang="en-US" sz="2000" b="1" dirty="0"/>
              <a:t>未</a:t>
            </a:r>
            <a:r>
              <a:rPr lang="zh-TW" altLang="en-US" sz="1600" dirty="0" smtClean="0"/>
              <a:t>來，每當我寫程式時遇到難題，我會努力想辦法克服，用盡各種方式，因</a:t>
            </a:r>
            <a:r>
              <a:rPr lang="zh-TW" altLang="en-US" sz="1600" dirty="0" smtClean="0"/>
              <a:t>為我</a:t>
            </a:r>
            <a:r>
              <a:rPr lang="zh-TW" altLang="en-US" sz="1600" dirty="0" smtClean="0"/>
              <a:t>深信</a:t>
            </a:r>
            <a:r>
              <a:rPr lang="zh-TW" altLang="en-US" sz="1600" b="1" dirty="0" smtClean="0">
                <a:solidFill>
                  <a:srgbClr val="FFFF00"/>
                </a:solidFill>
              </a:rPr>
              <a:t>所有的問題都有方法可以解決，只是要花時間尋找而已</a:t>
            </a:r>
            <a:r>
              <a:rPr lang="zh-TW" altLang="en-US" sz="1600" dirty="0" smtClean="0"/>
              <a:t>。</a:t>
            </a:r>
            <a:endParaRPr lang="en-US" altLang="zh-TW" sz="1600" dirty="0" smtClean="0"/>
          </a:p>
        </p:txBody>
      </p:sp>
      <p:sp>
        <p:nvSpPr>
          <p:cNvPr id="5" name="文字方塊 4"/>
          <p:cNvSpPr txBox="1"/>
          <p:nvPr/>
        </p:nvSpPr>
        <p:spPr>
          <a:xfrm rot="16200000">
            <a:off x="5457143" y="506398"/>
            <a:ext cx="1274536" cy="1170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0" dirty="0" smtClean="0"/>
              <a:t>#include &lt;Adafruit_ssd1306syp.h&gt;</a:t>
            </a:r>
          </a:p>
          <a:p>
            <a:r>
              <a:rPr lang="en-US" altLang="zh-TW" sz="170" dirty="0" smtClean="0"/>
              <a:t>Adafruit_ssd1306syp A(A3,A2);</a:t>
            </a:r>
          </a:p>
          <a:p>
            <a:r>
              <a:rPr lang="en-US" altLang="zh-TW" sz="170" dirty="0" smtClean="0"/>
              <a:t>int h = 0, s = 0;</a:t>
            </a:r>
          </a:p>
          <a:p>
            <a:r>
              <a:rPr lang="en-US" altLang="zh-TW" sz="170" dirty="0" smtClean="0"/>
              <a:t>const double Pi = 3.14;</a:t>
            </a:r>
          </a:p>
          <a:p>
            <a:r>
              <a:rPr lang="en-US" altLang="zh-TW" sz="170" dirty="0" smtClean="0"/>
              <a:t>const unsigned char PROGMEM bmp[] =</a:t>
            </a:r>
          </a:p>
          <a:p>
            <a:r>
              <a:rPr lang="en-US" altLang="zh-TW" sz="170" dirty="0" smtClean="0"/>
              <a:t>{  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};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setup() {</a:t>
            </a:r>
          </a:p>
          <a:p>
            <a:r>
              <a:rPr lang="en-US" altLang="zh-TW" sz="170" dirty="0" smtClean="0"/>
              <a:t>  Serial.begin(250000);</a:t>
            </a:r>
          </a:p>
          <a:p>
            <a:r>
              <a:rPr lang="en-US" altLang="zh-TW" sz="170" dirty="0" smtClean="0"/>
              <a:t>  for (int i = 8; i &lt;= 11; i++) {</a:t>
            </a:r>
          </a:p>
          <a:p>
            <a:r>
              <a:rPr lang="en-US" altLang="zh-TW" sz="170" dirty="0" smtClean="0"/>
              <a:t>    pinMode (i, OUTPUT);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pinMode (13, INPUT);</a:t>
            </a:r>
          </a:p>
          <a:p>
            <a:r>
              <a:rPr lang="en-US" altLang="zh-TW" sz="170" dirty="0" smtClean="0"/>
              <a:t>  pinMode (12, INPUT);</a:t>
            </a:r>
          </a:p>
          <a:p>
            <a:r>
              <a:rPr lang="en-US" altLang="zh-TW" sz="170" dirty="0" smtClean="0"/>
              <a:t>  pinMode(7,INPUT);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pinMode (5, OUTPUT);</a:t>
            </a:r>
          </a:p>
          <a:p>
            <a:r>
              <a:rPr lang="en-US" altLang="zh-TW" sz="170" dirty="0" smtClean="0"/>
              <a:t>  pinMode (6, 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digitalWrite(10, LOW);   //LED</a:t>
            </a:r>
            <a:r>
              <a:rPr lang="zh-TW" altLang="en-US" sz="170" dirty="0" smtClean="0"/>
              <a:t>燈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digitalWrite(9, LOW);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A.initialize();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int Adisplay(int ag, int bg, int axl, int ayu, int bxl, int byu, int ballx, int bally) {    //</a:t>
            </a:r>
            <a:r>
              <a:rPr lang="zh-TW" altLang="en-US" sz="170" dirty="0" smtClean="0"/>
              <a:t>顯示畫面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顯示分數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A.drawLine(0, 17, 127, 17,WHITE);    //</a:t>
            </a:r>
            <a:r>
              <a:rPr lang="zh-TW" altLang="en-US" sz="170" dirty="0" smtClean="0"/>
              <a:t>顯示外框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A.drawLine(0, 63, 127, 63,WHITE);</a:t>
            </a:r>
          </a:p>
          <a:p>
            <a:r>
              <a:rPr lang="en-US" altLang="zh-TW" sz="170" dirty="0" smtClean="0"/>
              <a:t>  for (int i = 17; i &lt; 63; i += 2) {</a:t>
            </a:r>
          </a:p>
          <a:p>
            <a:r>
              <a:rPr lang="en-US" altLang="zh-TW" sz="170" dirty="0" smtClean="0"/>
              <a:t>    A.drawLine(63, i, 64, i,WHITE);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A.drawLine(0, 17, 0, ag,WHITE);</a:t>
            </a:r>
          </a:p>
          <a:p>
            <a:r>
              <a:rPr lang="en-US" altLang="zh-TW" sz="170" dirty="0" smtClean="0"/>
              <a:t>  A.drawLine(0, 63, 0, ag + 30,WHITE);</a:t>
            </a:r>
          </a:p>
          <a:p>
            <a:r>
              <a:rPr lang="en-US" altLang="zh-TW" sz="170" dirty="0" smtClean="0"/>
              <a:t>  A.drawLine(127, 17, 127, bg,WHITE);</a:t>
            </a:r>
          </a:p>
          <a:p>
            <a:r>
              <a:rPr lang="en-US" altLang="zh-TW" sz="170" dirty="0" smtClean="0"/>
              <a:t>  A.drawLine(127, 63, 127, bg + 30,WHITE);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A.drawLine(axl, ayu, axl + 5, ayu,WHITE);   //</a:t>
            </a:r>
            <a:r>
              <a:rPr lang="zh-TW" altLang="en-US" sz="170" dirty="0" smtClean="0"/>
              <a:t>顯示玩家球拍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A.drawLine(axl, ayu + 16, axl + 5, ayu + 16,WHITE);</a:t>
            </a:r>
          </a:p>
          <a:p>
            <a:r>
              <a:rPr lang="en-US" altLang="zh-TW" sz="170" dirty="0" smtClean="0"/>
              <a:t>  A.drawLine(axl, ayu, axl, ayu + 16,WHITE);</a:t>
            </a:r>
          </a:p>
          <a:p>
            <a:r>
              <a:rPr lang="en-US" altLang="zh-TW" sz="170" dirty="0" smtClean="0"/>
              <a:t>  A.drawLine(axl + 5, ayu, axl + 5, ayu + 16,WHITE);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A.drawLine(bxl, byu, bxl + 5, byu,WHITE);   //</a:t>
            </a:r>
            <a:r>
              <a:rPr lang="zh-TW" altLang="en-US" sz="170" dirty="0" smtClean="0"/>
              <a:t>顯示對手球拍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A.drawLine(bxl, byu + 16, bxl + 5, byu + 16,WHITE);</a:t>
            </a:r>
          </a:p>
          <a:p>
            <a:r>
              <a:rPr lang="en-US" altLang="zh-TW" sz="170" dirty="0" smtClean="0"/>
              <a:t>  A.drawLine(bxl, byu, bxl, byu + 16,WHITE);</a:t>
            </a:r>
          </a:p>
          <a:p>
            <a:r>
              <a:rPr lang="en-US" altLang="zh-TW" sz="170" dirty="0" smtClean="0"/>
              <a:t>  A.drawLine(bxl + 5, byu, bxl + 5, byu + 16,WHITE);</a:t>
            </a:r>
          </a:p>
          <a:p>
            <a:r>
              <a:rPr lang="en-US" altLang="zh-TW" sz="170" dirty="0" smtClean="0"/>
              <a:t>        </a:t>
            </a:r>
          </a:p>
          <a:p>
            <a:r>
              <a:rPr lang="en-US" altLang="zh-TW" sz="170" dirty="0" smtClean="0"/>
              <a:t>  A.drawBitmap(ballx, bally, bmp, 8, 8, 1);   //</a:t>
            </a:r>
            <a:r>
              <a:rPr lang="zh-TW" altLang="en-US" sz="170" dirty="0" smtClean="0"/>
              <a:t>顯示球</a:t>
            </a:r>
          </a:p>
          <a:p>
            <a:endParaRPr lang="zh-TW" altLang="en-US" sz="170" dirty="0" smtClean="0"/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A.update();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loop() {</a:t>
            </a:r>
          </a:p>
          <a:p>
            <a:r>
              <a:rPr lang="en-US" altLang="zh-TW" sz="170" dirty="0" smtClean="0"/>
              <a:t>  int flag = 1;</a:t>
            </a:r>
          </a:p>
          <a:p>
            <a:r>
              <a:rPr lang="en-US" altLang="zh-TW" sz="170" dirty="0" smtClean="0"/>
              <a:t>  if (h &lt; s) {</a:t>
            </a:r>
          </a:p>
          <a:p>
            <a:r>
              <a:rPr lang="en-US" altLang="zh-TW" sz="170" dirty="0" smtClean="0"/>
              <a:t>    h = s;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digitalWrite(13, HIGH);</a:t>
            </a:r>
          </a:p>
          <a:p>
            <a:r>
              <a:rPr lang="en-US" altLang="zh-TW" sz="170" dirty="0" smtClean="0"/>
              <a:t>  digitalWrite(12, HIGH);</a:t>
            </a:r>
          </a:p>
          <a:p>
            <a:r>
              <a:rPr lang="en-US" altLang="zh-TW" sz="170" dirty="0" smtClean="0"/>
              <a:t>  digitalWrite(7, HIGH);</a:t>
            </a:r>
          </a:p>
          <a:p>
            <a:r>
              <a:rPr lang="en-US" altLang="zh-TW" sz="170" dirty="0" smtClean="0"/>
              <a:t>  while (digitalRead(12) &amp;&amp; digitalRead(13) &amp;&amp; digitalRead(7) &amp;&amp; flag) {    //</a:t>
            </a:r>
            <a:r>
              <a:rPr lang="zh-TW" altLang="en-US" sz="170" dirty="0" smtClean="0"/>
              <a:t>遊戲初始介面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固定的圖案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  A.println("* highest score");</a:t>
            </a:r>
          </a:p>
          <a:p>
            <a:r>
              <a:rPr lang="en-US" altLang="zh-TW" sz="170" dirty="0" smtClean="0"/>
              <a:t>    A.setCursor(95,8);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A.println(h);</a:t>
            </a:r>
          </a:p>
          <a:p>
            <a:r>
              <a:rPr lang="en-US" altLang="zh-TW" sz="170" dirty="0" smtClean="0"/>
              <a:t>    A.setCursor(0,18);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A.println("your score");</a:t>
            </a:r>
          </a:p>
          <a:p>
            <a:r>
              <a:rPr lang="en-US" altLang="zh-TW" sz="170" dirty="0" smtClean="0"/>
              <a:t>    A.setCursor(65,18);</a:t>
            </a:r>
          </a:p>
          <a:p>
            <a:r>
              <a:rPr lang="en-US" altLang="zh-TW" sz="170" dirty="0" smtClean="0"/>
              <a:t>    A.println(s);</a:t>
            </a:r>
          </a:p>
          <a:p>
            <a:r>
              <a:rPr lang="en-US" altLang="zh-TW" sz="170" dirty="0" smtClean="0"/>
              <a:t>    A.drawLine(6, 34, 112, 34,WHITE);</a:t>
            </a:r>
          </a:p>
          <a:p>
            <a:r>
              <a:rPr lang="en-US" altLang="zh-TW" sz="170" dirty="0" smtClean="0"/>
              <a:t>    A.drawLine(6, 57, 112, 57,WHITE);</a:t>
            </a:r>
          </a:p>
          <a:p>
            <a:r>
              <a:rPr lang="en-US" altLang="zh-TW" sz="170" dirty="0" smtClean="0"/>
              <a:t>    A.drawLine(6, 34, 6, 57,WHITE);</a:t>
            </a:r>
          </a:p>
          <a:p>
            <a:r>
              <a:rPr lang="en-US" altLang="zh-TW" sz="170" dirty="0" smtClean="0"/>
              <a:t>    A.drawLine(112, 34, 112, 57,WHITE);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digitalWrite(4, LOW);</a:t>
            </a:r>
          </a:p>
          <a:p>
            <a:r>
              <a:rPr lang="en-US" altLang="zh-TW" sz="170" dirty="0" smtClean="0"/>
              <a:t>    A.setCursor(0,38);   //</a:t>
            </a:r>
            <a:r>
              <a:rPr lang="zh-TW" altLang="en-US" sz="170" dirty="0" smtClean="0"/>
              <a:t>閃爍的圖案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A.println("  press any button");</a:t>
            </a:r>
          </a:p>
          <a:p>
            <a:r>
              <a:rPr lang="en-US" altLang="zh-TW" sz="170" dirty="0" smtClean="0"/>
              <a:t>    A.println("     to start");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digitalWrite(4, HIGH);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digitalWrite(4, LOW);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for (int i = 3; i &gt; 0; i--) {    //</a:t>
            </a:r>
            <a:r>
              <a:rPr lang="zh-TW" altLang="en-US" sz="170" dirty="0" smtClean="0"/>
              <a:t>倒數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A.clear();</a:t>
            </a:r>
          </a:p>
          <a:p>
            <a:r>
              <a:rPr lang="en-US" altLang="zh-TW" sz="170" dirty="0" smtClean="0"/>
              <a:t>    A.setCursor(0,8);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A.println("game start in :");</a:t>
            </a:r>
          </a:p>
          <a:p>
            <a:r>
              <a:rPr lang="en-US" altLang="zh-TW" sz="170" dirty="0" smtClean="0"/>
              <a:t>    A.setCursor(54,25);</a:t>
            </a:r>
          </a:p>
          <a:p>
            <a:r>
              <a:rPr lang="en-US" altLang="zh-TW" sz="170" dirty="0" smtClean="0"/>
              <a:t>    A.setTextSize(4);</a:t>
            </a:r>
          </a:p>
          <a:p>
            <a:r>
              <a:rPr lang="en-US" altLang="zh-TW" sz="170" dirty="0" smtClean="0"/>
              <a:t>    A.println(i);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tone(11, 659, 250);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digitalWrite(i + 7, LOW);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  A.setCursor(27,20);</a:t>
            </a:r>
          </a:p>
          <a:p>
            <a:r>
              <a:rPr lang="en-US" altLang="zh-TW" sz="170" dirty="0" smtClean="0"/>
              <a:t>  A.setTextSize(5);</a:t>
            </a:r>
          </a:p>
          <a:p>
            <a:r>
              <a:rPr lang="en-US" altLang="zh-TW" sz="170" dirty="0" smtClean="0"/>
              <a:t>  A.println("GO!");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tone(11, 1318, 500);</a:t>
            </a:r>
          </a:p>
          <a:p>
            <a:r>
              <a:rPr lang="en-US" altLang="zh-TW" sz="170" dirty="0" smtClean="0"/>
              <a:t>  digitalWrite(4, HIGH);</a:t>
            </a:r>
          </a:p>
          <a:p>
            <a:r>
              <a:rPr lang="en-US" altLang="zh-TW" sz="170" dirty="0" smtClean="0"/>
              <a:t>  delay(1000);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//</a:t>
            </a:r>
            <a:r>
              <a:rPr lang="zh-TW" altLang="en-US" sz="170" dirty="0" smtClean="0"/>
              <a:t>遊戲開始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int life = 3, ag, bg, axl, ayu, bxl, byu, ballx, bally, ballspeed = 6, t, times = 0;</a:t>
            </a:r>
          </a:p>
          <a:p>
            <a:r>
              <a:rPr lang="en-US" altLang="zh-TW" sz="170" dirty="0" smtClean="0"/>
              <a:t>  s = 0;</a:t>
            </a:r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while (life) {</a:t>
            </a:r>
          </a:p>
          <a:p>
            <a:r>
              <a:rPr lang="en-US" altLang="zh-TW" sz="170" dirty="0" smtClean="0"/>
              <a:t>    ag = 25, bg = 25, axl = 20, ayu = 32, bxl = 102, byu = 32, ballx = 60, bally = 36;</a:t>
            </a:r>
          </a:p>
          <a:p>
            <a:r>
              <a:rPr lang="en-US" altLang="zh-TW" sz="170" dirty="0" smtClean="0"/>
              <a:t>    bool rebounda = 1, reboundb = 0, speedup = 0;</a:t>
            </a:r>
          </a:p>
          <a:p>
            <a:r>
              <a:rPr lang="en-US" altLang="zh-TW" sz="170" dirty="0" smtClean="0"/>
              <a:t>    times++;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digitalWrite(5, HIGH);    //</a:t>
            </a:r>
            <a:r>
              <a:rPr lang="zh-TW" altLang="en-US" sz="170" dirty="0" smtClean="0"/>
              <a:t>速度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方向設定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delayMicroseconds(10); </a:t>
            </a:r>
          </a:p>
          <a:p>
            <a:r>
              <a:rPr lang="en-US" altLang="zh-TW" sz="170" dirty="0" smtClean="0"/>
              <a:t>    digitalWrite(5, LOW); </a:t>
            </a:r>
          </a:p>
          <a:p>
            <a:r>
              <a:rPr lang="en-US" altLang="zh-TW" sz="170" dirty="0" smtClean="0"/>
              <a:t>    int time_echo = pulseIn(6, HIGH);</a:t>
            </a:r>
          </a:p>
          <a:p>
            <a:r>
              <a:rPr lang="en-US" altLang="zh-TW" sz="170" dirty="0" smtClean="0"/>
              <a:t>    Serial.print(time_echo);</a:t>
            </a:r>
          </a:p>
          <a:p>
            <a:r>
              <a:rPr lang="en-US" altLang="zh-TW" sz="170" dirty="0" smtClean="0"/>
              <a:t>    t = (time_echo + random(10000)) % 60 - 30;</a:t>
            </a:r>
          </a:p>
          <a:p>
            <a:r>
              <a:rPr lang="en-US" altLang="zh-TW" sz="170" dirty="0" smtClean="0"/>
              <a:t>    if ((random(2) + time_echo) % 2) {</a:t>
            </a:r>
          </a:p>
          <a:p>
            <a:r>
              <a:rPr lang="en-US" altLang="zh-TW" sz="170" dirty="0" smtClean="0"/>
              <a:t>      t = 180 - t;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ballspeed += ballspeed / 2.6 / times;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  Adisplay(ag, bg, axl, ayu, bxl, byu, ballx, bally);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while (1) {</a:t>
            </a:r>
          </a:p>
          <a:p>
            <a:r>
              <a:rPr lang="en-US" altLang="zh-TW" sz="170" dirty="0" smtClean="0"/>
              <a:t>      A.clear();</a:t>
            </a:r>
          </a:p>
          <a:p>
            <a:r>
              <a:rPr lang="en-US" altLang="zh-TW" sz="170" dirty="0" smtClean="0"/>
              <a:t>           </a:t>
            </a:r>
          </a:p>
          <a:p>
            <a:r>
              <a:rPr lang="en-US" altLang="zh-TW" sz="170" dirty="0" smtClean="0"/>
              <a:t>      if (!digitalRead(13) &amp;&amp; ag &gt; 17) {   //</a:t>
            </a:r>
            <a:r>
              <a:rPr lang="zh-TW" altLang="en-US" sz="170" dirty="0" smtClean="0"/>
              <a:t>玩家操控球門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ag -=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(!digitalRead(12) &amp;&amp; ag &lt; 33) {</a:t>
            </a:r>
          </a:p>
          <a:p>
            <a:r>
              <a:rPr lang="en-US" altLang="zh-TW" sz="170" dirty="0" smtClean="0"/>
              <a:t>        ag +=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(analogRead(A4) &lt; 550) {   //</a:t>
            </a:r>
            <a:r>
              <a:rPr lang="zh-TW" altLang="en-US" sz="170" dirty="0" smtClean="0"/>
              <a:t>玩家操控球拍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(axl + pow((550 - analogRead(A4)) / 165, 1.2) &lt; 58) {</a:t>
            </a:r>
          </a:p>
          <a:p>
            <a:r>
              <a:rPr lang="en-US" altLang="zh-TW" sz="170" dirty="0" smtClean="0"/>
              <a:t>          axl += pow((550 - analogRead(A4))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58;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(analogRead(A4) &gt; 500) {</a:t>
            </a:r>
          </a:p>
          <a:p>
            <a:r>
              <a:rPr lang="en-US" altLang="zh-TW" sz="170" dirty="0" smtClean="0"/>
              <a:t>        if (axl - pow((analogRead(A4) - 500) / 150, 1.2) &gt; 20) {</a:t>
            </a:r>
          </a:p>
          <a:p>
            <a:r>
              <a:rPr lang="en-US" altLang="zh-TW" sz="170" dirty="0" smtClean="0"/>
              <a:t>          axl -= pow((analogRead(A4)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20;</a:t>
            </a:r>
          </a:p>
          <a:p>
            <a:r>
              <a:rPr lang="en-US" altLang="zh-TW" sz="170" dirty="0" smtClean="0"/>
              <a:t>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&lt; 550) {</a:t>
            </a:r>
          </a:p>
          <a:p>
            <a:r>
              <a:rPr lang="en-US" altLang="zh-TW" sz="170" dirty="0" smtClean="0"/>
              <a:t>        if (ayu - pow((550 - analogRead(A5)) / 165, 1.2) &gt; 17) {</a:t>
            </a:r>
          </a:p>
          <a:p>
            <a:r>
              <a:rPr lang="en-US" altLang="zh-TW" sz="170" dirty="0" smtClean="0"/>
              <a:t>          ayu -= pow((550 - analogRead(A5))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 ayu = 17;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&gt; 500) {</a:t>
            </a:r>
          </a:p>
          <a:p>
            <a:r>
              <a:rPr lang="en-US" altLang="zh-TW" sz="170" dirty="0" smtClean="0"/>
              <a:t>        if (ayu + pow((analogRead(A5) - 500) / 150, 1.2) &lt; 46) {</a:t>
            </a:r>
          </a:p>
          <a:p>
            <a:r>
              <a:rPr lang="en-US" altLang="zh-TW" sz="170" dirty="0" smtClean="0"/>
              <a:t>          ayu += pow((analogRead(A5)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ayu = 46;</a:t>
            </a:r>
          </a:p>
          <a:p>
            <a:r>
              <a:rPr lang="en-US" altLang="zh-TW" sz="170" dirty="0" smtClean="0"/>
              <a:t>         }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(ballx &gt; 96) {   //</a:t>
            </a:r>
            <a:r>
              <a:rPr lang="zh-TW" altLang="en-US" sz="170" dirty="0" smtClean="0"/>
              <a:t>電腦操控球門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   </a:t>
            </a:r>
          </a:p>
          <a:p>
            <a:r>
              <a:rPr lang="en-US" altLang="zh-TW" sz="170" dirty="0" smtClean="0"/>
              <a:t>        if (k &lt;= 4) {</a:t>
            </a:r>
          </a:p>
          <a:p>
            <a:r>
              <a:rPr lang="en-US" altLang="zh-TW" sz="170" dirty="0" smtClean="0"/>
              <a:t>          if (bg &gt; 17 &amp;&amp; bally &gt; 40)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&lt; 32)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== 5) {</a:t>
            </a:r>
          </a:p>
          <a:p>
            <a:r>
              <a:rPr lang="en-US" altLang="zh-TW" sz="170" dirty="0" smtClean="0"/>
              <a:t>          if (bg &gt; 17 &amp;&amp; bally &lt; 32)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&gt; 40)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40) {   //</a:t>
            </a:r>
            <a:r>
              <a:rPr lang="zh-TW" altLang="en-US" sz="170" dirty="0" smtClean="0"/>
              <a:t>電腦操控球拍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</a:t>
            </a:r>
          </a:p>
          <a:p>
            <a:r>
              <a:rPr lang="en-US" altLang="zh-TW" sz="170" dirty="0" smtClean="0"/>
              <a:t>        if (ballx &lt; bxl &amp;&amp; k &gt; 3) {</a:t>
            </a:r>
          </a:p>
          <a:p>
            <a:r>
              <a:rPr lang="en-US" altLang="zh-TW" sz="170" dirty="0" smtClean="0"/>
              <a:t>          if (byu &gt; 20 &amp;&amp; bally &lt; byu)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- 9 &gt; byu) {</a:t>
            </a:r>
          </a:p>
          <a:p>
            <a:r>
              <a:rPr lang="en-US" altLang="zh-TW" sz="170" dirty="0" smtClean="0"/>
              <a:t>            byu += 3; </a:t>
            </a:r>
          </a:p>
          <a:p>
            <a:r>
              <a:rPr lang="en-US" altLang="zh-TW" sz="170" dirty="0" smtClean="0"/>
              <a:t>          }  </a:t>
            </a:r>
          </a:p>
          <a:p>
            <a:r>
              <a:rPr lang="en-US" altLang="zh-TW" sz="170" dirty="0" smtClean="0"/>
              <a:t>          if (bxl &lt; 99 &amp;&amp; k &gt; 7)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 else if (bxl &gt; 67 &amp;&amp; k &lt; 6) {</a:t>
            </a:r>
          </a:p>
          <a:p>
            <a:r>
              <a:rPr lang="en-US" altLang="zh-TW" sz="170" dirty="0" smtClean="0"/>
              <a:t>            bxl -= 3; 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!= 0) {</a:t>
            </a:r>
          </a:p>
          <a:p>
            <a:r>
              <a:rPr lang="en-US" altLang="zh-TW" sz="170" dirty="0" smtClean="0"/>
              <a:t>          if (byu &gt; 20 &amp;&amp; bally &gt; 46 - (times % 2) * 20)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&lt; 63) {</a:t>
            </a:r>
          </a:p>
          <a:p>
            <a:r>
              <a:rPr lang="en-US" altLang="zh-TW" sz="170" dirty="0" smtClean="0"/>
              <a:t>            byu += 3;</a:t>
            </a:r>
          </a:p>
          <a:p>
            <a:r>
              <a:rPr lang="en-US" altLang="zh-TW" sz="170" dirty="0" smtClean="0"/>
              <a:t>          } </a:t>
            </a:r>
          </a:p>
          <a:p>
            <a:r>
              <a:rPr lang="en-US" altLang="zh-TW" sz="170" dirty="0" smtClean="0"/>
              <a:t>          if (bxl &lt; 99)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(bally &lt; 20) {   //</a:t>
            </a:r>
            <a:r>
              <a:rPr lang="zh-TW" altLang="en-US" sz="170" dirty="0" smtClean="0"/>
              <a:t>球反彈場地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進球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t = 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54) {</a:t>
            </a:r>
          </a:p>
          <a:p>
            <a:r>
              <a:rPr lang="en-US" altLang="zh-TW" sz="170" dirty="0" smtClean="0"/>
              <a:t>        t = -abs(t);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&lt; 1) {</a:t>
            </a:r>
          </a:p>
          <a:p>
            <a:r>
              <a:rPr lang="en-US" altLang="zh-TW" sz="170" dirty="0" smtClean="0"/>
              <a:t>        rebounda = 0, reboundb = 0, speedup = 0;</a:t>
            </a:r>
          </a:p>
          <a:p>
            <a:r>
              <a:rPr lang="en-US" altLang="zh-TW" sz="170" dirty="0" smtClean="0"/>
              <a:t>        if (bally &gt;= ag &amp;&amp; bally &lt;= ag + 22) {</a:t>
            </a:r>
          </a:p>
          <a:p>
            <a:r>
              <a:rPr lang="en-US" altLang="zh-TW" sz="170" dirty="0" smtClean="0"/>
              <a:t>          life--;</a:t>
            </a:r>
          </a:p>
          <a:p>
            <a:r>
              <a:rPr lang="en-US" altLang="zh-TW" sz="170" dirty="0" smtClean="0"/>
              <a:t>          A.clear();</a:t>
            </a:r>
          </a:p>
          <a:p>
            <a:r>
              <a:rPr lang="en-US" altLang="zh-TW" sz="170" dirty="0" smtClean="0"/>
              <a:t>          Adisplay(ag, bg, axl, ayu, bxl, byu, -100, -100);</a:t>
            </a:r>
          </a:p>
          <a:p>
            <a:r>
              <a:rPr lang="en-US" altLang="zh-TW" sz="170" dirty="0" smtClean="0"/>
              <a:t>          for (int i = 0; i &lt; 3; i++) {   //</a:t>
            </a:r>
            <a:r>
              <a:rPr lang="zh-TW" altLang="en-US" sz="170" dirty="0" smtClean="0"/>
              <a:t>電腦進球動畫</a:t>
            </a:r>
          </a:p>
          <a:p>
            <a:r>
              <a:rPr lang="zh-TW" altLang="en-US" sz="170" dirty="0" smtClean="0"/>
              <a:t>            </a:t>
            </a:r>
            <a:r>
              <a:rPr lang="en-US" altLang="zh-TW" sz="170" dirty="0" smtClean="0"/>
              <a:t>digitalWrite(life + 8, LOW);</a:t>
            </a:r>
          </a:p>
          <a:p>
            <a:r>
              <a:rPr lang="en-US" altLang="zh-TW" sz="170" dirty="0" smtClean="0"/>
              <a:t>            tone(11, 466,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  digitalWrite(life + 8, HIGH);</a:t>
            </a:r>
          </a:p>
          <a:p>
            <a:r>
              <a:rPr lang="en-US" altLang="zh-TW" sz="170" dirty="0" smtClean="0"/>
              <a:t>            tone(11, 440,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digitalWrite(life + 8, LOW);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&gt; 118) {</a:t>
            </a:r>
          </a:p>
          <a:p>
            <a:r>
              <a:rPr lang="en-US" altLang="zh-TW" sz="170" dirty="0" smtClean="0"/>
              <a:t>        rebounda = 1, reboundb = 1, speedup = 0;</a:t>
            </a:r>
          </a:p>
          <a:p>
            <a:r>
              <a:rPr lang="en-US" altLang="zh-TW" sz="170" dirty="0" smtClean="0"/>
              <a:t>        A.clear();</a:t>
            </a:r>
          </a:p>
          <a:p>
            <a:r>
              <a:rPr lang="en-US" altLang="zh-TW" sz="170" dirty="0" smtClean="0"/>
              <a:t>        Adisplay(ag, bg, axl, ayu, bxl, byu, -100, -100);</a:t>
            </a:r>
          </a:p>
          <a:p>
            <a:r>
              <a:rPr lang="en-US" altLang="zh-TW" sz="170" dirty="0" smtClean="0"/>
              <a:t>        if (bally &gt;= bg &amp;&amp; bally &lt;= bg + 22) {   //</a:t>
            </a:r>
            <a:r>
              <a:rPr lang="zh-TW" altLang="en-US" sz="170" dirty="0" smtClean="0"/>
              <a:t>玩家進球動畫</a:t>
            </a:r>
          </a:p>
          <a:p>
            <a:r>
              <a:rPr lang="zh-TW" altLang="en-US" sz="170" dirty="0" smtClean="0"/>
              <a:t>          </a:t>
            </a:r>
            <a:r>
              <a:rPr lang="en-US" altLang="zh-TW" sz="170" dirty="0" smtClean="0"/>
              <a:t>s += 100;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784,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988,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1046, 200);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axl - 8 &amp;&amp; ballx &lt; axl + 9 &amp;&amp; bally &gt; ayu - 8 &amp;&amp; bally &lt; ayu + 17) {    //</a:t>
            </a:r>
            <a:r>
              <a:rPr lang="zh-TW" altLang="en-US" sz="170" dirty="0" smtClean="0"/>
              <a:t>球反彈玩家球拍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(rebounda)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reboundb = 0;</a:t>
            </a:r>
          </a:p>
          <a:p>
            <a:r>
              <a:rPr lang="en-US" altLang="zh-TW" sz="170" dirty="0" smtClean="0"/>
              <a:t>        tone(11, 784, 100);</a:t>
            </a:r>
          </a:p>
          <a:p>
            <a:r>
              <a:rPr lang="en-US" altLang="zh-TW" sz="170" dirty="0" smtClean="0"/>
              <a:t>        if (!digitalRead(7)) {</a:t>
            </a:r>
          </a:p>
          <a:p>
            <a:r>
              <a:rPr lang="en-US" altLang="zh-TW" sz="170" dirty="0" smtClean="0"/>
              <a:t>          speedup = 1;</a:t>
            </a:r>
          </a:p>
          <a:p>
            <a:r>
              <a:rPr lang="en-US" altLang="zh-TW" sz="170" dirty="0" smtClean="0"/>
              <a:t>          t *= 0.7;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speedup = 0;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bxl - 8 &amp;&amp; ballx &lt; bxl + 9 &amp;&amp; bally &gt; byu - 8 &amp;&amp; bally &lt; byu + 17) {    //</a:t>
            </a:r>
            <a:r>
              <a:rPr lang="zh-TW" altLang="en-US" sz="170" dirty="0" smtClean="0"/>
              <a:t>球反彈對手球拍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(reboundb)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if (random(4) + time_echo) {</a:t>
            </a:r>
          </a:p>
          <a:p>
            <a:r>
              <a:rPr lang="en-US" altLang="zh-TW" sz="170" dirty="0" smtClean="0"/>
              <a:t>            speedup = 0;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speedup = 1;</a:t>
            </a:r>
          </a:p>
          <a:p>
            <a:r>
              <a:rPr lang="en-US" altLang="zh-TW" sz="170" dirty="0" smtClean="0"/>
              <a:t>            t *= 0.7;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rebounda = 1;</a:t>
            </a:r>
          </a:p>
          <a:p>
            <a:r>
              <a:rPr lang="en-US" altLang="zh-TW" sz="170" dirty="0" smtClean="0"/>
              <a:t>        tone(11, 1568, 100);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(speedup) {</a:t>
            </a:r>
          </a:p>
          <a:p>
            <a:r>
              <a:rPr lang="en-US" altLang="zh-TW" sz="170" dirty="0" smtClean="0"/>
              <a:t>        ballx += (ballspeed * 1.4)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(ballspeed * 1.4) * sin(t * Pi / 180);</a:t>
            </a:r>
          </a:p>
          <a:p>
            <a:r>
              <a:rPr lang="en-US" altLang="zh-TW" sz="170" dirty="0" smtClean="0"/>
              <a:t>      } else {</a:t>
            </a:r>
          </a:p>
          <a:p>
            <a:r>
              <a:rPr lang="en-US" altLang="zh-TW" sz="170" dirty="0" smtClean="0"/>
              <a:t>        ballx += ballspeed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ballspeed * sin(t * Pi / 180);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119) {</a:t>
            </a:r>
          </a:p>
          <a:p>
            <a:r>
              <a:rPr lang="en-US" altLang="zh-TW" sz="170" dirty="0" smtClean="0"/>
              <a:t>        ballx = 119;</a:t>
            </a:r>
          </a:p>
          <a:p>
            <a:r>
              <a:rPr lang="en-US" altLang="zh-TW" sz="170" dirty="0" smtClean="0"/>
              <a:t>      } else if (ballx &lt; 0) {</a:t>
            </a:r>
          </a:p>
          <a:p>
            <a:r>
              <a:rPr lang="en-US" altLang="zh-TW" sz="170" dirty="0" smtClean="0"/>
              <a:t>        ballx = 0;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55) {</a:t>
            </a:r>
          </a:p>
          <a:p>
            <a:r>
              <a:rPr lang="en-US" altLang="zh-TW" sz="170" dirty="0" smtClean="0"/>
              <a:t>        bally = 55;</a:t>
            </a:r>
          </a:p>
          <a:p>
            <a:r>
              <a:rPr lang="en-US" altLang="zh-TW" sz="170" dirty="0" smtClean="0"/>
              <a:t>      } else if (bally &lt; 18) {</a:t>
            </a:r>
          </a:p>
          <a:p>
            <a:r>
              <a:rPr lang="en-US" altLang="zh-TW" sz="170" dirty="0" smtClean="0"/>
              <a:t>        bally = 18;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Adisplay(ag, bg, axl, ayu, bxl, byu, ballx, bally);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    //</a:t>
            </a:r>
            <a:r>
              <a:rPr lang="zh-TW" altLang="en-US" sz="170" dirty="0" smtClean="0"/>
              <a:t>遊戲結束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A.setCursor(10, 40);</a:t>
            </a:r>
          </a:p>
          <a:p>
            <a:r>
              <a:rPr lang="en-US" altLang="zh-TW" sz="170" dirty="0" smtClean="0"/>
              <a:t>  A.setTextSize(2);</a:t>
            </a:r>
          </a:p>
          <a:p>
            <a:r>
              <a:rPr lang="en-US" altLang="zh-TW" sz="170" dirty="0" smtClean="0"/>
              <a:t>  A.println("GAME OVER");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int p = 120;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for (int i = 440; i &gt; 138; i -= 25.5) {</a:t>
            </a:r>
          </a:p>
          <a:p>
            <a:r>
              <a:rPr lang="en-US" altLang="zh-TW" sz="170" dirty="0" smtClean="0"/>
              <a:t>    digitalWrite(i % 3 + 8, LOW);</a:t>
            </a:r>
          </a:p>
          <a:p>
            <a:r>
              <a:rPr lang="en-US" altLang="zh-TW" sz="170" dirty="0" smtClean="0"/>
              <a:t>    digitalWrite((i + 1) % 3 + 8, LOW);</a:t>
            </a:r>
          </a:p>
          <a:p>
            <a:r>
              <a:rPr lang="en-US" altLang="zh-TW" sz="170" dirty="0" smtClean="0"/>
              <a:t>    digitalWrite((i + 2) % 3 + 8, HIGH);</a:t>
            </a:r>
          </a:p>
          <a:p>
            <a:r>
              <a:rPr lang="en-US" altLang="zh-TW" sz="170" dirty="0" smtClean="0"/>
              <a:t>    tone(11, i);</a:t>
            </a:r>
          </a:p>
          <a:p>
            <a:r>
              <a:rPr lang="en-US" altLang="zh-TW" sz="170" dirty="0" smtClean="0"/>
              <a:t>    delay(p / 3);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digitalWrite(9, LOW);</a:t>
            </a:r>
          </a:p>
          <a:p>
            <a:r>
              <a:rPr lang="en-US" altLang="zh-TW" sz="170" dirty="0" smtClean="0"/>
              <a:t>  digitalWrite(10, LOW);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delay(p * 8);</a:t>
            </a:r>
          </a:p>
          <a:p>
            <a:r>
              <a:rPr lang="en-US" altLang="zh-TW" sz="170" dirty="0" smtClean="0"/>
              <a:t>  tone(11, 784);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1661);</a:t>
            </a:r>
          </a:p>
          <a:p>
            <a:r>
              <a:rPr lang="en-US" altLang="zh-TW" sz="170" dirty="0" smtClean="0"/>
              <a:t>  delay(p * 2);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1397);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 * 4);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delay(2500);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}</a:t>
            </a:r>
            <a:endParaRPr lang="zh-TW" altLang="en-US" sz="17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4181" y="4310743"/>
            <a:ext cx="1480458" cy="148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0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sz="4400" dirty="0"/>
              <a:t>補</a:t>
            </a:r>
            <a:r>
              <a:rPr lang="zh-TW" altLang="en-US" sz="4400" dirty="0" smtClean="0"/>
              <a:t>充：</a:t>
            </a:r>
            <a:r>
              <a:rPr lang="zh-TW" altLang="en-US" sz="4400" dirty="0"/>
              <a:t>運用</a:t>
            </a:r>
            <a:r>
              <a:rPr lang="zh-TW" altLang="en-US" sz="4400" dirty="0" smtClean="0"/>
              <a:t>零件的巧思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◉ 電阻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◉ </a:t>
            </a:r>
            <a:r>
              <a:rPr lang="en-US" altLang="zh-TW" dirty="0" smtClean="0"/>
              <a:t>LED</a:t>
            </a:r>
            <a:r>
              <a:rPr lang="zh-TW" altLang="en-US" dirty="0" smtClean="0"/>
              <a:t>燈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◉ 超</a:t>
            </a:r>
            <a:r>
              <a:rPr lang="zh-TW" altLang="en-US" dirty="0"/>
              <a:t>音波感測</a:t>
            </a:r>
            <a:r>
              <a:rPr lang="zh-TW" altLang="en-US" dirty="0" smtClean="0"/>
              <a:t>器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◉ 蜂</a:t>
            </a:r>
            <a:r>
              <a:rPr lang="zh-TW" altLang="en-US" dirty="0"/>
              <a:t>鳴器</a:t>
            </a:r>
            <a:endParaRPr lang="en-US" altLang="zh-TW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3257" y="2249487"/>
            <a:ext cx="4786604" cy="3589954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78189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◉ 電阻的作用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用來降低</a:t>
            </a:r>
            <a:r>
              <a:rPr lang="en-US" altLang="zh-TW" dirty="0" smtClean="0"/>
              <a:t>LED</a:t>
            </a:r>
            <a:r>
              <a:rPr lang="zh-TW" altLang="en-US" dirty="0" smtClean="0"/>
              <a:t>亮度。</a:t>
            </a:r>
            <a:endParaRPr lang="en-US" altLang="zh-TW" dirty="0" smtClean="0"/>
          </a:p>
          <a:p>
            <a:r>
              <a:rPr lang="zh-TW" altLang="en-US" dirty="0" smtClean="0"/>
              <a:t>用來當電線。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線不夠多啊</a:t>
            </a:r>
            <a:r>
              <a:rPr lang="en-US" altLang="zh-TW" dirty="0" smtClean="0"/>
              <a:t>)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5170" y="2442652"/>
            <a:ext cx="4464731" cy="3348549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4182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◉ </a:t>
            </a:r>
            <a:r>
              <a:rPr lang="en-US" altLang="zh-TW" dirty="0" smtClean="0"/>
              <a:t>LED</a:t>
            </a:r>
            <a:r>
              <a:rPr lang="zh-TW" altLang="en-US" dirty="0" smtClean="0"/>
              <a:t>燈的作用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用來顯示生命 </a:t>
            </a:r>
            <a:r>
              <a:rPr lang="en-US" altLang="zh-TW" dirty="0" smtClean="0"/>
              <a:t>(</a:t>
            </a:r>
            <a:r>
              <a:rPr lang="zh-TW" altLang="en-US" dirty="0"/>
              <a:t>還可</a:t>
            </a:r>
            <a:r>
              <a:rPr lang="zh-TW" altLang="en-US" dirty="0" smtClean="0"/>
              <a:t>以被進球幾次</a:t>
            </a:r>
            <a:r>
              <a:rPr lang="en-US" altLang="zh-TW" dirty="0" smtClean="0"/>
              <a:t>)</a:t>
            </a:r>
            <a:r>
              <a:rPr lang="zh-TW" altLang="en-US" dirty="0" smtClean="0"/>
              <a:t> ，或做其他效果。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紅</a:t>
            </a:r>
            <a:r>
              <a:rPr lang="en-US" altLang="zh-TW" dirty="0" smtClean="0"/>
              <a:t>LED</a:t>
            </a:r>
            <a:r>
              <a:rPr lang="zh-TW" altLang="en-US" dirty="0" smtClean="0"/>
              <a:t>燈：倒數 </a:t>
            </a:r>
            <a:r>
              <a:rPr lang="en-US" altLang="zh-TW" dirty="0" smtClean="0"/>
              <a:t>(321)</a:t>
            </a:r>
            <a:r>
              <a:rPr lang="zh-TW" altLang="en-US" dirty="0" smtClean="0"/>
              <a:t>、生命、遊</a:t>
            </a:r>
            <a:r>
              <a:rPr lang="zh-TW" altLang="en-US" dirty="0"/>
              <a:t>戲結</a:t>
            </a:r>
            <a:r>
              <a:rPr lang="zh-TW" altLang="en-US" dirty="0" smtClean="0"/>
              <a:t>束後閃爍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黃</a:t>
            </a:r>
            <a:r>
              <a:rPr lang="en-US" altLang="zh-TW" dirty="0" smtClean="0"/>
              <a:t>LED</a:t>
            </a:r>
            <a:r>
              <a:rPr lang="zh-TW" altLang="en-US" dirty="0" smtClean="0"/>
              <a:t>燈：倒數 </a:t>
            </a:r>
            <a:r>
              <a:rPr lang="en-US" altLang="zh-TW" dirty="0" smtClean="0"/>
              <a:t>(GO!)</a:t>
            </a:r>
            <a:r>
              <a:rPr lang="zh-TW" altLang="en-US" dirty="0" smtClean="0"/>
              <a:t>、進球、遊</a:t>
            </a:r>
            <a:r>
              <a:rPr lang="zh-TW" altLang="en-US" dirty="0"/>
              <a:t>戲開始前閃爍</a:t>
            </a:r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3142" y="4020344"/>
            <a:ext cx="3102537" cy="22860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15793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◉ 超音波感測器的作用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用來取亂數，隨機的值。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因為</a:t>
            </a:r>
            <a:r>
              <a:rPr lang="en-US" altLang="zh-TW" dirty="0"/>
              <a:t>random()</a:t>
            </a:r>
            <a:r>
              <a:rPr lang="zh-TW" altLang="en-US" dirty="0"/>
              <a:t>函式經過初始化，取的數字</a:t>
            </a:r>
            <a:r>
              <a:rPr lang="zh-TW" altLang="en-US" dirty="0" smtClean="0"/>
              <a:t>會有相同順序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zh-TW" altLang="en-US" dirty="0" smtClean="0"/>
              <a:t>方法：測量距離取於數。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3142" y="4020344"/>
            <a:ext cx="3102537" cy="232690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11388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19911" y="534542"/>
            <a:ext cx="9905998" cy="147857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◉ 蜂鳴器的作用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用來寫配樂。</a:t>
            </a:r>
            <a:endParaRPr lang="en-US" altLang="zh-TW" dirty="0" smtClean="0"/>
          </a:p>
          <a:p>
            <a:r>
              <a:rPr lang="zh-TW" altLang="en-US" dirty="0" smtClean="0"/>
              <a:t>時機：得分、被進球、遊戲結束、球撞擊反彈</a:t>
            </a:r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3142" y="4020343"/>
            <a:ext cx="3102537" cy="2326903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38612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39088" y="1365706"/>
            <a:ext cx="3510643" cy="1063689"/>
          </a:xfrm>
        </p:spPr>
        <p:txBody>
          <a:bodyPr>
            <a:normAutofit/>
          </a:bodyPr>
          <a:lstStyle/>
          <a:p>
            <a:pPr algn="ctr"/>
            <a:r>
              <a:rPr lang="zh-TW" altLang="en-US" sz="6000" dirty="0"/>
              <a:t>謝謝大家</a:t>
            </a: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7689" y="2903048"/>
            <a:ext cx="2892490" cy="216936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5482" y="2903048"/>
            <a:ext cx="2895647" cy="216894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6" name="文字方塊 5"/>
          <p:cNvSpPr txBox="1"/>
          <p:nvPr/>
        </p:nvSpPr>
        <p:spPr>
          <a:xfrm rot="16200000">
            <a:off x="5457143" y="506398"/>
            <a:ext cx="1274536" cy="1170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0" dirty="0" smtClean="0"/>
              <a:t>#include &lt;Adafruit_ssd1306syp.h&gt;</a:t>
            </a:r>
          </a:p>
          <a:p>
            <a:r>
              <a:rPr lang="en-US" altLang="zh-TW" sz="170" dirty="0" smtClean="0"/>
              <a:t>Adafruit_ssd1306syp A(A3,A2);</a:t>
            </a:r>
          </a:p>
          <a:p>
            <a:r>
              <a:rPr lang="en-US" altLang="zh-TW" sz="170" dirty="0" smtClean="0"/>
              <a:t>int h = 0, s = 0;</a:t>
            </a:r>
          </a:p>
          <a:p>
            <a:r>
              <a:rPr lang="en-US" altLang="zh-TW" sz="170" dirty="0" smtClean="0"/>
              <a:t>const double Pi = 3.14;</a:t>
            </a:r>
          </a:p>
          <a:p>
            <a:r>
              <a:rPr lang="en-US" altLang="zh-TW" sz="170" dirty="0" smtClean="0"/>
              <a:t>const unsigned char PROGMEM bmp[] =</a:t>
            </a:r>
          </a:p>
          <a:p>
            <a:r>
              <a:rPr lang="en-US" altLang="zh-TW" sz="170" dirty="0" smtClean="0"/>
              <a:t>{  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B01111110,</a:t>
            </a:r>
          </a:p>
          <a:p>
            <a:r>
              <a:rPr lang="en-US" altLang="zh-TW" sz="170" dirty="0" smtClean="0"/>
              <a:t>  B00111100,</a:t>
            </a:r>
          </a:p>
          <a:p>
            <a:r>
              <a:rPr lang="en-US" altLang="zh-TW" sz="170" dirty="0" smtClean="0"/>
              <a:t>  B00000000,</a:t>
            </a:r>
          </a:p>
          <a:p>
            <a:r>
              <a:rPr lang="en-US" altLang="zh-TW" sz="170" dirty="0" smtClean="0"/>
              <a:t>};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setup() {</a:t>
            </a:r>
          </a:p>
          <a:p>
            <a:r>
              <a:rPr lang="en-US" altLang="zh-TW" sz="170" dirty="0" smtClean="0"/>
              <a:t>  Serial.begin(250000);</a:t>
            </a:r>
          </a:p>
          <a:p>
            <a:r>
              <a:rPr lang="en-US" altLang="zh-TW" sz="170" dirty="0" smtClean="0"/>
              <a:t>  for (int i = 8; i &lt;= 11; i++) {</a:t>
            </a:r>
          </a:p>
          <a:p>
            <a:r>
              <a:rPr lang="en-US" altLang="zh-TW" sz="170" dirty="0" smtClean="0"/>
              <a:t>    pinMode (i, OUTPUT);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pinMode (13, INPUT);</a:t>
            </a:r>
          </a:p>
          <a:p>
            <a:r>
              <a:rPr lang="en-US" altLang="zh-TW" sz="170" dirty="0" smtClean="0"/>
              <a:t>  pinMode (12, INPUT);</a:t>
            </a:r>
          </a:p>
          <a:p>
            <a:r>
              <a:rPr lang="en-US" altLang="zh-TW" sz="170" dirty="0" smtClean="0"/>
              <a:t>  pinMode(7,INPUT);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pinMode (5, OUTPUT);</a:t>
            </a:r>
          </a:p>
          <a:p>
            <a:r>
              <a:rPr lang="en-US" altLang="zh-TW" sz="170" dirty="0" smtClean="0"/>
              <a:t>  pinMode (6, INPUT);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digitalWrite(10, LOW);   //LED</a:t>
            </a:r>
            <a:r>
              <a:rPr lang="zh-TW" altLang="en-US" sz="170" dirty="0" smtClean="0"/>
              <a:t>燈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digitalWrite(9, LOW);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A.initialize();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int Adisplay(int ag, int bg, int axl, int ayu, int bxl, int byu, int ballx, int bally) {    //</a:t>
            </a:r>
            <a:r>
              <a:rPr lang="zh-TW" altLang="en-US" sz="170" dirty="0" smtClean="0"/>
              <a:t>顯示畫面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顯示分數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A.drawLine(0, 17, 127, 17,WHITE);    //</a:t>
            </a:r>
            <a:r>
              <a:rPr lang="zh-TW" altLang="en-US" sz="170" dirty="0" smtClean="0"/>
              <a:t>顯示外框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A.drawLine(0, 63, 127, 63,WHITE);</a:t>
            </a:r>
          </a:p>
          <a:p>
            <a:r>
              <a:rPr lang="en-US" altLang="zh-TW" sz="170" dirty="0" smtClean="0"/>
              <a:t>  for (int i = 17; i &lt; 63; i += 2) {</a:t>
            </a:r>
          </a:p>
          <a:p>
            <a:r>
              <a:rPr lang="en-US" altLang="zh-TW" sz="170" dirty="0" smtClean="0"/>
              <a:t>    A.drawLine(63, i, 64, i,WHITE);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A.drawLine(0, 17, 0, ag,WHITE);</a:t>
            </a:r>
          </a:p>
          <a:p>
            <a:r>
              <a:rPr lang="en-US" altLang="zh-TW" sz="170" dirty="0" smtClean="0"/>
              <a:t>  A.drawLine(0, 63, 0, ag + 30,WHITE);</a:t>
            </a:r>
          </a:p>
          <a:p>
            <a:r>
              <a:rPr lang="en-US" altLang="zh-TW" sz="170" dirty="0" smtClean="0"/>
              <a:t>  A.drawLine(127, 17, 127, bg,WHITE);</a:t>
            </a:r>
          </a:p>
          <a:p>
            <a:r>
              <a:rPr lang="en-US" altLang="zh-TW" sz="170" dirty="0" smtClean="0"/>
              <a:t>  A.drawLine(127, 63, 127, bg + 30,WHITE);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A.drawLine(axl, ayu, axl + 5, ayu,WHITE);   //</a:t>
            </a:r>
            <a:r>
              <a:rPr lang="zh-TW" altLang="en-US" sz="170" dirty="0" smtClean="0"/>
              <a:t>顯示玩家球拍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A.drawLine(axl, ayu + 16, axl + 5, ayu + 16,WHITE);</a:t>
            </a:r>
          </a:p>
          <a:p>
            <a:r>
              <a:rPr lang="en-US" altLang="zh-TW" sz="170" dirty="0" smtClean="0"/>
              <a:t>  A.drawLine(axl, ayu, axl, ayu + 16,WHITE);</a:t>
            </a:r>
          </a:p>
          <a:p>
            <a:r>
              <a:rPr lang="en-US" altLang="zh-TW" sz="170" dirty="0" smtClean="0"/>
              <a:t>  A.drawLine(axl + 5, ayu, axl + 5, ayu + 16,WHITE);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A.drawLine(bxl, byu, bxl + 5, byu,WHITE);   //</a:t>
            </a:r>
            <a:r>
              <a:rPr lang="zh-TW" altLang="en-US" sz="170" dirty="0" smtClean="0"/>
              <a:t>顯示對手球拍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A.drawLine(bxl, byu + 16, bxl + 5, byu + 16,WHITE);</a:t>
            </a:r>
          </a:p>
          <a:p>
            <a:r>
              <a:rPr lang="en-US" altLang="zh-TW" sz="170" dirty="0" smtClean="0"/>
              <a:t>  A.drawLine(bxl, byu, bxl, byu + 16,WHITE);</a:t>
            </a:r>
          </a:p>
          <a:p>
            <a:r>
              <a:rPr lang="en-US" altLang="zh-TW" sz="170" dirty="0" smtClean="0"/>
              <a:t>  A.drawLine(bxl + 5, byu, bxl + 5, byu + 16,WHITE);</a:t>
            </a:r>
          </a:p>
          <a:p>
            <a:r>
              <a:rPr lang="en-US" altLang="zh-TW" sz="170" dirty="0" smtClean="0"/>
              <a:t>        </a:t>
            </a:r>
          </a:p>
          <a:p>
            <a:r>
              <a:rPr lang="en-US" altLang="zh-TW" sz="170" dirty="0" smtClean="0"/>
              <a:t>  A.drawBitmap(ballx, bally, bmp, 8, 8, 1);   //</a:t>
            </a:r>
            <a:r>
              <a:rPr lang="zh-TW" altLang="en-US" sz="170" dirty="0" smtClean="0"/>
              <a:t>顯示球</a:t>
            </a:r>
          </a:p>
          <a:p>
            <a:endParaRPr lang="zh-TW" altLang="en-US" sz="170" dirty="0" smtClean="0"/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A.update();</a:t>
            </a:r>
          </a:p>
          <a:p>
            <a:r>
              <a:rPr lang="en-US" altLang="zh-TW" sz="170" dirty="0" smtClean="0"/>
              <a:t>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void loop() {</a:t>
            </a:r>
          </a:p>
          <a:p>
            <a:r>
              <a:rPr lang="en-US" altLang="zh-TW" sz="170" dirty="0" smtClean="0"/>
              <a:t>  int flag = 1;</a:t>
            </a:r>
          </a:p>
          <a:p>
            <a:r>
              <a:rPr lang="en-US" altLang="zh-TW" sz="170" dirty="0" smtClean="0"/>
              <a:t>  if (h &lt; s) {</a:t>
            </a:r>
          </a:p>
          <a:p>
            <a:r>
              <a:rPr lang="en-US" altLang="zh-TW" sz="170" dirty="0" smtClean="0"/>
              <a:t>    h = s;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digitalWrite(13, HIGH);</a:t>
            </a:r>
          </a:p>
          <a:p>
            <a:r>
              <a:rPr lang="en-US" altLang="zh-TW" sz="170" dirty="0" smtClean="0"/>
              <a:t>  digitalWrite(12, HIGH);</a:t>
            </a:r>
          </a:p>
          <a:p>
            <a:r>
              <a:rPr lang="en-US" altLang="zh-TW" sz="170" dirty="0" smtClean="0"/>
              <a:t>  digitalWrite(7, HIGH);</a:t>
            </a:r>
          </a:p>
          <a:p>
            <a:r>
              <a:rPr lang="en-US" altLang="zh-TW" sz="170" dirty="0" smtClean="0"/>
              <a:t>  while (digitalRead(12) &amp;&amp; digitalRead(13) &amp;&amp; digitalRead(7) &amp;&amp; flag) {    //</a:t>
            </a:r>
            <a:r>
              <a:rPr lang="zh-TW" altLang="en-US" sz="170" dirty="0" smtClean="0"/>
              <a:t>遊戲初始介面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A.setCursor(0,8);    //</a:t>
            </a:r>
            <a:r>
              <a:rPr lang="zh-TW" altLang="en-US" sz="170" dirty="0" smtClean="0"/>
              <a:t>固定的圖案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A.setTextSize(1);</a:t>
            </a:r>
          </a:p>
          <a:p>
            <a:r>
              <a:rPr lang="en-US" altLang="zh-TW" sz="170" dirty="0" smtClean="0"/>
              <a:t>    A.println("* highest score");</a:t>
            </a:r>
          </a:p>
          <a:p>
            <a:r>
              <a:rPr lang="en-US" altLang="zh-TW" sz="170" dirty="0" smtClean="0"/>
              <a:t>    A.setCursor(95,8);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A.println(h);</a:t>
            </a:r>
          </a:p>
          <a:p>
            <a:r>
              <a:rPr lang="en-US" altLang="zh-TW" sz="170" dirty="0" smtClean="0"/>
              <a:t>    A.setCursor(0,18);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A.println("your score");</a:t>
            </a:r>
          </a:p>
          <a:p>
            <a:r>
              <a:rPr lang="en-US" altLang="zh-TW" sz="170" dirty="0" smtClean="0"/>
              <a:t>    A.setCursor(65,18);</a:t>
            </a:r>
          </a:p>
          <a:p>
            <a:r>
              <a:rPr lang="en-US" altLang="zh-TW" sz="170" dirty="0" smtClean="0"/>
              <a:t>    A.println(s);</a:t>
            </a:r>
          </a:p>
          <a:p>
            <a:r>
              <a:rPr lang="en-US" altLang="zh-TW" sz="170" dirty="0" smtClean="0"/>
              <a:t>    A.drawLine(6, 34, 112, 34,WHITE);</a:t>
            </a:r>
          </a:p>
          <a:p>
            <a:r>
              <a:rPr lang="en-US" altLang="zh-TW" sz="170" dirty="0" smtClean="0"/>
              <a:t>    A.drawLine(6, 57, 112, 57,WHITE);</a:t>
            </a:r>
          </a:p>
          <a:p>
            <a:r>
              <a:rPr lang="en-US" altLang="zh-TW" sz="170" dirty="0" smtClean="0"/>
              <a:t>    A.drawLine(6, 34, 6, 57,WHITE);</a:t>
            </a:r>
          </a:p>
          <a:p>
            <a:r>
              <a:rPr lang="en-US" altLang="zh-TW" sz="170" dirty="0" smtClean="0"/>
              <a:t>    A.drawLine(112, 34, 112, 57,WHITE);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digitalWrite(4, LOW);</a:t>
            </a:r>
          </a:p>
          <a:p>
            <a:r>
              <a:rPr lang="en-US" altLang="zh-TW" sz="170" dirty="0" smtClean="0"/>
              <a:t>    A.setCursor(0,38);   //</a:t>
            </a:r>
            <a:r>
              <a:rPr lang="zh-TW" altLang="en-US" sz="170" dirty="0" smtClean="0"/>
              <a:t>閃爍的圖案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A.println("  press any button");</a:t>
            </a:r>
          </a:p>
          <a:p>
            <a:r>
              <a:rPr lang="en-US" altLang="zh-TW" sz="170" dirty="0" smtClean="0"/>
              <a:t>    A.println("     to start");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digitalWrite(4, HIGH);</a:t>
            </a:r>
          </a:p>
          <a:p>
            <a:r>
              <a:rPr lang="en-US" altLang="zh-TW" sz="170" dirty="0" smtClean="0"/>
              <a:t>    for (int i = 0; i &lt; 500;i++) {</a:t>
            </a:r>
          </a:p>
          <a:p>
            <a:r>
              <a:rPr lang="en-US" altLang="zh-TW" sz="170" dirty="0" smtClean="0"/>
              <a:t>      delay(1);</a:t>
            </a:r>
          </a:p>
          <a:p>
            <a:r>
              <a:rPr lang="en-US" altLang="zh-TW" sz="170" dirty="0" smtClean="0"/>
              <a:t>      if (!digitalRead(12) || !digitalRead(13) || !digitalRead(7)) {</a:t>
            </a:r>
          </a:p>
          <a:p>
            <a:r>
              <a:rPr lang="en-US" altLang="zh-TW" sz="170" dirty="0" smtClean="0"/>
              <a:t>        flag = 0;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if (!flag) {</a:t>
            </a:r>
          </a:p>
          <a:p>
            <a:r>
              <a:rPr lang="en-US" altLang="zh-TW" sz="170" dirty="0" smtClean="0"/>
              <a:t>        break;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digitalWrite(4, LOW);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for (int i = 3; i &gt; 0; i--) {    //</a:t>
            </a:r>
            <a:r>
              <a:rPr lang="zh-TW" altLang="en-US" sz="170" dirty="0" smtClean="0"/>
              <a:t>倒數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A.clear();</a:t>
            </a:r>
          </a:p>
          <a:p>
            <a:r>
              <a:rPr lang="en-US" altLang="zh-TW" sz="170" dirty="0" smtClean="0"/>
              <a:t>    A.setCursor(0,8);</a:t>
            </a:r>
          </a:p>
          <a:p>
            <a:r>
              <a:rPr lang="en-US" altLang="zh-TW" sz="170" dirty="0" smtClean="0"/>
              <a:t>    A.setTextSize(1);</a:t>
            </a:r>
          </a:p>
          <a:p>
            <a:r>
              <a:rPr lang="en-US" altLang="zh-TW" sz="170" dirty="0" smtClean="0"/>
              <a:t>    A.println("game start in :");</a:t>
            </a:r>
          </a:p>
          <a:p>
            <a:r>
              <a:rPr lang="en-US" altLang="zh-TW" sz="170" dirty="0" smtClean="0"/>
              <a:t>    A.setCursor(54,25);</a:t>
            </a:r>
          </a:p>
          <a:p>
            <a:r>
              <a:rPr lang="en-US" altLang="zh-TW" sz="170" dirty="0" smtClean="0"/>
              <a:t>    A.setTextSize(4);</a:t>
            </a:r>
          </a:p>
          <a:p>
            <a:r>
              <a:rPr lang="en-US" altLang="zh-TW" sz="170" dirty="0" smtClean="0"/>
              <a:t>    A.println(i);</a:t>
            </a:r>
          </a:p>
          <a:p>
            <a:r>
              <a:rPr lang="en-US" altLang="zh-TW" sz="170" dirty="0" smtClean="0"/>
              <a:t>    A.update();</a:t>
            </a:r>
          </a:p>
          <a:p>
            <a:r>
              <a:rPr lang="en-US" altLang="zh-TW" sz="170" dirty="0" smtClean="0"/>
              <a:t>    tone(11, 659, 250);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digitalWrite(i + 7, LOW);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  A.setCursor(27,20);</a:t>
            </a:r>
          </a:p>
          <a:p>
            <a:r>
              <a:rPr lang="en-US" altLang="zh-TW" sz="170" dirty="0" smtClean="0"/>
              <a:t>  A.setTextSize(5);</a:t>
            </a:r>
          </a:p>
          <a:p>
            <a:r>
              <a:rPr lang="en-US" altLang="zh-TW" sz="170" dirty="0" smtClean="0"/>
              <a:t>  A.println("GO!");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tone(11, 1318, 500);</a:t>
            </a:r>
          </a:p>
          <a:p>
            <a:r>
              <a:rPr lang="en-US" altLang="zh-TW" sz="170" dirty="0" smtClean="0"/>
              <a:t>  digitalWrite(4, HIGH);</a:t>
            </a:r>
          </a:p>
          <a:p>
            <a:r>
              <a:rPr lang="en-US" altLang="zh-TW" sz="170" dirty="0" smtClean="0"/>
              <a:t>  delay(1000);</a:t>
            </a:r>
          </a:p>
          <a:p>
            <a:r>
              <a:rPr lang="en-US" altLang="zh-TW" sz="170" dirty="0" smtClean="0"/>
              <a:t>  digitalWrite(4, LOW);</a:t>
            </a:r>
          </a:p>
          <a:p>
            <a:r>
              <a:rPr lang="en-US" altLang="zh-TW" sz="170" dirty="0" smtClean="0"/>
              <a:t>  </a:t>
            </a:r>
          </a:p>
          <a:p>
            <a:r>
              <a:rPr lang="en-US" altLang="zh-TW" sz="170" dirty="0" smtClean="0"/>
              <a:t>  //</a:t>
            </a:r>
            <a:r>
              <a:rPr lang="zh-TW" altLang="en-US" sz="170" dirty="0" smtClean="0"/>
              <a:t>遊戲開始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int life = 3, ag, bg, axl, ayu, bxl, byu, ballx, bally, ballspeed = 6, t, times = 0;</a:t>
            </a:r>
          </a:p>
          <a:p>
            <a:r>
              <a:rPr lang="en-US" altLang="zh-TW" sz="170" dirty="0" smtClean="0"/>
              <a:t>  s = 0;</a:t>
            </a:r>
          </a:p>
          <a:p>
            <a:r>
              <a:rPr lang="en-US" altLang="zh-TW" sz="170" dirty="0" smtClean="0"/>
              <a:t>  digitalWrite(8, HIGH);</a:t>
            </a:r>
          </a:p>
          <a:p>
            <a:r>
              <a:rPr lang="en-US" altLang="zh-TW" sz="170" dirty="0" smtClean="0"/>
              <a:t>  digitalWrite(9, HIGH);</a:t>
            </a:r>
          </a:p>
          <a:p>
            <a:r>
              <a:rPr lang="en-US" altLang="zh-TW" sz="170" dirty="0" smtClean="0"/>
              <a:t>  digitalWrite(10, HIGH);</a:t>
            </a:r>
          </a:p>
          <a:p>
            <a:r>
              <a:rPr lang="en-US" altLang="zh-TW" sz="170" dirty="0" smtClean="0"/>
              <a:t>  while (life) {</a:t>
            </a:r>
          </a:p>
          <a:p>
            <a:r>
              <a:rPr lang="en-US" altLang="zh-TW" sz="170" dirty="0" smtClean="0"/>
              <a:t>    ag = 25, bg = 25, axl = 20, ayu = 32, bxl = 102, byu = 32, ballx = 60, bally = 36;</a:t>
            </a:r>
          </a:p>
          <a:p>
            <a:r>
              <a:rPr lang="en-US" altLang="zh-TW" sz="170" dirty="0" smtClean="0"/>
              <a:t>    bool rebounda = 1, reboundb = 0, speedup = 0;</a:t>
            </a:r>
          </a:p>
          <a:p>
            <a:r>
              <a:rPr lang="en-US" altLang="zh-TW" sz="170" dirty="0" smtClean="0"/>
              <a:t>    times++;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digitalWrite(5, HIGH);    //</a:t>
            </a:r>
            <a:r>
              <a:rPr lang="zh-TW" altLang="en-US" sz="170" dirty="0" smtClean="0"/>
              <a:t>速度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方向設定</a:t>
            </a:r>
          </a:p>
          <a:p>
            <a:r>
              <a:rPr lang="zh-TW" altLang="en-US" sz="170" dirty="0" smtClean="0"/>
              <a:t>    </a:t>
            </a:r>
            <a:r>
              <a:rPr lang="en-US" altLang="zh-TW" sz="170" dirty="0" smtClean="0"/>
              <a:t>delayMicroseconds(10); </a:t>
            </a:r>
          </a:p>
          <a:p>
            <a:r>
              <a:rPr lang="en-US" altLang="zh-TW" sz="170" dirty="0" smtClean="0"/>
              <a:t>    digitalWrite(5, LOW); </a:t>
            </a:r>
          </a:p>
          <a:p>
            <a:r>
              <a:rPr lang="en-US" altLang="zh-TW" sz="170" dirty="0" smtClean="0"/>
              <a:t>    int time_echo = pulseIn(6, HIGH);</a:t>
            </a:r>
          </a:p>
          <a:p>
            <a:r>
              <a:rPr lang="en-US" altLang="zh-TW" sz="170" dirty="0" smtClean="0"/>
              <a:t>    Serial.print(time_echo);</a:t>
            </a:r>
          </a:p>
          <a:p>
            <a:r>
              <a:rPr lang="en-US" altLang="zh-TW" sz="170" dirty="0" smtClean="0"/>
              <a:t>    t = (time_echo + random(10000)) % 60 - 30;</a:t>
            </a:r>
          </a:p>
          <a:p>
            <a:r>
              <a:rPr lang="en-US" altLang="zh-TW" sz="170" dirty="0" smtClean="0"/>
              <a:t>    if ((random(2) + time_echo) % 2) {</a:t>
            </a:r>
          </a:p>
          <a:p>
            <a:r>
              <a:rPr lang="en-US" altLang="zh-TW" sz="170" dirty="0" smtClean="0"/>
              <a:t>      t = 180 - t;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  ballspeed += ballspeed / 2.6 / times;</a:t>
            </a:r>
          </a:p>
          <a:p>
            <a:r>
              <a:rPr lang="en-US" altLang="zh-TW" sz="170" dirty="0" smtClean="0"/>
              <a:t>    </a:t>
            </a:r>
          </a:p>
          <a:p>
            <a:r>
              <a:rPr lang="en-US" altLang="zh-TW" sz="170" dirty="0" smtClean="0"/>
              <a:t>    A.clear();</a:t>
            </a:r>
          </a:p>
          <a:p>
            <a:r>
              <a:rPr lang="en-US" altLang="zh-TW" sz="170" dirty="0" smtClean="0"/>
              <a:t>    Adisplay(ag, bg, axl, ayu, bxl, byu, ballx, bally);</a:t>
            </a:r>
          </a:p>
          <a:p>
            <a:r>
              <a:rPr lang="en-US" altLang="zh-TW" sz="170" dirty="0" smtClean="0"/>
              <a:t>    delay(1000);</a:t>
            </a:r>
          </a:p>
          <a:p>
            <a:r>
              <a:rPr lang="en-US" altLang="zh-TW" sz="170" dirty="0" smtClean="0"/>
              <a:t>    while (1) {</a:t>
            </a:r>
          </a:p>
          <a:p>
            <a:r>
              <a:rPr lang="en-US" altLang="zh-TW" sz="170" dirty="0" smtClean="0"/>
              <a:t>      A.clear();</a:t>
            </a:r>
          </a:p>
          <a:p>
            <a:r>
              <a:rPr lang="en-US" altLang="zh-TW" sz="170" dirty="0" smtClean="0"/>
              <a:t>           </a:t>
            </a:r>
          </a:p>
          <a:p>
            <a:r>
              <a:rPr lang="en-US" altLang="zh-TW" sz="170" dirty="0" smtClean="0"/>
              <a:t>      if (!digitalRead(13) &amp;&amp; ag &gt; 17) {   //</a:t>
            </a:r>
            <a:r>
              <a:rPr lang="zh-TW" altLang="en-US" sz="170" dirty="0" smtClean="0"/>
              <a:t>玩家操控球門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ag -=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(!digitalRead(12) &amp;&amp; ag &lt; 33) {</a:t>
            </a:r>
          </a:p>
          <a:p>
            <a:r>
              <a:rPr lang="en-US" altLang="zh-TW" sz="170" dirty="0" smtClean="0"/>
              <a:t>        ag += 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(analogRead(A4) &lt; 550) {   //</a:t>
            </a:r>
            <a:r>
              <a:rPr lang="zh-TW" altLang="en-US" sz="170" dirty="0" smtClean="0"/>
              <a:t>玩家操控球拍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(axl + pow((550 - analogRead(A4)) / 165, 1.2) &lt; 58) {</a:t>
            </a:r>
          </a:p>
          <a:p>
            <a:r>
              <a:rPr lang="en-US" altLang="zh-TW" sz="170" dirty="0" smtClean="0"/>
              <a:t>          axl += pow((550 - analogRead(A4))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58;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(analogRead(A4) &gt; 500) {</a:t>
            </a:r>
          </a:p>
          <a:p>
            <a:r>
              <a:rPr lang="en-US" altLang="zh-TW" sz="170" dirty="0" smtClean="0"/>
              <a:t>        if (axl - pow((analogRead(A4) - 500) / 150, 1.2) &gt; 20) {</a:t>
            </a:r>
          </a:p>
          <a:p>
            <a:r>
              <a:rPr lang="en-US" altLang="zh-TW" sz="170" dirty="0" smtClean="0"/>
              <a:t>          axl -= pow((analogRead(A4)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axl = 20;</a:t>
            </a:r>
          </a:p>
          <a:p>
            <a:r>
              <a:rPr lang="en-US" altLang="zh-TW" sz="170" dirty="0" smtClean="0"/>
              <a:t>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&lt; 550) {</a:t>
            </a:r>
          </a:p>
          <a:p>
            <a:r>
              <a:rPr lang="en-US" altLang="zh-TW" sz="170" dirty="0" smtClean="0"/>
              <a:t>        if (ayu - pow((550 - analogRead(A5)) / 165, 1.2) &gt; 17) {</a:t>
            </a:r>
          </a:p>
          <a:p>
            <a:r>
              <a:rPr lang="en-US" altLang="zh-TW" sz="170" dirty="0" smtClean="0"/>
              <a:t>          ayu -= pow((550 - analogRead(A5)) / 165,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 ayu = 17;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(analogRead(A5) &gt; 500) {</a:t>
            </a:r>
          </a:p>
          <a:p>
            <a:r>
              <a:rPr lang="en-US" altLang="zh-TW" sz="170" dirty="0" smtClean="0"/>
              <a:t>        if (ayu + pow((analogRead(A5) - 500) / 150, 1.2) &lt; 46) {</a:t>
            </a:r>
          </a:p>
          <a:p>
            <a:r>
              <a:rPr lang="en-US" altLang="zh-TW" sz="170" dirty="0" smtClean="0"/>
              <a:t>          ayu += pow((analogRead(A5) - 500) / 150, 1.2);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ayu = 46;</a:t>
            </a:r>
          </a:p>
          <a:p>
            <a:r>
              <a:rPr lang="en-US" altLang="zh-TW" sz="170" dirty="0" smtClean="0"/>
              <a:t>         }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(ballx &gt; 96) {   //</a:t>
            </a:r>
            <a:r>
              <a:rPr lang="zh-TW" altLang="en-US" sz="170" dirty="0" smtClean="0"/>
              <a:t>電腦操控球門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   </a:t>
            </a:r>
          </a:p>
          <a:p>
            <a:r>
              <a:rPr lang="en-US" altLang="zh-TW" sz="170" dirty="0" smtClean="0"/>
              <a:t>        if (k &lt;= 4) {</a:t>
            </a:r>
          </a:p>
          <a:p>
            <a:r>
              <a:rPr lang="en-US" altLang="zh-TW" sz="170" dirty="0" smtClean="0"/>
              <a:t>          if (bg &gt; 17 &amp;&amp; bally &gt; 40)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&lt; 32)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== 5) {</a:t>
            </a:r>
          </a:p>
          <a:p>
            <a:r>
              <a:rPr lang="en-US" altLang="zh-TW" sz="170" dirty="0" smtClean="0"/>
              <a:t>          if (bg &gt; 17 &amp;&amp; bally &lt; 32) {</a:t>
            </a:r>
          </a:p>
          <a:p>
            <a:r>
              <a:rPr lang="en-US" altLang="zh-TW" sz="170" dirty="0" smtClean="0"/>
              <a:t>            bg -= 8;</a:t>
            </a:r>
          </a:p>
          <a:p>
            <a:r>
              <a:rPr lang="en-US" altLang="zh-TW" sz="170" dirty="0" smtClean="0"/>
              <a:t>          } else if (bg &lt; 33 &amp;&amp; bally &gt; 40) {</a:t>
            </a:r>
          </a:p>
          <a:p>
            <a:r>
              <a:rPr lang="en-US" altLang="zh-TW" sz="170" dirty="0" smtClean="0"/>
              <a:t>            bg += 8;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40) {   //</a:t>
            </a:r>
            <a:r>
              <a:rPr lang="zh-TW" altLang="en-US" sz="170" dirty="0" smtClean="0"/>
              <a:t>電腦操控球拍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int k = (random(10) + time_echo) % 10;</a:t>
            </a:r>
          </a:p>
          <a:p>
            <a:r>
              <a:rPr lang="en-US" altLang="zh-TW" sz="170" dirty="0" smtClean="0"/>
              <a:t>        if (ballx &lt; bxl &amp;&amp; k &gt; 3) {</a:t>
            </a:r>
          </a:p>
          <a:p>
            <a:r>
              <a:rPr lang="en-US" altLang="zh-TW" sz="170" dirty="0" smtClean="0"/>
              <a:t>          if (byu &gt; 20 &amp;&amp; bally &lt; byu)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- 9 &gt; byu) {</a:t>
            </a:r>
          </a:p>
          <a:p>
            <a:r>
              <a:rPr lang="en-US" altLang="zh-TW" sz="170" dirty="0" smtClean="0"/>
              <a:t>            byu += 3; </a:t>
            </a:r>
          </a:p>
          <a:p>
            <a:r>
              <a:rPr lang="en-US" altLang="zh-TW" sz="170" dirty="0" smtClean="0"/>
              <a:t>          }  </a:t>
            </a:r>
          </a:p>
          <a:p>
            <a:r>
              <a:rPr lang="en-US" altLang="zh-TW" sz="170" dirty="0" smtClean="0"/>
              <a:t>          if (bxl &lt; 99 &amp;&amp; k &gt; 7)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 else if (bxl &gt; 67 &amp;&amp; k &lt; 6) {</a:t>
            </a:r>
          </a:p>
          <a:p>
            <a:r>
              <a:rPr lang="en-US" altLang="zh-TW" sz="170" dirty="0" smtClean="0"/>
              <a:t>            bxl -= 3; 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if (k != 0) {</a:t>
            </a:r>
          </a:p>
          <a:p>
            <a:r>
              <a:rPr lang="en-US" altLang="zh-TW" sz="170" dirty="0" smtClean="0"/>
              <a:t>          if (byu &gt; 20 &amp;&amp; bally &gt; 46 - (times % 2) * 20) {</a:t>
            </a:r>
          </a:p>
          <a:p>
            <a:r>
              <a:rPr lang="en-US" altLang="zh-TW" sz="170" dirty="0" smtClean="0"/>
              <a:t>            byu -= 3;</a:t>
            </a:r>
          </a:p>
          <a:p>
            <a:r>
              <a:rPr lang="en-US" altLang="zh-TW" sz="170" dirty="0" smtClean="0"/>
              <a:t>          } else if (byu &lt; 43 &amp;&amp; bally &lt; 63) {</a:t>
            </a:r>
          </a:p>
          <a:p>
            <a:r>
              <a:rPr lang="en-US" altLang="zh-TW" sz="170" dirty="0" smtClean="0"/>
              <a:t>            byu += 3;</a:t>
            </a:r>
          </a:p>
          <a:p>
            <a:r>
              <a:rPr lang="en-US" altLang="zh-TW" sz="170" dirty="0" smtClean="0"/>
              <a:t>          } </a:t>
            </a:r>
          </a:p>
          <a:p>
            <a:r>
              <a:rPr lang="en-US" altLang="zh-TW" sz="170" dirty="0" smtClean="0"/>
              <a:t>          if (bxl &lt; 99) {</a:t>
            </a:r>
          </a:p>
          <a:p>
            <a:r>
              <a:rPr lang="en-US" altLang="zh-TW" sz="170" dirty="0" smtClean="0"/>
              <a:t>            bxl += 3;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(bally &lt; 20) {   //</a:t>
            </a:r>
            <a:r>
              <a:rPr lang="zh-TW" altLang="en-US" sz="170" dirty="0" smtClean="0"/>
              <a:t>球反彈場地 </a:t>
            </a:r>
            <a:r>
              <a:rPr lang="en-US" altLang="zh-TW" sz="170" dirty="0" smtClean="0"/>
              <a:t>&amp; </a:t>
            </a:r>
            <a:r>
              <a:rPr lang="zh-TW" altLang="en-US" sz="170" dirty="0" smtClean="0"/>
              <a:t>進球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t = 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54) {</a:t>
            </a:r>
          </a:p>
          <a:p>
            <a:r>
              <a:rPr lang="en-US" altLang="zh-TW" sz="170" dirty="0" smtClean="0"/>
              <a:t>        t = -abs(t);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&lt; 1) {</a:t>
            </a:r>
          </a:p>
          <a:p>
            <a:r>
              <a:rPr lang="en-US" altLang="zh-TW" sz="170" dirty="0" smtClean="0"/>
              <a:t>        rebounda = 0, reboundb = 0, speedup = 0;</a:t>
            </a:r>
          </a:p>
          <a:p>
            <a:r>
              <a:rPr lang="en-US" altLang="zh-TW" sz="170" dirty="0" smtClean="0"/>
              <a:t>        if (bally &gt;= ag &amp;&amp; bally &lt;= ag + 22) {</a:t>
            </a:r>
          </a:p>
          <a:p>
            <a:r>
              <a:rPr lang="en-US" altLang="zh-TW" sz="170" dirty="0" smtClean="0"/>
              <a:t>          life--;</a:t>
            </a:r>
          </a:p>
          <a:p>
            <a:r>
              <a:rPr lang="en-US" altLang="zh-TW" sz="170" dirty="0" smtClean="0"/>
              <a:t>          A.clear();</a:t>
            </a:r>
          </a:p>
          <a:p>
            <a:r>
              <a:rPr lang="en-US" altLang="zh-TW" sz="170" dirty="0" smtClean="0"/>
              <a:t>          Adisplay(ag, bg, axl, ayu, bxl, byu, -100, -100);</a:t>
            </a:r>
          </a:p>
          <a:p>
            <a:r>
              <a:rPr lang="en-US" altLang="zh-TW" sz="170" dirty="0" smtClean="0"/>
              <a:t>          for (int i = 0; i &lt; 3; i++) {   //</a:t>
            </a:r>
            <a:r>
              <a:rPr lang="zh-TW" altLang="en-US" sz="170" dirty="0" smtClean="0"/>
              <a:t>電腦進球動畫</a:t>
            </a:r>
          </a:p>
          <a:p>
            <a:r>
              <a:rPr lang="zh-TW" altLang="en-US" sz="170" dirty="0" smtClean="0"/>
              <a:t>            </a:t>
            </a:r>
            <a:r>
              <a:rPr lang="en-US" altLang="zh-TW" sz="170" dirty="0" smtClean="0"/>
              <a:t>digitalWrite(life + 8, LOW);</a:t>
            </a:r>
          </a:p>
          <a:p>
            <a:r>
              <a:rPr lang="en-US" altLang="zh-TW" sz="170" dirty="0" smtClean="0"/>
              <a:t>            tone(11, 466,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  digitalWrite(life + 8, HIGH);</a:t>
            </a:r>
          </a:p>
          <a:p>
            <a:r>
              <a:rPr lang="en-US" altLang="zh-TW" sz="170" dirty="0" smtClean="0"/>
              <a:t>            tone(11, 440, 100);</a:t>
            </a:r>
          </a:p>
          <a:p>
            <a:r>
              <a:rPr lang="en-US" altLang="zh-TW" sz="170" dirty="0" smtClean="0"/>
              <a:t>            delay(100);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digitalWrite(life + 8, LOW);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(ballx &gt; 118) {</a:t>
            </a:r>
          </a:p>
          <a:p>
            <a:r>
              <a:rPr lang="en-US" altLang="zh-TW" sz="170" dirty="0" smtClean="0"/>
              <a:t>        rebounda = 1, reboundb = 1, speedup = 0;</a:t>
            </a:r>
          </a:p>
          <a:p>
            <a:r>
              <a:rPr lang="en-US" altLang="zh-TW" sz="170" dirty="0" smtClean="0"/>
              <a:t>        A.clear();</a:t>
            </a:r>
          </a:p>
          <a:p>
            <a:r>
              <a:rPr lang="en-US" altLang="zh-TW" sz="170" dirty="0" smtClean="0"/>
              <a:t>        Adisplay(ag, bg, axl, ayu, bxl, byu, -100, -100);</a:t>
            </a:r>
          </a:p>
          <a:p>
            <a:r>
              <a:rPr lang="en-US" altLang="zh-TW" sz="170" dirty="0" smtClean="0"/>
              <a:t>        if (bally &gt;= bg &amp;&amp; bally &lt;= bg + 22) {   //</a:t>
            </a:r>
            <a:r>
              <a:rPr lang="zh-TW" altLang="en-US" sz="170" dirty="0" smtClean="0"/>
              <a:t>玩家進球動畫</a:t>
            </a:r>
          </a:p>
          <a:p>
            <a:r>
              <a:rPr lang="zh-TW" altLang="en-US" sz="170" dirty="0" smtClean="0"/>
              <a:t>          </a:t>
            </a:r>
            <a:r>
              <a:rPr lang="en-US" altLang="zh-TW" sz="170" dirty="0" smtClean="0"/>
              <a:t>s += 100;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784,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988, 100);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1175, 100);</a:t>
            </a:r>
          </a:p>
          <a:p>
            <a:r>
              <a:rPr lang="en-US" altLang="zh-TW" sz="170" dirty="0" smtClean="0"/>
              <a:t>          digitalWrite(4, HIGH);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tone(11, 1046, 200);</a:t>
            </a:r>
          </a:p>
          <a:p>
            <a:r>
              <a:rPr lang="en-US" altLang="zh-TW" sz="170" dirty="0" smtClean="0"/>
              <a:t>          digitalWrite(4, LOW);</a:t>
            </a:r>
          </a:p>
          <a:p>
            <a:r>
              <a:rPr lang="en-US" altLang="zh-TW" sz="170" dirty="0" smtClean="0"/>
              <a:t>          delay(100);</a:t>
            </a:r>
          </a:p>
          <a:p>
            <a:r>
              <a:rPr lang="en-US" altLang="zh-TW" sz="170" dirty="0" smtClean="0"/>
              <a:t>          break;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if (t &gt; 0) {</a:t>
            </a:r>
          </a:p>
          <a:p>
            <a:r>
              <a:rPr lang="en-US" altLang="zh-TW" sz="170" dirty="0" smtClean="0"/>
              <a:t>          t = 180 - t;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t = -180 - t;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tone(11, 294, 100);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axl - 8 &amp;&amp; ballx &lt; axl + 9 &amp;&amp; bally &gt; ayu - 8 &amp;&amp; bally &lt; ayu + 17) {    //</a:t>
            </a:r>
            <a:r>
              <a:rPr lang="zh-TW" altLang="en-US" sz="170" dirty="0" smtClean="0"/>
              <a:t>球反彈玩家球拍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(rebounda)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reboundb = 0;</a:t>
            </a:r>
          </a:p>
          <a:p>
            <a:r>
              <a:rPr lang="en-US" altLang="zh-TW" sz="170" dirty="0" smtClean="0"/>
              <a:t>        tone(11, 784, 100);</a:t>
            </a:r>
          </a:p>
          <a:p>
            <a:r>
              <a:rPr lang="en-US" altLang="zh-TW" sz="170" dirty="0" smtClean="0"/>
              <a:t>        if (!digitalRead(7)) {</a:t>
            </a:r>
          </a:p>
          <a:p>
            <a:r>
              <a:rPr lang="en-US" altLang="zh-TW" sz="170" dirty="0" smtClean="0"/>
              <a:t>          speedup = 1;</a:t>
            </a:r>
          </a:p>
          <a:p>
            <a:r>
              <a:rPr lang="en-US" altLang="zh-TW" sz="170" dirty="0" smtClean="0"/>
              <a:t>          t *= 0.7;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speedup = 0;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bxl - 8 &amp;&amp; ballx &lt; bxl + 9 &amp;&amp; bally &gt; byu - 8 &amp;&amp; bally &lt; byu + 17) {    //</a:t>
            </a:r>
            <a:r>
              <a:rPr lang="zh-TW" altLang="en-US" sz="170" dirty="0" smtClean="0"/>
              <a:t>球反彈對手球拍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if (reboundb)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random(15, 64);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-random(15, 64);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  if (random(4) + time_echo) {</a:t>
            </a:r>
          </a:p>
          <a:p>
            <a:r>
              <a:rPr lang="en-US" altLang="zh-TW" sz="170" dirty="0" smtClean="0"/>
              <a:t>            speedup = 0;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speedup = 1;</a:t>
            </a:r>
          </a:p>
          <a:p>
            <a:r>
              <a:rPr lang="en-US" altLang="zh-TW" sz="170" dirty="0" smtClean="0"/>
              <a:t>            t *= 0.7;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 else {</a:t>
            </a:r>
          </a:p>
          <a:p>
            <a:r>
              <a:rPr lang="en-US" altLang="zh-TW" sz="170" dirty="0" smtClean="0"/>
              <a:t>          if (t &gt; 0) {</a:t>
            </a:r>
          </a:p>
          <a:p>
            <a:r>
              <a:rPr lang="en-US" altLang="zh-TW" sz="170" dirty="0" smtClean="0"/>
              <a:t>            t = random(165, 118);</a:t>
            </a:r>
          </a:p>
          <a:p>
            <a:r>
              <a:rPr lang="en-US" altLang="zh-TW" sz="170" dirty="0" smtClean="0"/>
              <a:t>          } else {</a:t>
            </a:r>
          </a:p>
          <a:p>
            <a:r>
              <a:rPr lang="en-US" altLang="zh-TW" sz="170" dirty="0" smtClean="0"/>
              <a:t>            t = -random(165, 118);</a:t>
            </a:r>
          </a:p>
          <a:p>
            <a:r>
              <a:rPr lang="en-US" altLang="zh-TW" sz="170" dirty="0" smtClean="0"/>
              <a:t>          }</a:t>
            </a:r>
          </a:p>
          <a:p>
            <a:r>
              <a:rPr lang="en-US" altLang="zh-TW" sz="170" dirty="0" smtClean="0"/>
              <a:t>        }</a:t>
            </a:r>
          </a:p>
          <a:p>
            <a:r>
              <a:rPr lang="en-US" altLang="zh-TW" sz="170" dirty="0" smtClean="0"/>
              <a:t>        rebounda = 1;</a:t>
            </a:r>
          </a:p>
          <a:p>
            <a:r>
              <a:rPr lang="en-US" altLang="zh-TW" sz="170" dirty="0" smtClean="0"/>
              <a:t>        tone(11, 1568, 100);</a:t>
            </a:r>
          </a:p>
          <a:p>
            <a:r>
              <a:rPr lang="en-US" altLang="zh-TW" sz="170" dirty="0" smtClean="0"/>
              <a:t>      }</a:t>
            </a:r>
          </a:p>
          <a:p>
            <a:endParaRPr lang="en-US" altLang="zh-TW" sz="170" dirty="0" smtClean="0"/>
          </a:p>
          <a:p>
            <a:r>
              <a:rPr lang="en-US" altLang="zh-TW" sz="170" dirty="0" smtClean="0"/>
              <a:t>      if (speedup) {</a:t>
            </a:r>
          </a:p>
          <a:p>
            <a:r>
              <a:rPr lang="en-US" altLang="zh-TW" sz="170" dirty="0" smtClean="0"/>
              <a:t>        ballx += (ballspeed * 1.4)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(ballspeed * 1.4) * sin(t * Pi / 180);</a:t>
            </a:r>
          </a:p>
          <a:p>
            <a:r>
              <a:rPr lang="en-US" altLang="zh-TW" sz="170" dirty="0" smtClean="0"/>
              <a:t>      } else {</a:t>
            </a:r>
          </a:p>
          <a:p>
            <a:r>
              <a:rPr lang="en-US" altLang="zh-TW" sz="170" dirty="0" smtClean="0"/>
              <a:t>        ballx += ballspeed * cos(t * Pi / 180);   //</a:t>
            </a:r>
            <a:r>
              <a:rPr lang="zh-TW" altLang="en-US" sz="170" dirty="0" smtClean="0"/>
              <a:t>球的座標</a:t>
            </a:r>
          </a:p>
          <a:p>
            <a:r>
              <a:rPr lang="zh-TW" altLang="en-US" sz="170" dirty="0" smtClean="0"/>
              <a:t>        </a:t>
            </a:r>
            <a:r>
              <a:rPr lang="en-US" altLang="zh-TW" sz="170" dirty="0" smtClean="0"/>
              <a:t>bally += ballspeed * sin(t * Pi / 180);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if (ballx &gt; 119) {</a:t>
            </a:r>
          </a:p>
          <a:p>
            <a:r>
              <a:rPr lang="en-US" altLang="zh-TW" sz="170" dirty="0" smtClean="0"/>
              <a:t>        ballx = 119;</a:t>
            </a:r>
          </a:p>
          <a:p>
            <a:r>
              <a:rPr lang="en-US" altLang="zh-TW" sz="170" dirty="0" smtClean="0"/>
              <a:t>      } else if (ballx &lt; 0) {</a:t>
            </a:r>
          </a:p>
          <a:p>
            <a:r>
              <a:rPr lang="en-US" altLang="zh-TW" sz="170" dirty="0" smtClean="0"/>
              <a:t>        ballx = 0;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if (bally &gt; 55) {</a:t>
            </a:r>
          </a:p>
          <a:p>
            <a:r>
              <a:rPr lang="en-US" altLang="zh-TW" sz="170" dirty="0" smtClean="0"/>
              <a:t>        bally = 55;</a:t>
            </a:r>
          </a:p>
          <a:p>
            <a:r>
              <a:rPr lang="en-US" altLang="zh-TW" sz="170" dirty="0" smtClean="0"/>
              <a:t>      } else if (bally &lt; 18) {</a:t>
            </a:r>
          </a:p>
          <a:p>
            <a:r>
              <a:rPr lang="en-US" altLang="zh-TW" sz="170" dirty="0" smtClean="0"/>
              <a:t>        bally = 18;</a:t>
            </a:r>
          </a:p>
          <a:p>
            <a:r>
              <a:rPr lang="en-US" altLang="zh-TW" sz="170" dirty="0" smtClean="0"/>
              <a:t>      }</a:t>
            </a:r>
          </a:p>
          <a:p>
            <a:r>
              <a:rPr lang="en-US" altLang="zh-TW" sz="170" dirty="0" smtClean="0"/>
              <a:t>      </a:t>
            </a:r>
          </a:p>
          <a:p>
            <a:r>
              <a:rPr lang="en-US" altLang="zh-TW" sz="170" dirty="0" smtClean="0"/>
              <a:t>      Adisplay(ag, bg, axl, ayu, bxl, byu, ballx, bally);</a:t>
            </a:r>
          </a:p>
          <a:p>
            <a:r>
              <a:rPr lang="en-US" altLang="zh-TW" sz="170" dirty="0" smtClean="0"/>
              <a:t>    }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A.clear();    //</a:t>
            </a:r>
            <a:r>
              <a:rPr lang="zh-TW" altLang="en-US" sz="170" dirty="0" smtClean="0"/>
              <a:t>遊戲結束</a:t>
            </a:r>
          </a:p>
          <a:p>
            <a:r>
              <a:rPr lang="zh-TW" altLang="en-US" sz="170" dirty="0" smtClean="0"/>
              <a:t>  </a:t>
            </a:r>
            <a:r>
              <a:rPr lang="en-US" altLang="zh-TW" sz="170" dirty="0" smtClean="0"/>
              <a:t>A.setCursor(0,8);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A.println("your score");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A.setCursor(65,8);</a:t>
            </a:r>
          </a:p>
          <a:p>
            <a:r>
              <a:rPr lang="en-US" altLang="zh-TW" sz="170" dirty="0" smtClean="0"/>
              <a:t>  A.setTextSize(1);</a:t>
            </a:r>
          </a:p>
          <a:p>
            <a:r>
              <a:rPr lang="en-US" altLang="zh-TW" sz="170" dirty="0" smtClean="0"/>
              <a:t>  A.println(s);</a:t>
            </a:r>
          </a:p>
          <a:p>
            <a:r>
              <a:rPr lang="en-US" altLang="zh-TW" sz="170" dirty="0" smtClean="0"/>
              <a:t>  A.setCursor(10, 40);</a:t>
            </a:r>
          </a:p>
          <a:p>
            <a:r>
              <a:rPr lang="en-US" altLang="zh-TW" sz="170" dirty="0" smtClean="0"/>
              <a:t>  A.setTextSize(2);</a:t>
            </a:r>
          </a:p>
          <a:p>
            <a:r>
              <a:rPr lang="en-US" altLang="zh-TW" sz="170" dirty="0" smtClean="0"/>
              <a:t>  A.println("GAME OVER");</a:t>
            </a:r>
          </a:p>
          <a:p>
            <a:r>
              <a:rPr lang="en-US" altLang="zh-TW" sz="170" dirty="0" smtClean="0"/>
              <a:t>  A.update();</a:t>
            </a:r>
          </a:p>
          <a:p>
            <a:r>
              <a:rPr lang="en-US" altLang="zh-TW" sz="170" dirty="0" smtClean="0"/>
              <a:t>  int p = 120;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for (int i = 440; i &gt; 138; i -= 25.5) {</a:t>
            </a:r>
          </a:p>
          <a:p>
            <a:r>
              <a:rPr lang="en-US" altLang="zh-TW" sz="170" dirty="0" smtClean="0"/>
              <a:t>    digitalWrite(i % 3 + 8, LOW);</a:t>
            </a:r>
          </a:p>
          <a:p>
            <a:r>
              <a:rPr lang="en-US" altLang="zh-TW" sz="170" dirty="0" smtClean="0"/>
              <a:t>    digitalWrite((i + 1) % 3 + 8, LOW);</a:t>
            </a:r>
          </a:p>
          <a:p>
            <a:r>
              <a:rPr lang="en-US" altLang="zh-TW" sz="170" dirty="0" smtClean="0"/>
              <a:t>    digitalWrite((i + 2) % 3 + 8, HIGH);</a:t>
            </a:r>
          </a:p>
          <a:p>
            <a:r>
              <a:rPr lang="en-US" altLang="zh-TW" sz="170" dirty="0" smtClean="0"/>
              <a:t>    tone(11, i);</a:t>
            </a:r>
          </a:p>
          <a:p>
            <a:r>
              <a:rPr lang="en-US" altLang="zh-TW" sz="170" dirty="0" smtClean="0"/>
              <a:t>    delay(p / 3);</a:t>
            </a:r>
          </a:p>
          <a:p>
            <a:r>
              <a:rPr lang="en-US" altLang="zh-TW" sz="170" dirty="0" smtClean="0"/>
              <a:t>  }</a:t>
            </a:r>
          </a:p>
          <a:p>
            <a:r>
              <a:rPr lang="en-US" altLang="zh-TW" sz="170" dirty="0" smtClean="0"/>
              <a:t>  digitalWrite(8, LOW);</a:t>
            </a:r>
          </a:p>
          <a:p>
            <a:r>
              <a:rPr lang="en-US" altLang="zh-TW" sz="170" dirty="0" smtClean="0"/>
              <a:t>  digitalWrite(9, LOW);</a:t>
            </a:r>
          </a:p>
          <a:p>
            <a:r>
              <a:rPr lang="en-US" altLang="zh-TW" sz="170" dirty="0" smtClean="0"/>
              <a:t>  digitalWrite(10, LOW);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delay(p * 8);</a:t>
            </a:r>
          </a:p>
          <a:p>
            <a:r>
              <a:rPr lang="en-US" altLang="zh-TW" sz="170" dirty="0" smtClean="0"/>
              <a:t>  tone(11, 784);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1046);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1318);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1661);</a:t>
            </a:r>
          </a:p>
          <a:p>
            <a:r>
              <a:rPr lang="en-US" altLang="zh-TW" sz="170" dirty="0" smtClean="0"/>
              <a:t>  delay(p * 2);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1397);</a:t>
            </a:r>
          </a:p>
          <a:p>
            <a:r>
              <a:rPr lang="en-US" altLang="zh-TW" sz="170" dirty="0" smtClean="0"/>
              <a:t>  delay(p);</a:t>
            </a:r>
          </a:p>
          <a:p>
            <a:r>
              <a:rPr lang="en-US" altLang="zh-TW" sz="170" dirty="0" smtClean="0"/>
              <a:t>  tone(11, 1568);</a:t>
            </a:r>
          </a:p>
          <a:p>
            <a:r>
              <a:rPr lang="en-US" altLang="zh-TW" sz="170" dirty="0" smtClean="0"/>
              <a:t>  delay(p * 4);</a:t>
            </a:r>
          </a:p>
          <a:p>
            <a:r>
              <a:rPr lang="en-US" altLang="zh-TW" sz="170" dirty="0" smtClean="0"/>
              <a:t>  noTone(11);</a:t>
            </a:r>
          </a:p>
          <a:p>
            <a:r>
              <a:rPr lang="en-US" altLang="zh-TW" sz="170" dirty="0" smtClean="0"/>
              <a:t>  delay(2500);</a:t>
            </a:r>
          </a:p>
          <a:p>
            <a:r>
              <a:rPr lang="en-US" altLang="zh-TW" sz="170" dirty="0" smtClean="0"/>
              <a:t>  A.clear();</a:t>
            </a:r>
          </a:p>
          <a:p>
            <a:r>
              <a:rPr lang="en-US" altLang="zh-TW" sz="170" dirty="0" smtClean="0"/>
              <a:t>}</a:t>
            </a:r>
            <a:endParaRPr lang="zh-TW" altLang="en-US" sz="170" dirty="0"/>
          </a:p>
        </p:txBody>
      </p:sp>
    </p:spTree>
    <p:extLst>
      <p:ext uri="{BB962C8B-B14F-4D97-AF65-F5344CB8AC3E}">
        <p14:creationId xmlns:p14="http://schemas.microsoft.com/office/powerpoint/2010/main" val="372477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176_TF45165253.potx" id="{5BE4DF90-C240-4089-87C4-DC72E5CC9387}" vid="{3AEFBD68-461C-45E8-A67F-CDC846FBF56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41CBB0-BAA0-4983-8F2B-E10AF3358DA8}">
  <ds:schemaRefs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電路設計</Template>
  <TotalTime>0</TotalTime>
  <Words>19441</Words>
  <Application>Microsoft Office PowerPoint</Application>
  <PresentationFormat>寬螢幕</PresentationFormat>
  <Paragraphs>2774</Paragraphs>
  <Slides>30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Microsoft JhengHei UI</vt:lpstr>
      <vt:lpstr>新細明體</vt:lpstr>
      <vt:lpstr>Arial</vt:lpstr>
      <vt:lpstr>Trebuchet MS</vt:lpstr>
      <vt:lpstr>Tw Cen MT</vt:lpstr>
      <vt:lpstr>電路</vt:lpstr>
      <vt:lpstr>乒乓遊戲機   ╵  . ╷</vt:lpstr>
      <vt:lpstr>PowerPoint 簡報</vt:lpstr>
      <vt:lpstr>作品製作動機</vt:lpstr>
      <vt:lpstr>設計作品靈感來源</vt:lpstr>
      <vt:lpstr>我的作品簡介</vt:lpstr>
      <vt:lpstr>遊戲規則說明以及操作方式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◉ 顯示畫面</vt:lpstr>
      <vt:lpstr>製作作品的心路歷程</vt:lpstr>
      <vt:lpstr>製作作品的心路歷程</vt:lpstr>
      <vt:lpstr>製作作品的心路歷程</vt:lpstr>
      <vt:lpstr>心得與反思</vt:lpstr>
      <vt:lpstr>補充：運用零件的巧思</vt:lpstr>
      <vt:lpstr>◉ 電阻的作用</vt:lpstr>
      <vt:lpstr>◉ LED燈的作用</vt:lpstr>
      <vt:lpstr>◉ 超音波感測器的作用</vt:lpstr>
      <vt:lpstr>◉ 蜂鳴器的作用</vt:lpstr>
      <vt:lpstr>謝謝大家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2022-12-17T07:56:00Z</dcterms:created>
  <dcterms:modified xsi:type="dcterms:W3CDTF">2023-02-24T15:14:46Z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