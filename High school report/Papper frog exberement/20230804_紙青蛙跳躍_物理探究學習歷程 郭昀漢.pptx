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6" userDrawn="1">
          <p15:clr>
            <a:srgbClr val="A4A3A4"/>
          </p15:clr>
        </p15:guide>
        <p15:guide id="2" pos="846" userDrawn="1">
          <p15:clr>
            <a:srgbClr val="A4A3A4"/>
          </p15:clr>
        </p15:guide>
        <p15:guide id="3" pos="6834" userDrawn="1">
          <p15:clr>
            <a:srgbClr val="A4A3A4"/>
          </p15:clr>
        </p15:guide>
        <p15:guide id="4" orient="horz" pos="358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B7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354" y="96"/>
      </p:cViewPr>
      <p:guideLst>
        <p:guide orient="horz" pos="1366"/>
        <p:guide pos="846"/>
        <p:guide pos="6834"/>
        <p:guide orient="horz" pos="358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 dirty="0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5A26C28-A71E-4E88-83CC-47331F639748}" type="datetimeFigureOut">
              <a:rPr lang="zh-TW" altLang="en-US" smtClean="0"/>
              <a:t>2023/8/4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CCF4F9F-795D-4A76-BAD5-16897D0C4F3C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9532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8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28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28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28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28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26C28-A71E-4E88-83CC-47331F639748}" type="datetimeFigureOut">
              <a:rPr lang="zh-TW" altLang="en-US" smtClean="0"/>
              <a:t>2023/8/4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F4F9F-795D-4A76-BAD5-16897D0C4F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5386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26C28-A71E-4E88-83CC-47331F639748}" type="datetimeFigureOut">
              <a:rPr lang="zh-TW" altLang="en-US" smtClean="0"/>
              <a:t>2023/8/4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F4F9F-795D-4A76-BAD5-16897D0C4F3C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0874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26C28-A71E-4E88-83CC-47331F639748}" type="datetimeFigureOut">
              <a:rPr lang="zh-TW" altLang="en-US" smtClean="0"/>
              <a:t>2023/8/4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F4F9F-795D-4A76-BAD5-16897D0C4F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058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26C28-A71E-4E88-83CC-47331F639748}" type="datetimeFigureOut">
              <a:rPr lang="zh-TW" altLang="en-US" smtClean="0"/>
              <a:t>2023/8/4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F4F9F-795D-4A76-BAD5-16897D0C4F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7675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26C28-A71E-4E88-83CC-47331F639748}" type="datetimeFigureOut">
              <a:rPr lang="zh-TW" altLang="en-US" smtClean="0"/>
              <a:t>2023/8/4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F4F9F-795D-4A76-BAD5-16897D0C4F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8327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26C28-A71E-4E88-83CC-47331F639748}" type="datetimeFigureOut">
              <a:rPr lang="zh-TW" altLang="en-US" smtClean="0"/>
              <a:t>2023/8/4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F4F9F-795D-4A76-BAD5-16897D0C4F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8224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26C28-A71E-4E88-83CC-47331F639748}" type="datetimeFigureOut">
              <a:rPr lang="zh-TW" altLang="en-US" smtClean="0"/>
              <a:t>2023/8/4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F4F9F-795D-4A76-BAD5-16897D0C4F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5735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26C28-A71E-4E88-83CC-47331F639748}" type="datetimeFigureOut">
              <a:rPr lang="zh-TW" altLang="en-US" smtClean="0"/>
              <a:t>2023/8/4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F4F9F-795D-4A76-BAD5-16897D0C4F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1341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26C28-A71E-4E88-83CC-47331F639748}" type="datetimeFigureOut">
              <a:rPr lang="zh-TW" altLang="en-US" smtClean="0"/>
              <a:t>2023/8/4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F4F9F-795D-4A76-BAD5-16897D0C4F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2341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26C28-A71E-4E88-83CC-47331F639748}" type="datetimeFigureOut">
              <a:rPr lang="zh-TW" altLang="en-US" smtClean="0"/>
              <a:t>2023/8/4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F4F9F-795D-4A76-BAD5-16897D0C4F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7877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65A26C28-A71E-4E88-83CC-47331F639748}" type="datetimeFigureOut">
              <a:rPr lang="zh-TW" altLang="en-US" smtClean="0"/>
              <a:t>2023/8/4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BCCF4F9F-795D-4A76-BAD5-16897D0C4F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8521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13" Type="http://schemas.openxmlformats.org/officeDocument/2006/relationships/image" Target="../media/image16.jpeg"/><Relationship Id="rId18" Type="http://schemas.openxmlformats.org/officeDocument/2006/relationships/image" Target="../media/image21.jpeg"/><Relationship Id="rId3" Type="http://schemas.openxmlformats.org/officeDocument/2006/relationships/image" Target="../media/image6.jpeg"/><Relationship Id="rId21" Type="http://schemas.openxmlformats.org/officeDocument/2006/relationships/image" Target="../media/image24.jpeg"/><Relationship Id="rId7" Type="http://schemas.openxmlformats.org/officeDocument/2006/relationships/image" Target="../media/image10.jpeg"/><Relationship Id="rId12" Type="http://schemas.openxmlformats.org/officeDocument/2006/relationships/image" Target="../media/image15.jpeg"/><Relationship Id="rId17" Type="http://schemas.openxmlformats.org/officeDocument/2006/relationships/image" Target="../media/image20.jpeg"/><Relationship Id="rId2" Type="http://schemas.openxmlformats.org/officeDocument/2006/relationships/image" Target="../media/image5.jpeg"/><Relationship Id="rId16" Type="http://schemas.openxmlformats.org/officeDocument/2006/relationships/image" Target="../media/image19.jpeg"/><Relationship Id="rId20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11" Type="http://schemas.openxmlformats.org/officeDocument/2006/relationships/image" Target="../media/image14.jpeg"/><Relationship Id="rId5" Type="http://schemas.openxmlformats.org/officeDocument/2006/relationships/image" Target="../media/image8.jpeg"/><Relationship Id="rId15" Type="http://schemas.openxmlformats.org/officeDocument/2006/relationships/image" Target="../media/image18.jpeg"/><Relationship Id="rId10" Type="http://schemas.openxmlformats.org/officeDocument/2006/relationships/image" Target="../media/image13.jpeg"/><Relationship Id="rId19" Type="http://schemas.openxmlformats.org/officeDocument/2006/relationships/image" Target="../media/image22.jpeg"/><Relationship Id="rId4" Type="http://schemas.openxmlformats.org/officeDocument/2006/relationships/image" Target="../media/image7.jpeg"/><Relationship Id="rId9" Type="http://schemas.openxmlformats.org/officeDocument/2006/relationships/image" Target="../media/image12.jpeg"/><Relationship Id="rId14" Type="http://schemas.openxmlformats.org/officeDocument/2006/relationships/image" Target="../media/image17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jpeg"/><Relationship Id="rId13" Type="http://schemas.openxmlformats.org/officeDocument/2006/relationships/image" Target="../media/image36.jpeg"/><Relationship Id="rId18" Type="http://schemas.openxmlformats.org/officeDocument/2006/relationships/image" Target="../media/image41.jpeg"/><Relationship Id="rId3" Type="http://schemas.openxmlformats.org/officeDocument/2006/relationships/image" Target="../media/image26.jpeg"/><Relationship Id="rId21" Type="http://schemas.openxmlformats.org/officeDocument/2006/relationships/image" Target="../media/image44.jpeg"/><Relationship Id="rId7" Type="http://schemas.openxmlformats.org/officeDocument/2006/relationships/image" Target="../media/image30.jpeg"/><Relationship Id="rId12" Type="http://schemas.openxmlformats.org/officeDocument/2006/relationships/image" Target="../media/image35.jpeg"/><Relationship Id="rId17" Type="http://schemas.openxmlformats.org/officeDocument/2006/relationships/image" Target="../media/image40.jpeg"/><Relationship Id="rId2" Type="http://schemas.openxmlformats.org/officeDocument/2006/relationships/image" Target="../media/image25.jpeg"/><Relationship Id="rId16" Type="http://schemas.openxmlformats.org/officeDocument/2006/relationships/image" Target="../media/image39.jpeg"/><Relationship Id="rId20" Type="http://schemas.openxmlformats.org/officeDocument/2006/relationships/image" Target="../media/image4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eg"/><Relationship Id="rId11" Type="http://schemas.openxmlformats.org/officeDocument/2006/relationships/image" Target="../media/image34.jpeg"/><Relationship Id="rId5" Type="http://schemas.openxmlformats.org/officeDocument/2006/relationships/image" Target="../media/image28.jpeg"/><Relationship Id="rId15" Type="http://schemas.openxmlformats.org/officeDocument/2006/relationships/image" Target="../media/image38.jpeg"/><Relationship Id="rId10" Type="http://schemas.openxmlformats.org/officeDocument/2006/relationships/image" Target="../media/image33.jpeg"/><Relationship Id="rId19" Type="http://schemas.openxmlformats.org/officeDocument/2006/relationships/image" Target="../media/image42.jpeg"/><Relationship Id="rId4" Type="http://schemas.openxmlformats.org/officeDocument/2006/relationships/image" Target="../media/image27.jpeg"/><Relationship Id="rId9" Type="http://schemas.openxmlformats.org/officeDocument/2006/relationships/image" Target="../media/image32.jpeg"/><Relationship Id="rId14" Type="http://schemas.openxmlformats.org/officeDocument/2006/relationships/image" Target="../media/image37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9D0501-8C40-7414-5897-185EC6F0D1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紙青蛙跳躍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CB7D13E-4061-D02A-4CD9-8C32DA3BA7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sz="2800" dirty="0" smtClean="0"/>
              <a:t>349</a:t>
            </a:r>
            <a:r>
              <a:rPr lang="zh-TW" altLang="en-US" sz="2800" dirty="0"/>
              <a:t>班 第</a:t>
            </a:r>
            <a:r>
              <a:rPr lang="en-US" altLang="zh-TW" sz="2800" dirty="0"/>
              <a:t>S</a:t>
            </a:r>
            <a:r>
              <a:rPr lang="zh-TW" altLang="en-US" sz="2800" dirty="0" smtClean="0"/>
              <a:t>組</a:t>
            </a:r>
            <a:endParaRPr lang="en-US" altLang="zh-TW" sz="2800" dirty="0"/>
          </a:p>
          <a:p>
            <a:r>
              <a:rPr lang="zh-TW" altLang="en-US" dirty="0"/>
              <a:t>組員：郭昀漢</a:t>
            </a:r>
            <a:r>
              <a:rPr lang="en-US" altLang="zh-TW" dirty="0"/>
              <a:t>14</a:t>
            </a:r>
            <a:r>
              <a:rPr lang="zh-TW" altLang="en-US" dirty="0"/>
              <a:t>、廖建庭</a:t>
            </a:r>
            <a:r>
              <a:rPr lang="en-US" altLang="zh-TW" dirty="0" smtClean="0"/>
              <a:t>27</a:t>
            </a:r>
          </a:p>
          <a:p>
            <a:r>
              <a:rPr lang="zh-TW" altLang="en-US" dirty="0"/>
              <a:t>指導教師：莊桓嘉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71530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126414-D356-2091-412E-0FDC248D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134" y="701040"/>
            <a:ext cx="4354863" cy="1356360"/>
          </a:xfrm>
        </p:spPr>
        <p:txBody>
          <a:bodyPr/>
          <a:lstStyle/>
          <a:p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大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綱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BA9EF44-826B-D23D-0502-B3295D198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130" y="2127704"/>
            <a:ext cx="9872871" cy="4038600"/>
          </a:xfrm>
        </p:spPr>
        <p:txBody>
          <a:bodyPr/>
          <a:lstStyle/>
          <a:p>
            <a:pPr marL="560070" indent="-514350">
              <a:buFont typeface="+mj-lt"/>
              <a:buAutoNum type="alphaUcPeriod"/>
            </a:pPr>
            <a:r>
              <a:rPr lang="zh-TW" altLang="en-US" sz="2400" dirty="0" smtClean="0"/>
              <a:t>跳</a:t>
            </a:r>
            <a:r>
              <a:rPr lang="zh-TW" altLang="en-US" sz="2400" dirty="0"/>
              <a:t>躍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原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理</a:t>
            </a:r>
            <a:endParaRPr lang="en-US" altLang="zh-TW" sz="2400" dirty="0"/>
          </a:p>
          <a:p>
            <a:pPr marL="560070" indent="-514350">
              <a:buFont typeface="+mj-lt"/>
              <a:buAutoNum type="alphaUcPeriod"/>
            </a:pPr>
            <a:r>
              <a:rPr lang="zh-TW" altLang="en-US" sz="2400" dirty="0" smtClean="0"/>
              <a:t>實</a:t>
            </a:r>
            <a:r>
              <a:rPr lang="zh-TW" altLang="en-US" sz="2400" dirty="0"/>
              <a:t>驗目</a:t>
            </a:r>
            <a:r>
              <a:rPr lang="zh-TW" altLang="en-US" sz="2400" dirty="0" smtClean="0"/>
              <a:t>的</a:t>
            </a:r>
            <a:endParaRPr lang="en-US" altLang="zh-TW" sz="2400" dirty="0"/>
          </a:p>
          <a:p>
            <a:pPr marL="560070" indent="-514350">
              <a:buFont typeface="+mj-lt"/>
              <a:buAutoNum type="alphaUcPeriod"/>
            </a:pP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需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要材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料</a:t>
            </a:r>
            <a:endParaRPr lang="en-US" altLang="zh-TW" sz="2400" dirty="0"/>
          </a:p>
          <a:p>
            <a:pPr marL="560070" indent="-514350">
              <a:buFont typeface="+mj-lt"/>
              <a:buAutoNum type="alphaUcPeriod"/>
            </a:pP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操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作步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驟</a:t>
            </a:r>
            <a:endParaRPr lang="en-US" altLang="zh-TW" sz="2400" dirty="0"/>
          </a:p>
          <a:p>
            <a:pPr marL="560070" indent="-514350">
              <a:buFont typeface="+mj-lt"/>
              <a:buAutoNum type="alphaUcPeriod"/>
            </a:pP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研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究成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果</a:t>
            </a:r>
            <a:endParaRPr lang="en-US" altLang="zh-TW" sz="2400" dirty="0"/>
          </a:p>
          <a:p>
            <a:pPr marL="560070" indent="-514350">
              <a:buFont typeface="+mj-lt"/>
              <a:buAutoNum type="alphaUcPeriod"/>
            </a:pP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心得反思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2995AD0A-76FA-1E99-F583-88B16687B5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5457" y="2168526"/>
            <a:ext cx="5293518" cy="3529012"/>
          </a:xfrm>
          <a:prstGeom prst="rect">
            <a:avLst/>
          </a:prstGeom>
          <a:effectLst>
            <a:outerShdw blurRad="2032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49619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158A1B-8527-904B-A1F6-91A36A58F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456" y="710276"/>
            <a:ext cx="9875520" cy="1356360"/>
          </a:xfrm>
        </p:spPr>
        <p:txBody>
          <a:bodyPr/>
          <a:lstStyle/>
          <a:p>
            <a:r>
              <a:rPr lang="zh-TW" altLang="en-US" dirty="0" smtClean="0"/>
              <a:t>  </a:t>
            </a:r>
            <a:r>
              <a:rPr lang="en-US" altLang="zh-TW" dirty="0" smtClean="0"/>
              <a:t>A.	</a:t>
            </a:r>
            <a:r>
              <a:rPr lang="zh-TW" altLang="en-US" dirty="0" smtClean="0"/>
              <a:t>跳</a:t>
            </a:r>
            <a:r>
              <a:rPr lang="zh-TW" altLang="en-US" dirty="0"/>
              <a:t>躍原理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E8D0061-C5D5-19B3-66E7-FB48AA70D4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9078" y="2066636"/>
            <a:ext cx="4156693" cy="4038600"/>
          </a:xfrm>
        </p:spPr>
        <p:txBody>
          <a:bodyPr>
            <a:normAutofit/>
          </a:bodyPr>
          <a:lstStyle/>
          <a:p>
            <a:pPr marL="45720" indent="0">
              <a:lnSpc>
                <a:spcPts val="3500"/>
              </a:lnSpc>
              <a:buNone/>
            </a:pPr>
            <a:r>
              <a:rPr lang="zh-TW" altLang="en-US" sz="2400" dirty="0"/>
              <a:t>紙張受外力摺疊時</a:t>
            </a:r>
            <a:r>
              <a:rPr lang="zh-TW" altLang="en-US" sz="2400" dirty="0" smtClean="0"/>
              <a:t>，會</a:t>
            </a:r>
            <a:r>
              <a:rPr lang="zh-TW" altLang="en-US" sz="2400" dirty="0"/>
              <a:t>產生彈力位能</a:t>
            </a:r>
            <a:r>
              <a:rPr lang="zh-TW" altLang="en-US" sz="2400" dirty="0" smtClean="0"/>
              <a:t>，而</a:t>
            </a:r>
            <a:r>
              <a:rPr lang="zh-TW" altLang="en-US" sz="2400" dirty="0"/>
              <a:t>當施</a:t>
            </a:r>
            <a:r>
              <a:rPr lang="zh-TW" altLang="en-US" sz="2400" dirty="0"/>
              <a:t>外力的手放開，彈力位能也隨之釋放，因此紙青蛙就</a:t>
            </a:r>
            <a:r>
              <a:rPr lang="zh-TW" altLang="en-US" sz="2400" dirty="0" smtClean="0"/>
              <a:t>會向前</a:t>
            </a:r>
            <a:r>
              <a:rPr lang="zh-TW" altLang="en-US" sz="2400" dirty="0"/>
              <a:t>跳躍。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2AF87C9-75AD-816B-A4B4-E50822CD2BD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3"/>
          <a:stretch/>
        </p:blipFill>
        <p:spPr>
          <a:xfrm>
            <a:off x="5935436" y="2168524"/>
            <a:ext cx="4913539" cy="3529013"/>
          </a:xfrm>
          <a:prstGeom prst="rect">
            <a:avLst/>
          </a:prstGeom>
          <a:effectLst>
            <a:outerShdw blurRad="2032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81203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E8D0061-C5D5-19B3-66E7-FB48AA70D4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944" y="2057400"/>
            <a:ext cx="4543220" cy="4038600"/>
          </a:xfrm>
        </p:spPr>
        <p:txBody>
          <a:bodyPr>
            <a:normAutofit/>
          </a:bodyPr>
          <a:lstStyle/>
          <a:p>
            <a:pPr marL="45720" indent="0" algn="just">
              <a:lnSpc>
                <a:spcPts val="3500"/>
              </a:lnSpc>
              <a:buNone/>
            </a:pPr>
            <a:r>
              <a:rPr lang="zh-TW" altLang="en-US" sz="2400" dirty="0" smtClean="0"/>
              <a:t>了解紙青蛙原理後，好奇越大隻的紙青蛙會不會跳</a:t>
            </a:r>
            <a:r>
              <a:rPr lang="zh-TW" altLang="en-US" sz="2400" dirty="0" smtClean="0"/>
              <a:t>得</a:t>
            </a:r>
            <a:r>
              <a:rPr lang="zh-TW" altLang="en-US" sz="2400" dirty="0"/>
              <a:t>更</a:t>
            </a:r>
            <a:r>
              <a:rPr lang="zh-TW" altLang="en-US" sz="2400" dirty="0" smtClean="0"/>
              <a:t>遠。</a:t>
            </a:r>
            <a:endParaRPr lang="en-US" altLang="zh-TW" sz="2400" dirty="0" smtClean="0"/>
          </a:p>
          <a:p>
            <a:pPr marL="45720" indent="0" algn="just">
              <a:lnSpc>
                <a:spcPts val="3500"/>
              </a:lnSpc>
              <a:buNone/>
            </a:pPr>
            <a:r>
              <a:rPr lang="zh-TW" altLang="en-US" sz="2400" dirty="0" smtClean="0"/>
              <a:t>於</a:t>
            </a:r>
            <a:r>
              <a:rPr lang="zh-TW" altLang="en-US" sz="2400" dirty="0"/>
              <a:t>是</a:t>
            </a:r>
            <a:r>
              <a:rPr lang="zh-TW" altLang="en-US" sz="2400" dirty="0" smtClean="0"/>
              <a:t>我</a:t>
            </a:r>
            <a:r>
              <a:rPr lang="zh-TW" altLang="en-US" sz="2400" dirty="0"/>
              <a:t>們想探</a:t>
            </a:r>
            <a:r>
              <a:rPr lang="zh-TW" altLang="en-US" sz="2400" dirty="0" smtClean="0"/>
              <a:t>討在同樣材質、相同折法，以及同樣的施力方法，在不</a:t>
            </a:r>
            <a:r>
              <a:rPr lang="zh-TW" altLang="en-US" sz="2400" dirty="0"/>
              <a:t>同大小的紙青蛙，對於跳躍的距</a:t>
            </a:r>
            <a:r>
              <a:rPr lang="zh-TW" altLang="en-US" sz="2400" dirty="0" smtClean="0"/>
              <a:t>離長度，是</a:t>
            </a:r>
            <a:r>
              <a:rPr lang="zh-TW" altLang="en-US" sz="2400" dirty="0"/>
              <a:t>否</a:t>
            </a:r>
            <a:r>
              <a:rPr lang="zh-TW" altLang="en-US" sz="2400" dirty="0" smtClean="0"/>
              <a:t>有直接的影</a:t>
            </a:r>
            <a:r>
              <a:rPr lang="zh-TW" altLang="en-US" sz="2400" dirty="0"/>
              <a:t>響。</a:t>
            </a:r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6D158A1B-8527-904B-A1F6-91A36A58FCFF}"/>
              </a:ext>
            </a:extLst>
          </p:cNvPr>
          <p:cNvSpPr txBox="1">
            <a:spLocks/>
          </p:cNvSpPr>
          <p:nvPr/>
        </p:nvSpPr>
        <p:spPr>
          <a:xfrm>
            <a:off x="939800" y="710276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dirty="0" smtClean="0"/>
              <a:t>  </a:t>
            </a:r>
            <a:r>
              <a:rPr lang="en-US" altLang="zh-TW" dirty="0" smtClean="0"/>
              <a:t>B</a:t>
            </a:r>
            <a:r>
              <a:rPr lang="en-US" altLang="zh-TW" dirty="0"/>
              <a:t>.	</a:t>
            </a:r>
            <a:r>
              <a:rPr lang="zh-TW" altLang="en-US" dirty="0"/>
              <a:t>實驗目的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7EFCA510-B0DD-2D1E-694E-EB65EB2BC92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41" t="47163" r="14162" b="-1"/>
          <a:stretch/>
        </p:blipFill>
        <p:spPr>
          <a:xfrm>
            <a:off x="6766831" y="2168525"/>
            <a:ext cx="4082144" cy="3529013"/>
          </a:xfrm>
          <a:prstGeom prst="rect">
            <a:avLst/>
          </a:prstGeom>
          <a:effectLst>
            <a:outerShdw blurRad="2032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01283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F2828E5-C353-4B11-63B3-759DEDD34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7655" y="2055091"/>
            <a:ext cx="9872871" cy="4038600"/>
          </a:xfrm>
        </p:spPr>
        <p:txBody>
          <a:bodyPr>
            <a:normAutofit/>
          </a:bodyPr>
          <a:lstStyle/>
          <a:p>
            <a:pPr marL="502920" indent="-457200">
              <a:lnSpc>
                <a:spcPts val="3500"/>
              </a:lnSpc>
              <a:buFont typeface="+mj-lt"/>
              <a:buAutoNum type="alphaLcParenR"/>
            </a:pPr>
            <a:r>
              <a:rPr lang="zh-TW" altLang="en-US" sz="2400" dirty="0"/>
              <a:t>紙張</a:t>
            </a:r>
            <a:endParaRPr lang="en-US" altLang="zh-TW" sz="2400" dirty="0"/>
          </a:p>
          <a:p>
            <a:pPr marL="502920" indent="-457200">
              <a:lnSpc>
                <a:spcPts val="3500"/>
              </a:lnSpc>
              <a:buFont typeface="+mj-lt"/>
              <a:buAutoNum type="alphaLcParenR"/>
            </a:pPr>
            <a:r>
              <a:rPr lang="zh-TW" altLang="en-US" sz="2400" dirty="0"/>
              <a:t>墊板</a:t>
            </a:r>
            <a:endParaRPr lang="en-US" altLang="zh-TW" sz="2400" dirty="0"/>
          </a:p>
          <a:p>
            <a:pPr marL="502920" indent="-457200">
              <a:lnSpc>
                <a:spcPts val="3500"/>
              </a:lnSpc>
              <a:buFont typeface="+mj-lt"/>
              <a:buAutoNum type="alphaLcParenR"/>
            </a:pPr>
            <a:r>
              <a:rPr lang="zh-TW" altLang="en-US" sz="2400" dirty="0"/>
              <a:t>手機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5D600F9-31E9-4197-B53D-E449E15794D5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4090" y="2168525"/>
            <a:ext cx="4705166" cy="3528875"/>
          </a:xfrm>
          <a:prstGeom prst="rect">
            <a:avLst/>
          </a:prstGeom>
          <a:effectLst>
            <a:outerShdw blurRad="2032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標題 1">
            <a:extLst>
              <a:ext uri="{FF2B5EF4-FFF2-40B4-BE49-F238E27FC236}">
                <a16:creationId xmlns:a16="http://schemas.microsoft.com/office/drawing/2014/main" id="{6D158A1B-8527-904B-A1F6-91A36A58FCFF}"/>
              </a:ext>
            </a:extLst>
          </p:cNvPr>
          <p:cNvSpPr txBox="1">
            <a:spLocks/>
          </p:cNvSpPr>
          <p:nvPr/>
        </p:nvSpPr>
        <p:spPr>
          <a:xfrm>
            <a:off x="939800" y="710276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dirty="0" smtClean="0"/>
              <a:t>  </a:t>
            </a:r>
            <a:r>
              <a:rPr lang="en-US" altLang="zh-TW" dirty="0" smtClean="0"/>
              <a:t>C</a:t>
            </a:r>
            <a:r>
              <a:rPr lang="en-US" altLang="zh-TW" dirty="0"/>
              <a:t>.	</a:t>
            </a:r>
            <a:r>
              <a:rPr lang="zh-TW" altLang="en-US" dirty="0"/>
              <a:t>需要材料</a:t>
            </a:r>
          </a:p>
        </p:txBody>
      </p:sp>
    </p:spTree>
    <p:extLst>
      <p:ext uri="{BB962C8B-B14F-4D97-AF65-F5344CB8AC3E}">
        <p14:creationId xmlns:p14="http://schemas.microsoft.com/office/powerpoint/2010/main" val="210789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F2828E5-C353-4B11-63B3-759DEDD34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6127" y="2057401"/>
            <a:ext cx="4497037" cy="4038600"/>
          </a:xfrm>
        </p:spPr>
        <p:txBody>
          <a:bodyPr>
            <a:normAutofit/>
          </a:bodyPr>
          <a:lstStyle/>
          <a:p>
            <a:pPr marL="502920" indent="-457200" algn="just">
              <a:lnSpc>
                <a:spcPts val="3500"/>
              </a:lnSpc>
              <a:buFont typeface="+mj-lt"/>
              <a:buAutoNum type="arabicPeriod"/>
            </a:pPr>
            <a:r>
              <a:rPr lang="zh-TW" altLang="en-US" sz="2400" dirty="0"/>
              <a:t>將三隻不同大小的紙青蛙對齊頭部放在一起，分別按壓紙青蛙腿部使其跳躍，用墊板計算跳躍最遠的距離。</a:t>
            </a:r>
            <a:endParaRPr lang="en-US" altLang="zh-TW" sz="2400" dirty="0"/>
          </a:p>
          <a:p>
            <a:pPr marL="502920" indent="-457200" algn="just">
              <a:lnSpc>
                <a:spcPts val="3500"/>
              </a:lnSpc>
              <a:buFont typeface="+mj-lt"/>
              <a:buAutoNum type="arabicPeriod"/>
            </a:pPr>
            <a:r>
              <a:rPr lang="zh-TW" altLang="en-US" sz="2400" dirty="0"/>
              <a:t>重複上述步驟</a:t>
            </a:r>
            <a:r>
              <a:rPr lang="en-US" altLang="zh-TW" sz="2400" dirty="0"/>
              <a:t>20</a:t>
            </a:r>
            <a:r>
              <a:rPr lang="zh-TW" altLang="en-US" sz="2400" dirty="0"/>
              <a:t>次，並整理出數據。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EFCA510-B0DD-2D1E-694E-EB65EB2BC927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760539" y="1609104"/>
            <a:ext cx="3529014" cy="4647858"/>
          </a:xfrm>
          <a:prstGeom prst="rect">
            <a:avLst/>
          </a:prstGeom>
          <a:effectLst>
            <a:outerShdw blurRad="2032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標題 1">
            <a:extLst>
              <a:ext uri="{FF2B5EF4-FFF2-40B4-BE49-F238E27FC236}">
                <a16:creationId xmlns:a16="http://schemas.microsoft.com/office/drawing/2014/main" id="{6D158A1B-8527-904B-A1F6-91A36A58FCFF}"/>
              </a:ext>
            </a:extLst>
          </p:cNvPr>
          <p:cNvSpPr txBox="1">
            <a:spLocks/>
          </p:cNvSpPr>
          <p:nvPr/>
        </p:nvSpPr>
        <p:spPr>
          <a:xfrm>
            <a:off x="939800" y="710276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dirty="0" smtClean="0"/>
              <a:t> </a:t>
            </a:r>
            <a:r>
              <a:rPr lang="zh-TW" altLang="en-US" dirty="0"/>
              <a:t> </a:t>
            </a:r>
            <a:r>
              <a:rPr lang="en-US" altLang="zh-TW" dirty="0"/>
              <a:t>D.	</a:t>
            </a:r>
            <a:r>
              <a:rPr lang="zh-TW" altLang="en-US" dirty="0"/>
              <a:t>操作步驟</a:t>
            </a:r>
          </a:p>
        </p:txBody>
      </p:sp>
    </p:spTree>
    <p:extLst>
      <p:ext uri="{BB962C8B-B14F-4D97-AF65-F5344CB8AC3E}">
        <p14:creationId xmlns:p14="http://schemas.microsoft.com/office/powerpoint/2010/main" val="4178097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EDE8DD3C-922F-BA6A-7545-11AC258C11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5761" y="2292315"/>
            <a:ext cx="941175" cy="1274819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04C9053D-8730-28A8-3C48-F6AB9F73934C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4480" y="2292315"/>
            <a:ext cx="965869" cy="127949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668F2182-0060-F93D-591B-ECC5A80BBD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2746" y="2292315"/>
            <a:ext cx="958605" cy="127481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98026AD2-FC08-56B2-3866-37BD5D0F86BC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2986" y="2292315"/>
            <a:ext cx="960470" cy="127812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4682DD1F-3865-31EB-1C0D-F796C5254961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0294" y="2293934"/>
            <a:ext cx="960469" cy="127564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F5084E89-DC76-F9E5-FAA0-13802623A3E1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5173" y="2292315"/>
            <a:ext cx="960469" cy="127979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50BB28BD-DA63-6E0F-2E86-BAF36B238163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5587" y="2295925"/>
            <a:ext cx="954647" cy="127120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355BE427-A1B2-9F39-2646-52627975ABB6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203" y="2292314"/>
            <a:ext cx="965868" cy="128950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5D83FC6F-F391-4BAC-F4EE-A06D2F455B76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7866" y="2292315"/>
            <a:ext cx="960470" cy="127481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412705A1-9528-D600-3101-58013776C0F0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1346" y="2292315"/>
            <a:ext cx="957295" cy="127722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6" name="圖片 25">
            <a:extLst>
              <a:ext uri="{FF2B5EF4-FFF2-40B4-BE49-F238E27FC236}">
                <a16:creationId xmlns:a16="http://schemas.microsoft.com/office/drawing/2014/main" id="{4103BC6D-CE6B-C19E-B99E-7C5B4E68550E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7727" y="4018185"/>
            <a:ext cx="964775" cy="127721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8" name="圖片 27">
            <a:extLst>
              <a:ext uri="{FF2B5EF4-FFF2-40B4-BE49-F238E27FC236}">
                <a16:creationId xmlns:a16="http://schemas.microsoft.com/office/drawing/2014/main" id="{86C59912-8C28-7B21-BF00-6F08B1485F88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5965" y="4023414"/>
            <a:ext cx="957915" cy="127721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30" name="圖片 29">
            <a:extLst>
              <a:ext uri="{FF2B5EF4-FFF2-40B4-BE49-F238E27FC236}">
                <a16:creationId xmlns:a16="http://schemas.microsoft.com/office/drawing/2014/main" id="{1A9941DD-B622-7140-47AF-399B661F629A}"/>
              </a:ext>
            </a:extLst>
          </p:cNvPr>
          <p:cNvPicPr>
            <a:picLocks noChangeAspect="1"/>
          </p:cNvPicPr>
          <p:nvPr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3079" y="4018186"/>
            <a:ext cx="957915" cy="127721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32" name="圖片 31">
            <a:extLst>
              <a:ext uri="{FF2B5EF4-FFF2-40B4-BE49-F238E27FC236}">
                <a16:creationId xmlns:a16="http://schemas.microsoft.com/office/drawing/2014/main" id="{11645329-8051-0A46-0E87-77AE77648F09}"/>
              </a:ext>
            </a:extLst>
          </p:cNvPr>
          <p:cNvPicPr>
            <a:picLocks noChangeAspect="1"/>
          </p:cNvPicPr>
          <p:nvPr/>
        </p:nvPicPr>
        <p:blipFill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203" y="4018186"/>
            <a:ext cx="953550" cy="127722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34" name="圖片 33">
            <a:extLst>
              <a:ext uri="{FF2B5EF4-FFF2-40B4-BE49-F238E27FC236}">
                <a16:creationId xmlns:a16="http://schemas.microsoft.com/office/drawing/2014/main" id="{24DECF46-70ED-DBC5-E10D-45CCBDDEBA88}"/>
              </a:ext>
            </a:extLst>
          </p:cNvPr>
          <p:cNvPicPr>
            <a:picLocks noChangeAspect="1"/>
          </p:cNvPicPr>
          <p:nvPr/>
        </p:nvPicPr>
        <p:blipFill>
          <a:blip r:embed="rId1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4588" y="4018183"/>
            <a:ext cx="964779" cy="127722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36" name="圖片 35">
            <a:extLst>
              <a:ext uri="{FF2B5EF4-FFF2-40B4-BE49-F238E27FC236}">
                <a16:creationId xmlns:a16="http://schemas.microsoft.com/office/drawing/2014/main" id="{9E6B6BDA-6A19-C83B-4AD7-445BA2A4C1A8}"/>
              </a:ext>
            </a:extLst>
          </p:cNvPr>
          <p:cNvPicPr>
            <a:picLocks noChangeAspect="1"/>
          </p:cNvPicPr>
          <p:nvPr/>
        </p:nvPicPr>
        <p:blipFill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490" y="4018182"/>
            <a:ext cx="949184" cy="127722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38" name="圖片 37">
            <a:extLst>
              <a:ext uri="{FF2B5EF4-FFF2-40B4-BE49-F238E27FC236}">
                <a16:creationId xmlns:a16="http://schemas.microsoft.com/office/drawing/2014/main" id="{A3206C57-5DF0-96E1-1271-C81F7DDC606E}"/>
              </a:ext>
            </a:extLst>
          </p:cNvPr>
          <p:cNvPicPr>
            <a:picLocks noChangeAspect="1"/>
          </p:cNvPicPr>
          <p:nvPr/>
        </p:nvPicPr>
        <p:blipFill>
          <a:blip r:embed="rId1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3777" y="4018179"/>
            <a:ext cx="973509" cy="127722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40" name="圖片 39">
            <a:extLst>
              <a:ext uri="{FF2B5EF4-FFF2-40B4-BE49-F238E27FC236}">
                <a16:creationId xmlns:a16="http://schemas.microsoft.com/office/drawing/2014/main" id="{798B8685-CC93-2FDE-9227-B7F4A51528E0}"/>
              </a:ext>
            </a:extLst>
          </p:cNvPr>
          <p:cNvPicPr>
            <a:picLocks noChangeAspect="1"/>
          </p:cNvPicPr>
          <p:nvPr/>
        </p:nvPicPr>
        <p:blipFill>
          <a:blip r:embed="rId1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8851" y="4018186"/>
            <a:ext cx="953550" cy="127722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42" name="圖片 41">
            <a:extLst>
              <a:ext uri="{FF2B5EF4-FFF2-40B4-BE49-F238E27FC236}">
                <a16:creationId xmlns:a16="http://schemas.microsoft.com/office/drawing/2014/main" id="{50E3AC17-8C97-E1EF-D327-FBC0E30986C2}"/>
              </a:ext>
            </a:extLst>
          </p:cNvPr>
          <p:cNvPicPr>
            <a:picLocks noChangeAspect="1"/>
          </p:cNvPicPr>
          <p:nvPr/>
        </p:nvPicPr>
        <p:blipFill>
          <a:blip r:embed="rId2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8626" y="4018183"/>
            <a:ext cx="934843" cy="127722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44" name="圖片 43">
            <a:extLst>
              <a:ext uri="{FF2B5EF4-FFF2-40B4-BE49-F238E27FC236}">
                <a16:creationId xmlns:a16="http://schemas.microsoft.com/office/drawing/2014/main" id="{E85B5B51-D44E-3C98-653C-FD9A643C415D}"/>
              </a:ext>
            </a:extLst>
          </p:cNvPr>
          <p:cNvPicPr>
            <a:picLocks noChangeAspect="1"/>
          </p:cNvPicPr>
          <p:nvPr/>
        </p:nvPicPr>
        <p:blipFill>
          <a:blip r:embed="rId2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4623" y="4018183"/>
            <a:ext cx="955420" cy="127722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3" name="標題 1">
            <a:extLst>
              <a:ext uri="{FF2B5EF4-FFF2-40B4-BE49-F238E27FC236}">
                <a16:creationId xmlns:a16="http://schemas.microsoft.com/office/drawing/2014/main" id="{6D158A1B-8527-904B-A1F6-91A36A58FCFF}"/>
              </a:ext>
            </a:extLst>
          </p:cNvPr>
          <p:cNvSpPr txBox="1">
            <a:spLocks/>
          </p:cNvSpPr>
          <p:nvPr/>
        </p:nvSpPr>
        <p:spPr>
          <a:xfrm>
            <a:off x="939800" y="710276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dirty="0"/>
              <a:t> </a:t>
            </a:r>
            <a:r>
              <a:rPr lang="zh-TW" altLang="en-US" dirty="0" smtClean="0"/>
              <a:t> </a:t>
            </a:r>
            <a:r>
              <a:rPr lang="en-US" altLang="zh-TW" dirty="0" smtClean="0"/>
              <a:t>E</a:t>
            </a:r>
            <a:r>
              <a:rPr lang="en-US" altLang="zh-TW" dirty="0"/>
              <a:t>.	</a:t>
            </a:r>
            <a:r>
              <a:rPr lang="zh-TW" altLang="en-US" dirty="0"/>
              <a:t>研究成果 </a:t>
            </a:r>
            <a:r>
              <a:rPr lang="en-US" altLang="zh-TW" dirty="0" smtClean="0"/>
              <a:t>(</a:t>
            </a:r>
            <a:r>
              <a:rPr lang="zh-TW" altLang="en-US" dirty="0" smtClean="0"/>
              <a:t>照</a:t>
            </a:r>
            <a:r>
              <a:rPr lang="zh-TW" altLang="en-US" dirty="0"/>
              <a:t>片</a:t>
            </a:r>
            <a:r>
              <a:rPr lang="en-US" altLang="zh-TW" dirty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21999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D2A6F1A3-D769-064B-E76F-DB8DDEE0AE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8956650"/>
              </p:ext>
            </p:extLst>
          </p:nvPr>
        </p:nvGraphicFramePr>
        <p:xfrm>
          <a:off x="1343027" y="2168525"/>
          <a:ext cx="9505958" cy="35290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7918">
                  <a:extLst>
                    <a:ext uri="{9D8B030D-6E8A-4147-A177-3AD203B41FA5}">
                      <a16:colId xmlns:a16="http://schemas.microsoft.com/office/drawing/2014/main" val="3564132939"/>
                    </a:ext>
                  </a:extLst>
                </a:gridCol>
                <a:gridCol w="444902">
                  <a:extLst>
                    <a:ext uri="{9D8B030D-6E8A-4147-A177-3AD203B41FA5}">
                      <a16:colId xmlns:a16="http://schemas.microsoft.com/office/drawing/2014/main" val="68379040"/>
                    </a:ext>
                  </a:extLst>
                </a:gridCol>
                <a:gridCol w="444902">
                  <a:extLst>
                    <a:ext uri="{9D8B030D-6E8A-4147-A177-3AD203B41FA5}">
                      <a16:colId xmlns:a16="http://schemas.microsoft.com/office/drawing/2014/main" val="2902003122"/>
                    </a:ext>
                  </a:extLst>
                </a:gridCol>
                <a:gridCol w="444902">
                  <a:extLst>
                    <a:ext uri="{9D8B030D-6E8A-4147-A177-3AD203B41FA5}">
                      <a16:colId xmlns:a16="http://schemas.microsoft.com/office/drawing/2014/main" val="1598765723"/>
                    </a:ext>
                  </a:extLst>
                </a:gridCol>
                <a:gridCol w="444902">
                  <a:extLst>
                    <a:ext uri="{9D8B030D-6E8A-4147-A177-3AD203B41FA5}">
                      <a16:colId xmlns:a16="http://schemas.microsoft.com/office/drawing/2014/main" val="2539261468"/>
                    </a:ext>
                  </a:extLst>
                </a:gridCol>
                <a:gridCol w="444902">
                  <a:extLst>
                    <a:ext uri="{9D8B030D-6E8A-4147-A177-3AD203B41FA5}">
                      <a16:colId xmlns:a16="http://schemas.microsoft.com/office/drawing/2014/main" val="2275660322"/>
                    </a:ext>
                  </a:extLst>
                </a:gridCol>
                <a:gridCol w="444902">
                  <a:extLst>
                    <a:ext uri="{9D8B030D-6E8A-4147-A177-3AD203B41FA5}">
                      <a16:colId xmlns:a16="http://schemas.microsoft.com/office/drawing/2014/main" val="596952370"/>
                    </a:ext>
                  </a:extLst>
                </a:gridCol>
                <a:gridCol w="444902">
                  <a:extLst>
                    <a:ext uri="{9D8B030D-6E8A-4147-A177-3AD203B41FA5}">
                      <a16:colId xmlns:a16="http://schemas.microsoft.com/office/drawing/2014/main" val="2691891822"/>
                    </a:ext>
                  </a:extLst>
                </a:gridCol>
                <a:gridCol w="444902">
                  <a:extLst>
                    <a:ext uri="{9D8B030D-6E8A-4147-A177-3AD203B41FA5}">
                      <a16:colId xmlns:a16="http://schemas.microsoft.com/office/drawing/2014/main" val="749525191"/>
                    </a:ext>
                  </a:extLst>
                </a:gridCol>
                <a:gridCol w="444902">
                  <a:extLst>
                    <a:ext uri="{9D8B030D-6E8A-4147-A177-3AD203B41FA5}">
                      <a16:colId xmlns:a16="http://schemas.microsoft.com/office/drawing/2014/main" val="4003338152"/>
                    </a:ext>
                  </a:extLst>
                </a:gridCol>
                <a:gridCol w="444902">
                  <a:extLst>
                    <a:ext uri="{9D8B030D-6E8A-4147-A177-3AD203B41FA5}">
                      <a16:colId xmlns:a16="http://schemas.microsoft.com/office/drawing/2014/main" val="2569978356"/>
                    </a:ext>
                  </a:extLst>
                </a:gridCol>
                <a:gridCol w="444902">
                  <a:extLst>
                    <a:ext uri="{9D8B030D-6E8A-4147-A177-3AD203B41FA5}">
                      <a16:colId xmlns:a16="http://schemas.microsoft.com/office/drawing/2014/main" val="1929764730"/>
                    </a:ext>
                  </a:extLst>
                </a:gridCol>
                <a:gridCol w="444902">
                  <a:extLst>
                    <a:ext uri="{9D8B030D-6E8A-4147-A177-3AD203B41FA5}">
                      <a16:colId xmlns:a16="http://schemas.microsoft.com/office/drawing/2014/main" val="2862021976"/>
                    </a:ext>
                  </a:extLst>
                </a:gridCol>
                <a:gridCol w="444902">
                  <a:extLst>
                    <a:ext uri="{9D8B030D-6E8A-4147-A177-3AD203B41FA5}">
                      <a16:colId xmlns:a16="http://schemas.microsoft.com/office/drawing/2014/main" val="574055897"/>
                    </a:ext>
                  </a:extLst>
                </a:gridCol>
                <a:gridCol w="444902">
                  <a:extLst>
                    <a:ext uri="{9D8B030D-6E8A-4147-A177-3AD203B41FA5}">
                      <a16:colId xmlns:a16="http://schemas.microsoft.com/office/drawing/2014/main" val="1790192012"/>
                    </a:ext>
                  </a:extLst>
                </a:gridCol>
                <a:gridCol w="444902">
                  <a:extLst>
                    <a:ext uri="{9D8B030D-6E8A-4147-A177-3AD203B41FA5}">
                      <a16:colId xmlns:a16="http://schemas.microsoft.com/office/drawing/2014/main" val="1576882220"/>
                    </a:ext>
                  </a:extLst>
                </a:gridCol>
                <a:gridCol w="444902">
                  <a:extLst>
                    <a:ext uri="{9D8B030D-6E8A-4147-A177-3AD203B41FA5}">
                      <a16:colId xmlns:a16="http://schemas.microsoft.com/office/drawing/2014/main" val="3613714806"/>
                    </a:ext>
                  </a:extLst>
                </a:gridCol>
                <a:gridCol w="444902">
                  <a:extLst>
                    <a:ext uri="{9D8B030D-6E8A-4147-A177-3AD203B41FA5}">
                      <a16:colId xmlns:a16="http://schemas.microsoft.com/office/drawing/2014/main" val="3149850378"/>
                    </a:ext>
                  </a:extLst>
                </a:gridCol>
                <a:gridCol w="444902">
                  <a:extLst>
                    <a:ext uri="{9D8B030D-6E8A-4147-A177-3AD203B41FA5}">
                      <a16:colId xmlns:a16="http://schemas.microsoft.com/office/drawing/2014/main" val="4063086378"/>
                    </a:ext>
                  </a:extLst>
                </a:gridCol>
                <a:gridCol w="444902">
                  <a:extLst>
                    <a:ext uri="{9D8B030D-6E8A-4147-A177-3AD203B41FA5}">
                      <a16:colId xmlns:a16="http://schemas.microsoft.com/office/drawing/2014/main" val="3052438695"/>
                    </a:ext>
                  </a:extLst>
                </a:gridCol>
                <a:gridCol w="444902">
                  <a:extLst>
                    <a:ext uri="{9D8B030D-6E8A-4147-A177-3AD203B41FA5}">
                      <a16:colId xmlns:a16="http://schemas.microsoft.com/office/drawing/2014/main" val="3538100672"/>
                    </a:ext>
                  </a:extLst>
                </a:gridCol>
              </a:tblGrid>
              <a:tr h="117831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實驗次數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altLang="en-US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  <a:endParaRPr lang="zh-TW" altLang="en-US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  <a:endParaRPr lang="zh-TW" altLang="en-US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  <a:endParaRPr lang="zh-TW" altLang="en-US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  <a:endParaRPr lang="zh-TW" altLang="en-US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</a:t>
                      </a:r>
                      <a:endParaRPr lang="zh-TW" altLang="en-US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</a:t>
                      </a:r>
                      <a:endParaRPr lang="zh-TW" altLang="en-US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</a:t>
                      </a:r>
                      <a:endParaRPr lang="zh-TW" altLang="en-US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</a:t>
                      </a:r>
                      <a:endParaRPr lang="zh-TW" altLang="en-US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</a:t>
                      </a:r>
                      <a:endParaRPr lang="zh-TW" altLang="en-US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</a:t>
                      </a:r>
                      <a:endParaRPr lang="zh-TW" altLang="en-US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</a:t>
                      </a:r>
                      <a:endParaRPr lang="zh-TW" altLang="en-US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13</a:t>
                      </a:r>
                      <a:endParaRPr lang="zh-TW" altLang="en-US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14</a:t>
                      </a:r>
                      <a:endParaRPr lang="zh-TW" altLang="en-US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15</a:t>
                      </a:r>
                      <a:endParaRPr lang="zh-TW" altLang="en-US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16</a:t>
                      </a:r>
                      <a:endParaRPr lang="zh-TW" altLang="en-US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17</a:t>
                      </a:r>
                      <a:endParaRPr lang="zh-TW" altLang="en-US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18</a:t>
                      </a:r>
                      <a:endParaRPr lang="zh-TW" altLang="en-US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19</a:t>
                      </a:r>
                      <a:endParaRPr lang="zh-TW" altLang="en-US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</a:t>
                      </a:r>
                      <a:endParaRPr lang="zh-TW" altLang="en-US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6942628"/>
                  </a:ext>
                </a:extLst>
              </a:tr>
              <a:tr h="78356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</a:t>
                      </a:r>
                      <a:endParaRPr lang="zh-TW" altLang="en-US" sz="1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</a:t>
                      </a:r>
                      <a:endParaRPr lang="zh-TW" altLang="en-US" sz="1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23</a:t>
                      </a:r>
                      <a:endParaRPr lang="zh-TW" altLang="en-US" sz="1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</a:t>
                      </a:r>
                      <a:endParaRPr lang="zh-TW" altLang="en-US" sz="1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27</a:t>
                      </a:r>
                      <a:endParaRPr lang="zh-TW" altLang="en-US" sz="1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17</a:t>
                      </a:r>
                      <a:endParaRPr lang="zh-TW" altLang="en-US" sz="1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</a:t>
                      </a:r>
                      <a:endParaRPr lang="zh-TW" altLang="en-US" sz="1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altLang="en-US" sz="1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25</a:t>
                      </a:r>
                      <a:endParaRPr lang="zh-TW" altLang="en-US" sz="1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</a:t>
                      </a:r>
                      <a:endParaRPr lang="zh-TW" altLang="en-US" sz="1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</a:t>
                      </a:r>
                      <a:endParaRPr lang="zh-TW" altLang="en-US" sz="1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26</a:t>
                      </a:r>
                      <a:endParaRPr lang="zh-TW" altLang="en-US" sz="1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</a:t>
                      </a:r>
                      <a:endParaRPr lang="zh-TW" altLang="en-US" sz="1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13</a:t>
                      </a:r>
                      <a:endParaRPr lang="zh-TW" altLang="en-US" sz="1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13</a:t>
                      </a:r>
                      <a:endParaRPr lang="zh-TW" altLang="en-US" sz="1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</a:t>
                      </a:r>
                      <a:endParaRPr lang="zh-TW" altLang="en-US" sz="1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27</a:t>
                      </a:r>
                      <a:endParaRPr lang="zh-TW" altLang="en-US" sz="1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</a:t>
                      </a:r>
                      <a:endParaRPr lang="zh-TW" altLang="en-US" sz="1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23</a:t>
                      </a:r>
                      <a:endParaRPr lang="zh-TW" altLang="en-US" sz="1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157538"/>
                  </a:ext>
                </a:extLst>
              </a:tr>
              <a:tr h="78356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</a:t>
                      </a:r>
                      <a:endParaRPr lang="zh-TW" altLang="en-US" sz="1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42</a:t>
                      </a:r>
                      <a:endParaRPr lang="zh-TW" altLang="en-US" sz="1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26</a:t>
                      </a:r>
                      <a:endParaRPr lang="zh-TW" altLang="en-US" sz="1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37</a:t>
                      </a:r>
                      <a:endParaRPr lang="zh-TW" altLang="en-US" sz="1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35</a:t>
                      </a:r>
                      <a:endParaRPr lang="zh-TW" altLang="en-US" sz="1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33</a:t>
                      </a:r>
                      <a:endParaRPr lang="zh-TW" altLang="en-US" sz="1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27</a:t>
                      </a:r>
                      <a:endParaRPr lang="zh-TW" altLang="en-US" sz="1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29</a:t>
                      </a:r>
                      <a:endParaRPr lang="zh-TW" altLang="en-US" sz="1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</a:t>
                      </a:r>
                      <a:endParaRPr lang="zh-TW" altLang="en-US" sz="1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30</a:t>
                      </a:r>
                      <a:endParaRPr lang="zh-TW" altLang="en-US" sz="1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54</a:t>
                      </a:r>
                      <a:endParaRPr lang="zh-TW" altLang="en-US" sz="1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26</a:t>
                      </a:r>
                      <a:endParaRPr lang="zh-TW" altLang="en-US" sz="1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33</a:t>
                      </a:r>
                      <a:endParaRPr lang="zh-TW" altLang="en-US" sz="1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30</a:t>
                      </a:r>
                      <a:endParaRPr lang="zh-TW" altLang="en-US" sz="1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37</a:t>
                      </a:r>
                      <a:endParaRPr lang="zh-TW" altLang="en-US" sz="1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29</a:t>
                      </a:r>
                      <a:endParaRPr lang="zh-TW" altLang="en-US" sz="1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32</a:t>
                      </a:r>
                      <a:endParaRPr lang="zh-TW" altLang="en-US" sz="1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35</a:t>
                      </a:r>
                      <a:endParaRPr lang="zh-TW" altLang="en-US" sz="1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32</a:t>
                      </a:r>
                      <a:endParaRPr lang="zh-TW" altLang="en-US" sz="1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47</a:t>
                      </a:r>
                      <a:endParaRPr lang="zh-TW" altLang="en-US" sz="1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1616926"/>
                  </a:ext>
                </a:extLst>
              </a:tr>
              <a:tr h="78356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</a:t>
                      </a:r>
                      <a:endParaRPr lang="zh-TW" altLang="en-US" sz="1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22</a:t>
                      </a:r>
                      <a:endParaRPr lang="zh-TW" altLang="en-US" sz="1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</a:t>
                      </a:r>
                      <a:endParaRPr lang="zh-TW" altLang="en-US" sz="1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37</a:t>
                      </a:r>
                      <a:endParaRPr lang="zh-TW" altLang="en-US" sz="1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24</a:t>
                      </a:r>
                      <a:endParaRPr lang="zh-TW" altLang="en-US" sz="1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  <a:endParaRPr lang="zh-TW" altLang="en-US" sz="1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</a:t>
                      </a:r>
                      <a:endParaRPr lang="zh-TW" altLang="en-US" sz="1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26</a:t>
                      </a:r>
                      <a:endParaRPr lang="zh-TW" altLang="en-US" sz="1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</a:t>
                      </a:r>
                      <a:endParaRPr lang="zh-TW" altLang="en-US" sz="1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24</a:t>
                      </a:r>
                      <a:endParaRPr lang="zh-TW" altLang="en-US" sz="1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</a:t>
                      </a:r>
                      <a:endParaRPr lang="zh-TW" altLang="en-US" sz="1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15</a:t>
                      </a:r>
                      <a:endParaRPr lang="zh-TW" altLang="en-US" sz="1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30</a:t>
                      </a:r>
                      <a:endParaRPr lang="zh-TW" altLang="en-US" sz="1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</a:t>
                      </a:r>
                      <a:endParaRPr lang="zh-TW" altLang="en-US" sz="1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24</a:t>
                      </a:r>
                      <a:endParaRPr lang="zh-TW" altLang="en-US" sz="1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  <a:endParaRPr lang="zh-TW" altLang="en-US" sz="1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18</a:t>
                      </a:r>
                      <a:endParaRPr lang="zh-TW" altLang="en-US" sz="1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16</a:t>
                      </a:r>
                      <a:endParaRPr lang="zh-TW" altLang="en-US" sz="1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</a:t>
                      </a:r>
                      <a:endParaRPr lang="zh-TW" altLang="en-US" sz="1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16</a:t>
                      </a:r>
                      <a:endParaRPr lang="zh-TW" altLang="en-US" sz="1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2396550"/>
                  </a:ext>
                </a:extLst>
              </a:tr>
            </a:tbl>
          </a:graphicData>
        </a:graphic>
      </p:graphicFrame>
      <p:sp>
        <p:nvSpPr>
          <p:cNvPr id="5" name="標題 1">
            <a:extLst>
              <a:ext uri="{FF2B5EF4-FFF2-40B4-BE49-F238E27FC236}">
                <a16:creationId xmlns:a16="http://schemas.microsoft.com/office/drawing/2014/main" id="{6D158A1B-8527-904B-A1F6-91A36A58FCFF}"/>
              </a:ext>
            </a:extLst>
          </p:cNvPr>
          <p:cNvSpPr txBox="1">
            <a:spLocks/>
          </p:cNvSpPr>
          <p:nvPr/>
        </p:nvSpPr>
        <p:spPr>
          <a:xfrm>
            <a:off x="939800" y="710276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dirty="0" smtClean="0"/>
              <a:t>  </a:t>
            </a:r>
            <a:r>
              <a:rPr lang="en-US" altLang="zh-TW" dirty="0" smtClean="0"/>
              <a:t>E</a:t>
            </a:r>
            <a:r>
              <a:rPr lang="en-US" altLang="zh-TW" dirty="0"/>
              <a:t>.	</a:t>
            </a:r>
            <a:r>
              <a:rPr lang="zh-TW" altLang="en-US" dirty="0"/>
              <a:t>研究成果 </a:t>
            </a:r>
            <a:r>
              <a:rPr lang="en-US" altLang="zh-TW" dirty="0"/>
              <a:t>(</a:t>
            </a:r>
            <a:r>
              <a:rPr lang="zh-TW" altLang="en-US" dirty="0"/>
              <a:t>數據是以</a:t>
            </a:r>
            <a:r>
              <a:rPr lang="en-US" altLang="zh-TW" dirty="0"/>
              <a:t>cm</a:t>
            </a:r>
            <a:r>
              <a:rPr lang="zh-TW" altLang="en-US" dirty="0"/>
              <a:t>為單位</a:t>
            </a:r>
            <a:r>
              <a:rPr lang="en-US" altLang="zh-TW" dirty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60884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38953482-6EC0-F6D0-D3D9-0F87838AFA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4117790"/>
              </p:ext>
            </p:extLst>
          </p:nvPr>
        </p:nvGraphicFramePr>
        <p:xfrm>
          <a:off x="1339285" y="3209652"/>
          <a:ext cx="9509692" cy="2487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23">
                  <a:extLst>
                    <a:ext uri="{9D8B030D-6E8A-4147-A177-3AD203B41FA5}">
                      <a16:colId xmlns:a16="http://schemas.microsoft.com/office/drawing/2014/main" val="3003205229"/>
                    </a:ext>
                  </a:extLst>
                </a:gridCol>
                <a:gridCol w="2377423">
                  <a:extLst>
                    <a:ext uri="{9D8B030D-6E8A-4147-A177-3AD203B41FA5}">
                      <a16:colId xmlns:a16="http://schemas.microsoft.com/office/drawing/2014/main" val="3539533238"/>
                    </a:ext>
                  </a:extLst>
                </a:gridCol>
                <a:gridCol w="2377423">
                  <a:extLst>
                    <a:ext uri="{9D8B030D-6E8A-4147-A177-3AD203B41FA5}">
                      <a16:colId xmlns:a16="http://schemas.microsoft.com/office/drawing/2014/main" val="3403406717"/>
                    </a:ext>
                  </a:extLst>
                </a:gridCol>
                <a:gridCol w="2377423">
                  <a:extLst>
                    <a:ext uri="{9D8B030D-6E8A-4147-A177-3AD203B41FA5}">
                      <a16:colId xmlns:a16="http://schemas.microsoft.com/office/drawing/2014/main" val="3202628715"/>
                    </a:ext>
                  </a:extLst>
                </a:gridCol>
              </a:tblGrid>
              <a:tr h="621972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平均距離</a:t>
                      </a:r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cm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最遠距離</a:t>
                      </a:r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cm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最近距離</a:t>
                      </a:r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cm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8876164"/>
                  </a:ext>
                </a:extLst>
              </a:tr>
              <a:tr h="62197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15.35 cm</a:t>
                      </a:r>
                      <a:endParaRPr lang="zh-TW" altLang="en-US" sz="16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27 cm</a:t>
                      </a:r>
                      <a:endParaRPr lang="zh-TW" altLang="en-US" sz="16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 cm</a:t>
                      </a:r>
                      <a:endParaRPr lang="zh-TW" altLang="en-US" sz="16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1195193"/>
                  </a:ext>
                </a:extLst>
              </a:tr>
              <a:tr h="62197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33.85 cm</a:t>
                      </a:r>
                      <a:endParaRPr lang="zh-TW" altLang="en-US" sz="16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54 cm</a:t>
                      </a:r>
                      <a:endParaRPr lang="zh-TW" altLang="en-US" sz="16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 cm</a:t>
                      </a:r>
                      <a:endParaRPr lang="zh-TW" altLang="en-US" sz="16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6858627"/>
                  </a:ext>
                </a:extLst>
              </a:tr>
              <a:tr h="62197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18.6 cm</a:t>
                      </a:r>
                      <a:endParaRPr lang="zh-TW" altLang="en-US" sz="16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37 cm</a:t>
                      </a:r>
                      <a:endParaRPr lang="zh-TW" altLang="en-US" sz="16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 cm</a:t>
                      </a:r>
                      <a:endParaRPr lang="zh-TW" altLang="en-US" sz="16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8447868"/>
                  </a:ext>
                </a:extLst>
              </a:tr>
            </a:tbl>
          </a:graphicData>
        </a:graphic>
      </p:graphicFrame>
      <p:sp>
        <p:nvSpPr>
          <p:cNvPr id="7" name="標題 1">
            <a:extLst>
              <a:ext uri="{FF2B5EF4-FFF2-40B4-BE49-F238E27FC236}">
                <a16:creationId xmlns:a16="http://schemas.microsoft.com/office/drawing/2014/main" id="{6D158A1B-8527-904B-A1F6-91A36A58FCFF}"/>
              </a:ext>
            </a:extLst>
          </p:cNvPr>
          <p:cNvSpPr txBox="1">
            <a:spLocks/>
          </p:cNvSpPr>
          <p:nvPr/>
        </p:nvSpPr>
        <p:spPr>
          <a:xfrm>
            <a:off x="939800" y="710276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dirty="0" smtClean="0"/>
              <a:t>  </a:t>
            </a:r>
            <a:r>
              <a:rPr lang="en-US" altLang="zh-TW" dirty="0" smtClean="0"/>
              <a:t>E</a:t>
            </a:r>
            <a:r>
              <a:rPr lang="en-US" altLang="zh-TW" dirty="0"/>
              <a:t>.	</a:t>
            </a:r>
            <a:r>
              <a:rPr lang="zh-TW" altLang="en-US" dirty="0"/>
              <a:t>研究成果 </a:t>
            </a:r>
            <a:r>
              <a:rPr lang="en-US" altLang="zh-TW" dirty="0"/>
              <a:t>(</a:t>
            </a:r>
            <a:r>
              <a:rPr lang="zh-TW" altLang="en-US" dirty="0"/>
              <a:t>數據是以</a:t>
            </a:r>
            <a:r>
              <a:rPr lang="en-US" altLang="zh-TW" dirty="0"/>
              <a:t>cm</a:t>
            </a:r>
            <a:r>
              <a:rPr lang="zh-TW" altLang="en-US" dirty="0"/>
              <a:t>為單位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2" name="文字方塊 1"/>
          <p:cNvSpPr txBox="1"/>
          <p:nvPr/>
        </p:nvSpPr>
        <p:spPr>
          <a:xfrm>
            <a:off x="1200149" y="2066636"/>
            <a:ext cx="8833758" cy="990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" defTabSz="914400">
              <a:lnSpc>
                <a:spcPts val="3500"/>
              </a:lnSpc>
              <a:spcBef>
                <a:spcPts val="1400"/>
              </a:spcBef>
              <a:buClr>
                <a:schemeClr val="accent1"/>
              </a:buClr>
              <a:buSzPct val="80000"/>
            </a:pPr>
            <a:r>
              <a:rPr lang="zh-TW" altLang="en-US" sz="24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結論：</a:t>
            </a:r>
            <a:r>
              <a:rPr lang="zh-TW" altLang="en-US" sz="24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紙青蛙</a:t>
            </a:r>
            <a:r>
              <a:rPr lang="zh-TW" altLang="en-US" sz="24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大</a:t>
            </a:r>
            <a:r>
              <a:rPr lang="zh-TW" altLang="en-US" sz="24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小會影</a:t>
            </a:r>
            <a:r>
              <a:rPr lang="zh-TW" altLang="en-US" sz="24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響它的跳</a:t>
            </a:r>
            <a:r>
              <a:rPr lang="zh-TW" altLang="en-US" sz="24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躍距</a:t>
            </a:r>
            <a:r>
              <a:rPr lang="zh-TW" altLang="en-US" sz="24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離，由距離遠到近的排序是中 </a:t>
            </a:r>
            <a:r>
              <a:rPr lang="en-US" altLang="zh-TW" sz="24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&gt;</a:t>
            </a:r>
            <a:r>
              <a:rPr lang="zh-TW" altLang="en-US" sz="24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小 </a:t>
            </a:r>
            <a:r>
              <a:rPr lang="en-US" altLang="zh-TW" sz="24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&gt;</a:t>
            </a:r>
            <a:r>
              <a:rPr lang="zh-TW" altLang="en-US" sz="24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大紙青蛙。</a:t>
            </a:r>
            <a:endParaRPr lang="zh-TW" altLang="en-US" sz="2400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33503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9CEE780-7606-FFB6-0EA6-1EED05776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9181" y="2051017"/>
            <a:ext cx="9751706" cy="4038600"/>
          </a:xfrm>
        </p:spPr>
        <p:txBody>
          <a:bodyPr>
            <a:normAutofit/>
          </a:bodyPr>
          <a:lstStyle/>
          <a:p>
            <a:pPr marL="45720" indent="0" algn="just">
              <a:lnSpc>
                <a:spcPts val="3500"/>
              </a:lnSpc>
              <a:buNone/>
            </a:pPr>
            <a:r>
              <a:rPr lang="zh-TW" altLang="en-US" sz="2400" dirty="0"/>
              <a:t>這</a:t>
            </a:r>
            <a:r>
              <a:rPr lang="zh-TW" altLang="en-US" sz="2400" dirty="0"/>
              <a:t>次實驗</a:t>
            </a:r>
            <a:r>
              <a:rPr lang="zh-TW" altLang="en-US" sz="2400" dirty="0"/>
              <a:t>我學習到科學、操作、組織等能力，也學會與人溝通、團隊合作、傾聽他人。</a:t>
            </a:r>
            <a:r>
              <a:rPr lang="zh-TW" altLang="en-US" sz="2400" dirty="0"/>
              <a:t>回想</a:t>
            </a:r>
            <a:r>
              <a:rPr lang="zh-TW" altLang="en-US" sz="2400" dirty="0"/>
              <a:t>實驗設計，我發現仍有許多缺失，可能造成實驗數據不準確。</a:t>
            </a:r>
            <a:r>
              <a:rPr lang="zh-TW" altLang="en-US" sz="2400" dirty="0"/>
              <a:t>例如紙青蛙的大小只有三</a:t>
            </a:r>
            <a:r>
              <a:rPr lang="zh-TW" altLang="en-US" sz="2400" dirty="0"/>
              <a:t>種，較難觀察大小影響彈射距離的連續變化；而人為操作紙青蛙難以確保每</a:t>
            </a:r>
            <a:r>
              <a:rPr lang="zh-TW" altLang="en-US" sz="2400" dirty="0"/>
              <a:t>一次按壓的位置、力</a:t>
            </a:r>
            <a:r>
              <a:rPr lang="zh-TW" altLang="en-US" sz="2400" dirty="0"/>
              <a:t>道完全相同，彈射的方向、高度有差異，造成實</a:t>
            </a:r>
            <a:r>
              <a:rPr lang="zh-TW" altLang="en-US" sz="2400" dirty="0"/>
              <a:t>驗數據不</a:t>
            </a:r>
            <a:r>
              <a:rPr lang="zh-TW" altLang="en-US" sz="2400" dirty="0"/>
              <a:t>準。或許將來可以設計多種大小的紙青蛙，並改成使用其他工具按壓</a:t>
            </a:r>
            <a:r>
              <a:rPr lang="zh-TW" altLang="en-US" sz="2400" dirty="0"/>
              <a:t>紙青蛙</a:t>
            </a:r>
            <a:r>
              <a:rPr lang="zh-TW" altLang="en-US" sz="2400" dirty="0"/>
              <a:t>。這些缺失都是未來可</a:t>
            </a:r>
            <a:r>
              <a:rPr lang="zh-TW" altLang="en-US" sz="2400" dirty="0"/>
              <a:t>以再改進的地</a:t>
            </a:r>
            <a:r>
              <a:rPr lang="zh-TW" altLang="en-US" sz="2400" dirty="0"/>
              <a:t>方，期待下一次的探究課程能有所改善。</a:t>
            </a:r>
            <a:endParaRPr lang="zh-TW" altLang="en-US" sz="2400" dirty="0"/>
          </a:p>
        </p:txBody>
      </p:sp>
      <p:grpSp>
        <p:nvGrpSpPr>
          <p:cNvPr id="4" name="群組 3"/>
          <p:cNvGrpSpPr/>
          <p:nvPr/>
        </p:nvGrpSpPr>
        <p:grpSpPr>
          <a:xfrm>
            <a:off x="643359" y="5699284"/>
            <a:ext cx="10861242" cy="646961"/>
            <a:chOff x="634122" y="5598872"/>
            <a:chExt cx="10861242" cy="646961"/>
          </a:xfrm>
        </p:grpSpPr>
        <p:pic>
          <p:nvPicPr>
            <p:cNvPr id="5" name="內容版面配置區 5">
              <a:extLst>
                <a:ext uri="{FF2B5EF4-FFF2-40B4-BE49-F238E27FC236}">
                  <a16:creationId xmlns:a16="http://schemas.microsoft.com/office/drawing/2014/main" id="{5C67EE52-A9B1-ED9F-A9FD-0F854AD874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85681" y="5606091"/>
              <a:ext cx="462462" cy="626404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52061267-7ADE-6F07-88F0-1056B9151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34400" y="5608039"/>
              <a:ext cx="474598" cy="628704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D074A9D7-4323-D4C3-761C-5EE589BC8A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92667" y="5606091"/>
              <a:ext cx="471028" cy="626404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EF06100D-5CFF-2877-EEEE-2CD9483657A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02906" y="5607469"/>
              <a:ext cx="471944" cy="628033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AB74392B-28AB-EA08-BA32-39898C8EFF2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30214" y="5608052"/>
              <a:ext cx="471944" cy="626810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F77C130D-47C0-2BE9-12AD-05EFA41A80C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5093" y="5608163"/>
              <a:ext cx="471944" cy="628848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7DE1A8A4-23C6-9FA0-AD2A-2AEA97D30A2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15507" y="5608193"/>
              <a:ext cx="469082" cy="624630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5420E563-3B75-6F37-76AF-EFA18CB28B4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4122" y="5612213"/>
              <a:ext cx="474596" cy="633620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8F9F89EC-BF5F-59C0-FB2A-859D3383E64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97786" y="5606089"/>
              <a:ext cx="471944" cy="626404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250CC4A9-3F1C-E454-9A04-1B6F06BA26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61266" y="5607093"/>
              <a:ext cx="470383" cy="627588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9E764191-4EA9-D606-9788-154BDEA7F6F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52222" y="5612214"/>
              <a:ext cx="478619" cy="633618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6" name="圖片 15">
              <a:extLst>
                <a:ext uri="{FF2B5EF4-FFF2-40B4-BE49-F238E27FC236}">
                  <a16:creationId xmlns:a16="http://schemas.microsoft.com/office/drawing/2014/main" id="{B9CF48B3-4C28-6062-7BBC-B0C487EC2F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59551" y="5598875"/>
              <a:ext cx="475213" cy="633618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7" name="圖片 16">
              <a:extLst>
                <a:ext uri="{FF2B5EF4-FFF2-40B4-BE49-F238E27FC236}">
                  <a16:creationId xmlns:a16="http://schemas.microsoft.com/office/drawing/2014/main" id="{327EED95-0F80-7137-D2D5-1E6227401F0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75130" y="5598875"/>
              <a:ext cx="475213" cy="633618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8" name="圖片 17">
              <a:extLst>
                <a:ext uri="{FF2B5EF4-FFF2-40B4-BE49-F238E27FC236}">
                  <a16:creationId xmlns:a16="http://schemas.microsoft.com/office/drawing/2014/main" id="{0E89C3E7-0A92-27E9-AFDF-C5B848F3DFE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7395" y="5598875"/>
              <a:ext cx="473048" cy="633618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9" name="圖片 18">
              <a:extLst>
                <a:ext uri="{FF2B5EF4-FFF2-40B4-BE49-F238E27FC236}">
                  <a16:creationId xmlns:a16="http://schemas.microsoft.com/office/drawing/2014/main" id="{771DA07C-2906-8640-F23C-663C25317C9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11493" y="5606089"/>
              <a:ext cx="478619" cy="633621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0" name="圖片 19">
              <a:extLst>
                <a:ext uri="{FF2B5EF4-FFF2-40B4-BE49-F238E27FC236}">
                  <a16:creationId xmlns:a16="http://schemas.microsoft.com/office/drawing/2014/main" id="{5DB213BE-D536-DEB6-331A-89F6AEEEB37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1795" y="5612213"/>
              <a:ext cx="470883" cy="633618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1" name="圖片 20">
              <a:extLst>
                <a:ext uri="{FF2B5EF4-FFF2-40B4-BE49-F238E27FC236}">
                  <a16:creationId xmlns:a16="http://schemas.microsoft.com/office/drawing/2014/main" id="{2587A29A-72AF-3890-F05C-86F086CB82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12413" y="5598872"/>
              <a:ext cx="482951" cy="633620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2" name="圖片 21">
              <a:extLst>
                <a:ext uri="{FF2B5EF4-FFF2-40B4-BE49-F238E27FC236}">
                  <a16:creationId xmlns:a16="http://schemas.microsoft.com/office/drawing/2014/main" id="{5C4D6D30-0D06-B600-7464-6FD3D69079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87277" y="5606089"/>
              <a:ext cx="473048" cy="633618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3" name="圖片 22">
              <a:extLst>
                <a:ext uri="{FF2B5EF4-FFF2-40B4-BE49-F238E27FC236}">
                  <a16:creationId xmlns:a16="http://schemas.microsoft.com/office/drawing/2014/main" id="{09E5EB55-0724-0604-38A4-50501B65E4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19478" y="5598872"/>
              <a:ext cx="463769" cy="633621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4" name="圖片 23">
              <a:extLst>
                <a:ext uri="{FF2B5EF4-FFF2-40B4-BE49-F238E27FC236}">
                  <a16:creationId xmlns:a16="http://schemas.microsoft.com/office/drawing/2014/main" id="{215DBAF3-91B8-2AA5-613B-E00CF17E4C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44777" y="5612212"/>
              <a:ext cx="473977" cy="633621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25" name="標題 1">
            <a:extLst>
              <a:ext uri="{FF2B5EF4-FFF2-40B4-BE49-F238E27FC236}">
                <a16:creationId xmlns:a16="http://schemas.microsoft.com/office/drawing/2014/main" id="{6D158A1B-8527-904B-A1F6-91A36A58FCFF}"/>
              </a:ext>
            </a:extLst>
          </p:cNvPr>
          <p:cNvSpPr txBox="1">
            <a:spLocks/>
          </p:cNvSpPr>
          <p:nvPr/>
        </p:nvSpPr>
        <p:spPr>
          <a:xfrm>
            <a:off x="939800" y="710276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dirty="0" smtClean="0"/>
              <a:t>  </a:t>
            </a:r>
            <a:r>
              <a:rPr lang="en-US" altLang="zh-TW" dirty="0" smtClean="0"/>
              <a:t>F</a:t>
            </a:r>
            <a:r>
              <a:rPr lang="en-US" altLang="zh-TW" dirty="0"/>
              <a:t>.	</a:t>
            </a:r>
            <a:r>
              <a:rPr lang="zh-TW" altLang="en-US" dirty="0"/>
              <a:t>心</a:t>
            </a:r>
            <a:r>
              <a:rPr lang="zh-TW" altLang="en-US" dirty="0" smtClean="0"/>
              <a:t>得反思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63627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9D0501-8C40-7414-5897-185EC6F0D1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謝謝大家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CB7D13E-4061-D02A-4CD9-8C32DA3BA7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sz="2800" dirty="0" smtClean="0"/>
              <a:t>349</a:t>
            </a:r>
            <a:r>
              <a:rPr lang="zh-TW" altLang="en-US" sz="2800" dirty="0" smtClean="0"/>
              <a:t>班 第</a:t>
            </a:r>
            <a:r>
              <a:rPr lang="en-US" altLang="zh-TW" sz="2800" dirty="0" smtClean="0"/>
              <a:t>S</a:t>
            </a:r>
            <a:r>
              <a:rPr lang="zh-TW" altLang="en-US" sz="2800" dirty="0" smtClean="0"/>
              <a:t>組</a:t>
            </a:r>
            <a:endParaRPr lang="en-US" altLang="zh-TW" sz="2800" dirty="0" smtClean="0"/>
          </a:p>
          <a:p>
            <a:r>
              <a:rPr lang="zh-TW" altLang="en-US" dirty="0" smtClean="0"/>
              <a:t>組</a:t>
            </a:r>
            <a:r>
              <a:rPr lang="zh-TW" altLang="en-US" dirty="0"/>
              <a:t>員：郭昀漢</a:t>
            </a:r>
            <a:r>
              <a:rPr lang="en-US" altLang="zh-TW" dirty="0"/>
              <a:t>14</a:t>
            </a:r>
            <a:r>
              <a:rPr lang="zh-TW" altLang="en-US" dirty="0"/>
              <a:t>、廖建庭</a:t>
            </a:r>
            <a:r>
              <a:rPr lang="en-US" altLang="zh-TW" dirty="0" smtClean="0"/>
              <a:t>27</a:t>
            </a:r>
          </a:p>
          <a:p>
            <a:r>
              <a:rPr lang="zh-TW" altLang="en-US" dirty="0"/>
              <a:t>指導</a:t>
            </a:r>
            <a:r>
              <a:rPr lang="zh-TW" altLang="en-US" dirty="0" smtClean="0"/>
              <a:t>教師：莊桓嘉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00979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基礎">
  <a:themeElements>
    <a:clrScheme name="基礎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基礎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基礎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TM03457444[[fn=基礎]]</Template>
  <TotalTime>262</TotalTime>
  <Words>682</Words>
  <Application>Microsoft Office PowerPoint</Application>
  <PresentationFormat>寬螢幕</PresentationFormat>
  <Paragraphs>132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5" baseType="lpstr">
      <vt:lpstr>微軟正黑體</vt:lpstr>
      <vt:lpstr>新細明體</vt:lpstr>
      <vt:lpstr>Corbel</vt:lpstr>
      <vt:lpstr>基礎</vt:lpstr>
      <vt:lpstr>紙青蛙跳躍</vt:lpstr>
      <vt:lpstr>大綱</vt:lpstr>
      <vt:lpstr>  A. 跳躍原理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謝謝大家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紙青蛙跳躍</dc:title>
  <dc:creator>G1N0CX09879404D</dc:creator>
  <cp:lastModifiedBy>Administrator</cp:lastModifiedBy>
  <cp:revision>21</cp:revision>
  <dcterms:created xsi:type="dcterms:W3CDTF">2023-04-23T13:40:09Z</dcterms:created>
  <dcterms:modified xsi:type="dcterms:W3CDTF">2023-08-04T13:41:52Z</dcterms:modified>
</cp:coreProperties>
</file>