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78" r:id="rId7"/>
    <p:sldId id="279" r:id="rId8"/>
    <p:sldId id="280" r:id="rId9"/>
    <p:sldId id="282" r:id="rId10"/>
    <p:sldId id="283" r:id="rId11"/>
    <p:sldId id="284" r:id="rId12"/>
    <p:sldId id="285" r:id="rId13"/>
    <p:sldId id="286" r:id="rId14"/>
    <p:sldId id="281" r:id="rId15"/>
    <p:sldId id="287" r:id="rId16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830" autoAdjust="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0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76FD1A9-AA27-4948-BCD8-B001FF2909B0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2024/2/19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A818C5E9-5966-460E-861F-1663B2AAAED6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B725628-3A68-42F4-BA86-981817953149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橢圓​​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zh-TW" altLang="en-US" noProof="0" smtClean="0"/>
              <a:t>按一下以編輯母片副標題樣式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1EE05C45-8EB5-41B2-9B41-7B2BD9B7DEEC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gradFill>
          <a:gsLst>
            <a:gs pos="0">
              <a:schemeClr val="bg1"/>
            </a:gs>
            <a:gs pos="85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1108971" y="2022048"/>
            <a:ext cx="9720073" cy="4023360"/>
          </a:xfrm>
        </p:spPr>
        <p:txBody>
          <a:bodyPr rtlCol="0"/>
          <a:lstStyle/>
          <a:p>
            <a:pPr lvl="0" rtl="0"/>
            <a:r>
              <a:rPr lang="zh-TW" altLang="en-US" noProof="0" dirty="0" smtClean="0"/>
              <a:t>編輯母片文字樣式</a:t>
            </a:r>
          </a:p>
          <a:p>
            <a:pPr lvl="1" rtl="0"/>
            <a:r>
              <a:rPr lang="zh-TW" altLang="en-US" noProof="0" dirty="0" smtClean="0"/>
              <a:t>第二層</a:t>
            </a:r>
          </a:p>
          <a:p>
            <a:pPr lvl="2" rtl="0"/>
            <a:r>
              <a:rPr lang="zh-TW" altLang="en-US" noProof="0" dirty="0" smtClean="0"/>
              <a:t>第三層</a:t>
            </a:r>
          </a:p>
          <a:p>
            <a:pPr lvl="3" rtl="0"/>
            <a:r>
              <a:rPr lang="zh-TW" altLang="en-US" noProof="0" dirty="0" smtClean="0"/>
              <a:t>第四層</a:t>
            </a:r>
          </a:p>
          <a:p>
            <a:pPr lvl="4" rtl="0"/>
            <a:r>
              <a:rPr lang="zh-TW" altLang="en-US" noProof="0" dirty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6959E9-D711-4141-BC84-15DB177AD95C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橢圓​​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A3C890-8623-4A1C-947B-A864EC59C0DD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BE9075-3447-4FD3-8BC9-6412CF8C5B41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TW" altLang="en-US" noProof="0" smtClean="0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F9BBEE5-55F8-45A3-AB6C-9C6112BE0C32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AE714-2E29-46F3-9C77-12416C9543F5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7B25F-C5C5-4940-9B93-C7969EB742CA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4BDAB7-BD48-40B7-93E5-DE7F01A31190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 smtClean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BDDE7C-E999-47D2-A35D-EE2C20E3497B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7D0BD1-4150-488B-822D-FAA2ED87235F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zh-TW" altLang="en-US" noProof="0" smtClean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zh-TW" altLang="en-US" noProof="0" smtClean="0"/>
              <a:t>編輯母片文字樣式</a:t>
            </a:r>
          </a:p>
          <a:p>
            <a:pPr lvl="1" rtl="0"/>
            <a:r>
              <a:rPr lang="zh-TW" altLang="en-US" noProof="0" smtClean="0"/>
              <a:t>第二層</a:t>
            </a:r>
          </a:p>
          <a:p>
            <a:pPr lvl="2" rtl="0"/>
            <a:r>
              <a:rPr lang="zh-TW" altLang="en-US" noProof="0" smtClean="0"/>
              <a:t>第三層</a:t>
            </a:r>
          </a:p>
          <a:p>
            <a:pPr lvl="3" rtl="0"/>
            <a:r>
              <a:rPr lang="zh-TW" altLang="en-US" noProof="0" smtClean="0"/>
              <a:t>第四層</a:t>
            </a:r>
          </a:p>
          <a:p>
            <a:pPr lvl="4" rtl="0"/>
            <a:r>
              <a:rPr lang="zh-TW" altLang="en-US" noProof="0" smtClean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917129-5C2D-48BD-8F9D-5DD9AA52C80B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7" name="直線接點​​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22E2503-8843-448F-B01E-FCD9BA586A1F}" type="datetime1">
              <a:rPr lang="zh-TW" altLang="en-US" noProof="0" smtClean="0"/>
              <a:t>2024/2/19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7" name="直線接點​​(S)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ja-JP" altLang="en-US" dirty="0">
                <a:solidFill>
                  <a:srgbClr val="FFFFFF"/>
                </a:solidFill>
              </a:rPr>
              <a:t>進階程式設</a:t>
            </a:r>
            <a:r>
              <a:rPr lang="ja-JP" altLang="en-US" dirty="0" smtClean="0">
                <a:solidFill>
                  <a:srgbClr val="FFFFFF"/>
                </a:solidFill>
              </a:rPr>
              <a:t>計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sz="3600" dirty="0" smtClean="0">
                <a:solidFill>
                  <a:srgbClr val="FFFFFF"/>
                </a:solidFill>
              </a:rPr>
              <a:t>-</a:t>
            </a:r>
            <a:r>
              <a:rPr lang="zh-TW" altLang="en-US" sz="3600" dirty="0" smtClean="0">
                <a:solidFill>
                  <a:srgbClr val="FFFFFF"/>
                </a:solidFill>
              </a:rPr>
              <a:t> 學習歷程</a:t>
            </a:r>
            <a:endParaRPr lang="en-US" altLang="zh-TW" sz="3600" dirty="0">
              <a:solidFill>
                <a:srgbClr val="FFFFFF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826448"/>
            <a:ext cx="7501650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zh-TW" altLang="en-US" sz="2000" dirty="0" smtClean="0">
                <a:solidFill>
                  <a:srgbClr val="FFFFFF"/>
                </a:solidFill>
              </a:rPr>
              <a:t>復旦高中 </a:t>
            </a:r>
            <a:r>
              <a:rPr lang="zh-TW" altLang="en-US" sz="2000" dirty="0">
                <a:solidFill>
                  <a:srgbClr val="FFFFFF"/>
                </a:solidFill>
              </a:rPr>
              <a:t> </a:t>
            </a:r>
            <a:r>
              <a:rPr lang="zh-TW" altLang="en-US" sz="2000" dirty="0" smtClean="0">
                <a:solidFill>
                  <a:srgbClr val="FFFFFF"/>
                </a:solidFill>
              </a:rPr>
              <a:t>郭昀漢</a:t>
            </a:r>
            <a:endParaRPr lang="zh-TW" altLang="en-US" sz="2000" dirty="0">
              <a:solidFill>
                <a:srgbClr val="FFFFFF"/>
              </a:solidFill>
            </a:endParaRPr>
          </a:p>
        </p:txBody>
      </p: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5000">
              <a:schemeClr val="bg1">
                <a:lumMod val="95000"/>
              </a:schemeClr>
            </a:gs>
            <a:gs pos="85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248" y="585216"/>
            <a:ext cx="9720072" cy="1499616"/>
          </a:xfrm>
        </p:spPr>
        <p:txBody>
          <a:bodyPr rtlCol="0">
            <a:normAutofit/>
          </a:bodyPr>
          <a:lstStyle/>
          <a:p>
            <a:r>
              <a:rPr lang="zh-TW" altLang="en-US" dirty="0" smtClean="0"/>
              <a:t>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35963" y="2084832"/>
            <a:ext cx="9720073" cy="402336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dirty="0"/>
              <a:t>學習</a:t>
            </a:r>
            <a:r>
              <a:rPr lang="zh-TW" altLang="en-US" dirty="0" smtClean="0"/>
              <a:t>目的</a:t>
            </a:r>
            <a:endParaRPr lang="en-US" altLang="zh-TW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dirty="0"/>
              <a:t>課程簡</a:t>
            </a:r>
            <a:r>
              <a:rPr lang="zh-TW" altLang="en-US" dirty="0" smtClean="0"/>
              <a:t>述</a:t>
            </a:r>
            <a:endParaRPr lang="en-US" altLang="zh-TW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dirty="0" smtClean="0"/>
              <a:t>專題簡介</a:t>
            </a:r>
            <a:endParaRPr lang="en-US" altLang="zh-TW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dirty="0"/>
              <a:t>報</a:t>
            </a:r>
            <a:r>
              <a:rPr lang="zh-TW" altLang="en-US" dirty="0" smtClean="0"/>
              <a:t>告展示</a:t>
            </a:r>
            <a:endParaRPr lang="en-US" altLang="zh-TW" dirty="0" smtClean="0"/>
          </a:p>
          <a:p>
            <a:pPr marL="457200" indent="-457200">
              <a:lnSpc>
                <a:spcPct val="150000"/>
              </a:lnSpc>
              <a:buFont typeface="+mj-lt"/>
              <a:buAutoNum type="alphaUcPeriod"/>
            </a:pPr>
            <a:r>
              <a:rPr lang="zh-TW" altLang="en-US" dirty="0"/>
              <a:t>心得反思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36063" y="3958314"/>
            <a:ext cx="1995523" cy="166534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82" y="1820882"/>
            <a:ext cx="2448255" cy="204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5000">
              <a:srgbClr val="FFFFFF">
                <a:lumMod val="95000"/>
              </a:srgbClr>
            </a:gs>
            <a:gs pos="100000">
              <a:schemeClr val="bg1">
                <a:lumMod val="8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a. </a:t>
            </a:r>
            <a:r>
              <a:rPr lang="zh-TW" altLang="en-US" dirty="0" smtClean="0"/>
              <a:t>學習目的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400"/>
              </a:lnSpc>
              <a:buNone/>
            </a:pPr>
            <a:r>
              <a:rPr lang="zh-TW" altLang="en-US" dirty="0"/>
              <a:t>我當初選這個多元選修，是因為我對程式設計非常有興趣，而且我有參加復旦程式設計進階班社團，因此具有一定的程式基礎知識。選擇這堂課，對我來說是加強我演算法的能力，也算是複習之前在社團中不太清楚的知識。老師在課程中帶領學生理解程式設計、資料結構與演算法之間的關聯，除了帶我們認識程式語言架構外，也培養我們探索資訊科技新知的能力；教我們運用程式設計實踐運算思維的解題方法，進而提升學生利用資訊科技知能、創新思考與解決問題的能力</a:t>
            </a:r>
            <a:r>
              <a:rPr lang="zh-TW" altLang="en-US" dirty="0" smtClean="0"/>
              <a:t>。</a:t>
            </a:r>
            <a:br>
              <a:rPr lang="zh-TW" altLang="en-US" dirty="0" smtClean="0"/>
            </a:b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764" y="5212016"/>
            <a:ext cx="2587699" cy="9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0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b. </a:t>
            </a:r>
            <a:r>
              <a:rPr lang="zh-TW" altLang="en-US" dirty="0" smtClean="0"/>
              <a:t>課程簡述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2800"/>
              </a:lnSpc>
              <a:buNone/>
            </a:pPr>
            <a:r>
              <a:rPr lang="zh-TW" altLang="en-US" dirty="0" smtClean="0"/>
              <a:t>老師會用</a:t>
            </a:r>
            <a:r>
              <a:rPr lang="en-US" altLang="zh-TW" dirty="0" smtClean="0"/>
              <a:t>PPT</a:t>
            </a:r>
            <a:r>
              <a:rPr lang="zh-TW" altLang="en-US" dirty="0" smtClean="0"/>
              <a:t>介紹資料結構與演算法的相關知識，學生了解後便要試著實做出來。而</a:t>
            </a:r>
            <a:r>
              <a:rPr lang="zh-TW" altLang="en-US" dirty="0"/>
              <a:t>在期</a:t>
            </a:r>
            <a:r>
              <a:rPr lang="zh-TW" altLang="en-US" dirty="0" smtClean="0"/>
              <a:t>末要自己想題目，做出與</a:t>
            </a:r>
            <a:r>
              <a:rPr lang="zh-TW" altLang="en-US" dirty="0"/>
              <a:t>程</a:t>
            </a:r>
            <a:r>
              <a:rPr lang="zh-TW" altLang="en-US" dirty="0" smtClean="0"/>
              <a:t>式設計相</a:t>
            </a:r>
            <a:r>
              <a:rPr lang="zh-TW" altLang="en-US" dirty="0"/>
              <a:t>關</a:t>
            </a:r>
            <a:r>
              <a:rPr lang="zh-TW" altLang="en-US" dirty="0" smtClean="0"/>
              <a:t>的</a:t>
            </a:r>
            <a:r>
              <a:rPr lang="zh-TW" altLang="en-US" dirty="0"/>
              <a:t>專題</a:t>
            </a:r>
            <a:r>
              <a:rPr lang="zh-TW" altLang="en-US" dirty="0" smtClean="0"/>
              <a:t>報告。</a:t>
            </a:r>
            <a:endParaRPr lang="en-US" altLang="zh-TW" dirty="0"/>
          </a:p>
          <a:p>
            <a:pPr marL="0" indent="0">
              <a:lnSpc>
                <a:spcPts val="2800"/>
              </a:lnSpc>
              <a:buNone/>
            </a:pPr>
            <a:r>
              <a:rPr lang="zh-TW" altLang="en-US" dirty="0"/>
              <a:t>課</a:t>
            </a:r>
            <a:r>
              <a:rPr lang="zh-TW" altLang="en-US" dirty="0" smtClean="0"/>
              <a:t>程學習內容：</a:t>
            </a:r>
            <a:endParaRPr lang="en-US" altLang="zh-TW" dirty="0" smtClean="0"/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TW" altLang="en-US" dirty="0" smtClean="0"/>
              <a:t>資</a:t>
            </a:r>
            <a:r>
              <a:rPr lang="zh-TW" altLang="en-US" dirty="0"/>
              <a:t>料結構導</a:t>
            </a:r>
            <a:r>
              <a:rPr lang="zh-TW" altLang="en-US" dirty="0" smtClean="0"/>
              <a:t>論</a:t>
            </a:r>
            <a:endParaRPr lang="zh-TW" altLang="en-US" b="1" dirty="0"/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TW" altLang="en-US" dirty="0" smtClean="0"/>
              <a:t>陣</a:t>
            </a:r>
            <a:r>
              <a:rPr lang="zh-TW" altLang="en-US" dirty="0"/>
              <a:t>列結構、鏈結串</a:t>
            </a:r>
            <a:r>
              <a:rPr lang="zh-TW" altLang="en-US" dirty="0" smtClean="0"/>
              <a:t>列</a:t>
            </a:r>
            <a:endParaRPr lang="zh-TW" altLang="en-US" dirty="0"/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TW" altLang="en-US" dirty="0" smtClean="0"/>
              <a:t>堆</a:t>
            </a:r>
            <a:r>
              <a:rPr lang="zh-TW" altLang="en-US" dirty="0"/>
              <a:t>疊、佇</a:t>
            </a:r>
            <a:r>
              <a:rPr lang="zh-TW" altLang="en-US" dirty="0" smtClean="0"/>
              <a:t>列</a:t>
            </a:r>
            <a:endParaRPr lang="zh-TW" altLang="en-US" dirty="0"/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TW" altLang="en-US" dirty="0" smtClean="0"/>
              <a:t>遞</a:t>
            </a:r>
            <a:r>
              <a:rPr lang="zh-TW" altLang="en-US" dirty="0"/>
              <a:t>迴、樹狀結</a:t>
            </a:r>
            <a:r>
              <a:rPr lang="zh-TW" altLang="en-US" dirty="0" smtClean="0"/>
              <a:t>構</a:t>
            </a:r>
            <a:endParaRPr lang="zh-TW" altLang="en-US" dirty="0"/>
          </a:p>
          <a:p>
            <a:pPr marL="457200" indent="-457200">
              <a:lnSpc>
                <a:spcPts val="2800"/>
              </a:lnSpc>
              <a:buFont typeface="+mj-lt"/>
              <a:buAutoNum type="arabicPeriod"/>
            </a:pPr>
            <a:r>
              <a:rPr lang="zh-TW" altLang="en-US" dirty="0" smtClean="0"/>
              <a:t>排</a:t>
            </a:r>
            <a:r>
              <a:rPr lang="zh-TW" altLang="en-US" dirty="0"/>
              <a:t>序、搜尋、圖形架</a:t>
            </a:r>
            <a:r>
              <a:rPr lang="zh-TW" altLang="en-US" dirty="0" smtClean="0"/>
              <a:t>構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219" y="5670735"/>
            <a:ext cx="4025981" cy="37467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601" y="5150214"/>
            <a:ext cx="3071550" cy="3464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45478" y="3753833"/>
            <a:ext cx="1728247" cy="39254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264" y="3237188"/>
            <a:ext cx="392102" cy="142583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650" y="3112189"/>
            <a:ext cx="1413104" cy="167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7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c. </a:t>
            </a:r>
            <a:r>
              <a:rPr lang="zh-TW" altLang="en-US" dirty="0" smtClean="0"/>
              <a:t>專題</a:t>
            </a:r>
            <a:r>
              <a:rPr lang="zh-TW" altLang="en-US" dirty="0"/>
              <a:t>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3000"/>
              </a:lnSpc>
              <a:buNone/>
            </a:pPr>
            <a:r>
              <a:rPr lang="zh-TW" altLang="en-US" dirty="0" smtClean="0"/>
              <a:t>期末報告我選擇研究</a:t>
            </a:r>
            <a:r>
              <a:rPr lang="zh-TW" altLang="en-US" b="1" dirty="0" smtClean="0"/>
              <a:t>「凸包」</a:t>
            </a:r>
            <a:r>
              <a:rPr lang="zh-TW" altLang="en-US" dirty="0" smtClean="0"/>
              <a:t>，因為我曾在演算法的書上看過，但未曾實作出來，加上我覺得這個題目不會太難，又具有挑戰性，因此我想嘗試做做看。</a:t>
            </a:r>
            <a:endParaRPr lang="en-US" altLang="zh-TW" dirty="0" smtClean="0"/>
          </a:p>
          <a:p>
            <a:pPr marL="0" indent="0">
              <a:lnSpc>
                <a:spcPts val="3000"/>
              </a:lnSpc>
              <a:buNone/>
            </a:pPr>
            <a:r>
              <a:rPr lang="zh-TW" altLang="en-US" dirty="0" smtClean="0"/>
              <a:t>我試了三種凸包演算法，想把這些理論中的策略都實做出來。三種演算法分別是</a:t>
            </a:r>
            <a:r>
              <a:rPr lang="zh-TW" altLang="en-US" b="1" dirty="0" smtClean="0"/>
              <a:t>「</a:t>
            </a:r>
            <a:r>
              <a:rPr lang="zh-TW" altLang="en-US" sz="2400" b="1" dirty="0"/>
              <a:t>包裹法 </a:t>
            </a:r>
            <a:r>
              <a:rPr lang="en-US" altLang="zh-TW" sz="2400" b="1" dirty="0"/>
              <a:t>(Gift Wrapping</a:t>
            </a:r>
            <a:r>
              <a:rPr lang="en-US" altLang="zh-TW" b="1" dirty="0" smtClean="0"/>
              <a:t>)</a:t>
            </a:r>
            <a:r>
              <a:rPr lang="zh-TW" altLang="en-US" b="1" dirty="0" smtClean="0"/>
              <a:t>」</a:t>
            </a:r>
            <a:r>
              <a:rPr lang="zh-TW" altLang="en-US" dirty="0" smtClean="0"/>
              <a:t>、</a:t>
            </a:r>
            <a:r>
              <a:rPr lang="zh-TW" altLang="en-US" b="1" dirty="0" smtClean="0"/>
              <a:t>「</a:t>
            </a:r>
            <a:r>
              <a:rPr lang="zh-TW" altLang="en-US" sz="2400" b="1" dirty="0"/>
              <a:t>葛立恆掃描法 </a:t>
            </a:r>
            <a:r>
              <a:rPr lang="en-US" altLang="zh-TW" sz="2400" b="1" dirty="0"/>
              <a:t>(</a:t>
            </a:r>
            <a:r>
              <a:rPr lang="en-US" altLang="zh-TW" sz="2400" b="1" dirty="0" smtClean="0"/>
              <a:t>Graham‘s </a:t>
            </a:r>
            <a:r>
              <a:rPr lang="en-US" altLang="zh-TW" sz="2400" b="1" dirty="0"/>
              <a:t>Scan</a:t>
            </a:r>
            <a:r>
              <a:rPr lang="en-US" altLang="zh-TW" sz="2400" b="1" dirty="0" smtClean="0"/>
              <a:t>)</a:t>
            </a:r>
            <a:r>
              <a:rPr lang="zh-TW" altLang="en-US" b="1" dirty="0" smtClean="0"/>
              <a:t>」</a:t>
            </a:r>
            <a:r>
              <a:rPr lang="zh-TW" altLang="en-US" dirty="0" smtClean="0"/>
              <a:t>、</a:t>
            </a:r>
            <a:r>
              <a:rPr lang="zh-TW" altLang="en-US" b="1" dirty="0" smtClean="0"/>
              <a:t>「</a:t>
            </a:r>
            <a:r>
              <a:rPr lang="zh-TW" altLang="en-US" sz="2400" b="1" dirty="0"/>
              <a:t>安德魯演算法 </a:t>
            </a:r>
            <a:r>
              <a:rPr lang="en-US" altLang="zh-TW" sz="2400" b="1" dirty="0"/>
              <a:t>(</a:t>
            </a:r>
            <a:r>
              <a:rPr lang="en-US" altLang="zh-TW" sz="2400" b="1" dirty="0" smtClean="0"/>
              <a:t>Andrew’s </a:t>
            </a:r>
            <a:r>
              <a:rPr lang="en-US" altLang="zh-TW" sz="2400" b="1" dirty="0"/>
              <a:t>Algorithm</a:t>
            </a:r>
            <a:r>
              <a:rPr lang="en-US" altLang="zh-TW" sz="2400" b="1" dirty="0" smtClean="0"/>
              <a:t>)</a:t>
            </a:r>
            <a:r>
              <a:rPr lang="zh-TW" altLang="en-US" b="1" dirty="0" smtClean="0"/>
              <a:t>」</a:t>
            </a:r>
            <a:r>
              <a:rPr lang="zh-TW" altLang="en-US" dirty="0" smtClean="0"/>
              <a:t>，這三個是我查的資料中最常見且我能理解的凸包演算法。</a:t>
            </a:r>
            <a:endParaRPr lang="en-US" altLang="zh-TW" dirty="0" smtClean="0"/>
          </a:p>
          <a:p>
            <a:pPr marL="0" indent="0">
              <a:lnSpc>
                <a:spcPts val="3000"/>
              </a:lnSpc>
              <a:buNone/>
            </a:pP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830" y="4873657"/>
            <a:ext cx="4392989" cy="14758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5967280" y="4460356"/>
            <a:ext cx="2878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▼</a:t>
            </a:r>
            <a:r>
              <a:rPr lang="zh-TW" altLang="en-US" dirty="0">
                <a:latin typeface="微軟正黑體" pitchFamily="34" charset="-120"/>
                <a:ea typeface="微軟正黑體" pitchFamily="34" charset="-120"/>
              </a:rPr>
              <a:t>三種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凸包演算法示意圖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5491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d. </a:t>
            </a:r>
            <a:r>
              <a:rPr lang="zh-TW" altLang="en-US" dirty="0" smtClean="0"/>
              <a:t>報告展示</a:t>
            </a:r>
            <a:r>
              <a:rPr lang="en-US" altLang="zh-TW" dirty="0"/>
              <a:t> </a:t>
            </a:r>
            <a:r>
              <a:rPr lang="en-US" altLang="zh-TW" dirty="0" smtClean="0"/>
              <a:t>                            </a:t>
            </a:r>
            <a:r>
              <a:rPr lang="en-US" altLang="zh-TW" sz="3600" dirty="0" smtClean="0"/>
              <a:t>(5/1)</a:t>
            </a:r>
            <a:endParaRPr lang="zh-TW" altLang="en-US" sz="3600" dirty="0"/>
          </a:p>
        </p:txBody>
      </p:sp>
      <p:pic>
        <p:nvPicPr>
          <p:cNvPr id="24" name="內容版面配置區 2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2084832"/>
            <a:ext cx="2492880" cy="1869661"/>
          </a:xfr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00" y="2086956"/>
            <a:ext cx="2490049" cy="1867537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4399167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00" y="4399167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23206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B0F0"/>
                </a:solidFill>
              </a:rPr>
              <a:t>d. </a:t>
            </a:r>
            <a:r>
              <a:rPr lang="zh-TW" altLang="en-US" dirty="0"/>
              <a:t>報告</a:t>
            </a:r>
            <a:r>
              <a:rPr lang="zh-TW" altLang="en-US" dirty="0" smtClean="0"/>
              <a:t>展</a:t>
            </a:r>
            <a:r>
              <a:rPr lang="zh-TW" altLang="en-US" dirty="0"/>
              <a:t>示</a:t>
            </a:r>
            <a:r>
              <a:rPr lang="en-US" altLang="zh-TW" dirty="0"/>
              <a:t>                            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5/2)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2083770"/>
            <a:ext cx="2492881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4399167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8" y="2076366"/>
            <a:ext cx="2492881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7" y="4398004"/>
            <a:ext cx="2490051" cy="1867538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853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B0F0"/>
                </a:solidFill>
              </a:rPr>
              <a:t>d. </a:t>
            </a:r>
            <a:r>
              <a:rPr lang="zh-TW" altLang="en-US" dirty="0"/>
              <a:t>報告</a:t>
            </a:r>
            <a:r>
              <a:rPr lang="zh-TW" altLang="en-US" dirty="0" smtClean="0"/>
              <a:t>展</a:t>
            </a:r>
            <a:r>
              <a:rPr lang="zh-TW" altLang="en-US" dirty="0"/>
              <a:t>示</a:t>
            </a:r>
            <a:r>
              <a:rPr lang="en-US" altLang="zh-TW" dirty="0"/>
              <a:t>                            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5/3)</a:t>
            </a:r>
            <a:endParaRPr lang="zh-TW" alt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2083770"/>
            <a:ext cx="2492882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8" y="2083770"/>
            <a:ext cx="2492882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4399167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8" y="4399167"/>
            <a:ext cx="2490051" cy="1867538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290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B0F0"/>
                </a:solidFill>
              </a:rPr>
              <a:t>d. </a:t>
            </a:r>
            <a:r>
              <a:rPr lang="zh-TW" altLang="en-US" dirty="0"/>
              <a:t>報告</a:t>
            </a:r>
            <a:r>
              <a:rPr lang="zh-TW" altLang="en-US" dirty="0" smtClean="0"/>
              <a:t>展</a:t>
            </a:r>
            <a:r>
              <a:rPr lang="zh-TW" altLang="en-US" dirty="0"/>
              <a:t>示</a:t>
            </a:r>
            <a:r>
              <a:rPr lang="en-US" altLang="zh-TW" dirty="0"/>
              <a:t>                            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5/4)</a:t>
            </a:r>
            <a:endParaRPr lang="zh-TW" altLang="en-US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2083770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00" y="2083770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4399166"/>
            <a:ext cx="2492880" cy="1869660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9" y="4399166"/>
            <a:ext cx="2490049" cy="1867537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184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B0F0"/>
                </a:solidFill>
              </a:rPr>
              <a:t>d. </a:t>
            </a:r>
            <a:r>
              <a:rPr lang="zh-TW" altLang="en-US" dirty="0"/>
              <a:t>報告</a:t>
            </a:r>
            <a:r>
              <a:rPr lang="zh-TW" altLang="en-US" dirty="0" smtClean="0"/>
              <a:t>展</a:t>
            </a:r>
            <a:r>
              <a:rPr lang="zh-TW" altLang="en-US" dirty="0"/>
              <a:t>示</a:t>
            </a:r>
            <a:r>
              <a:rPr lang="en-US" altLang="zh-TW" dirty="0"/>
              <a:t>                            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5/5)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2083770"/>
            <a:ext cx="2492880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800" y="2083770"/>
            <a:ext cx="2492880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796" y="4399167"/>
            <a:ext cx="2492880" cy="1869661"/>
          </a:xfrm>
          <a:prstGeom prst="rect">
            <a:avLst/>
          </a:prstGeom>
          <a:effectLst>
            <a:outerShdw blurRad="1143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183717" y="4673440"/>
            <a:ext cx="1583046" cy="13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E. </a:t>
            </a:r>
            <a:r>
              <a:rPr lang="zh-TW" altLang="en-US" dirty="0" smtClean="0"/>
              <a:t>心</a:t>
            </a:r>
            <a:r>
              <a:rPr lang="zh-TW" altLang="en-US" dirty="0"/>
              <a:t>得反</a:t>
            </a:r>
            <a:r>
              <a:rPr lang="zh-TW" altLang="en-US" dirty="0" smtClean="0"/>
              <a:t>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000"/>
              </a:lnSpc>
            </a:pPr>
            <a:r>
              <a:rPr lang="zh-TW" altLang="en-US" dirty="0"/>
              <a:t>這門</a:t>
            </a:r>
            <a:r>
              <a:rPr lang="zh-TW" altLang="en-US" dirty="0" smtClean="0"/>
              <a:t>課讓我學到許多程式設計的進階知識外，也讓我了解演算法與資料結構的相關運用等不同層面。除此之外，製作專題時所讀的資料；試著把凸包演算法的程式碼寫出來，也都讓我對凸包進一步認識，並且在編寫程式遇到問題時，讓我學習檢討自己的失誤，發覺哪裡寫錯需要改善，不知不覺中，使我</a:t>
            </a:r>
            <a:r>
              <a:rPr lang="zh-TW" altLang="en-US" sz="2400" dirty="0" smtClean="0"/>
              <a:t>進</a:t>
            </a:r>
            <a:r>
              <a:rPr lang="zh-TW" altLang="en-US" sz="2400" dirty="0"/>
              <a:t>一步的熟悉程式與演算</a:t>
            </a:r>
            <a:r>
              <a:rPr lang="zh-TW" altLang="en-US" sz="2400" dirty="0" smtClean="0"/>
              <a:t>法，並培養自我糾正的能力。</a:t>
            </a:r>
            <a:endParaRPr lang="en-US" altLang="zh-TW" dirty="0"/>
          </a:p>
          <a:p>
            <a:pPr>
              <a:lnSpc>
                <a:spcPts val="3000"/>
              </a:lnSpc>
            </a:pPr>
            <a:r>
              <a:rPr lang="zh-TW" altLang="en-US" sz="2400" dirty="0" smtClean="0"/>
              <a:t>這次的課程教</a:t>
            </a:r>
            <a:r>
              <a:rPr lang="zh-TW" altLang="en-US" sz="2400" dirty="0"/>
              <a:t>會我許</a:t>
            </a:r>
            <a:r>
              <a:rPr lang="zh-TW" altLang="en-US" sz="2400" dirty="0" smtClean="0"/>
              <a:t>多實用的知</a:t>
            </a:r>
            <a:r>
              <a:rPr lang="zh-TW" altLang="en-US" sz="2400" dirty="0"/>
              <a:t>識，</a:t>
            </a:r>
            <a:r>
              <a:rPr lang="zh-TW" altLang="en-US" sz="2400" dirty="0" smtClean="0"/>
              <a:t>也</a:t>
            </a:r>
            <a:r>
              <a:rPr lang="zh-TW" altLang="en-US" sz="2400" dirty="0"/>
              <a:t>讓</a:t>
            </a:r>
            <a:r>
              <a:rPr lang="zh-TW" altLang="en-US" sz="2400" dirty="0" smtClean="0"/>
              <a:t>我在編寫程式無誤時獲得快樂與成</a:t>
            </a:r>
            <a:r>
              <a:rPr lang="zh-TW" altLang="en-US" sz="2400" dirty="0"/>
              <a:t>就感，</a:t>
            </a:r>
            <a:r>
              <a:rPr lang="zh-TW" altLang="en-US" sz="2400" dirty="0" smtClean="0"/>
              <a:t>期望在未</a:t>
            </a:r>
            <a:r>
              <a:rPr lang="zh-TW" altLang="en-US" sz="2400" dirty="0"/>
              <a:t>來</a:t>
            </a:r>
            <a:r>
              <a:rPr lang="zh-TW" altLang="en-US" sz="2400" dirty="0" smtClean="0"/>
              <a:t>我</a:t>
            </a:r>
            <a:r>
              <a:rPr lang="zh-TW" altLang="en-US" sz="2400" dirty="0"/>
              <a:t>可以</a:t>
            </a:r>
            <a:r>
              <a:rPr lang="zh-TW" altLang="en-US" sz="2400" dirty="0" smtClean="0"/>
              <a:t>探索更多有趣的</a:t>
            </a:r>
            <a:r>
              <a:rPr lang="zh-TW" altLang="en-US" sz="2400" dirty="0"/>
              <a:t>演算法</a:t>
            </a:r>
            <a:r>
              <a:rPr lang="zh-TW" altLang="en-US" sz="2400" dirty="0" smtClean="0"/>
              <a:t>，學習其他程式相關的領</a:t>
            </a:r>
            <a:r>
              <a:rPr lang="zh-TW" altLang="en-US" sz="2400" dirty="0"/>
              <a:t>域。</a:t>
            </a:r>
            <a:endParaRPr lang="en-US" altLang="zh-TW" sz="2400" dirty="0"/>
          </a:p>
          <a:p>
            <a:pPr>
              <a:lnSpc>
                <a:spcPts val="3000"/>
              </a:lnSpc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615865">
            <a:off x="8147263" y="5407196"/>
            <a:ext cx="1858281" cy="96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85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1099647" y="3088883"/>
            <a:ext cx="9972506" cy="12341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algn="ctr"/>
            <a:r>
              <a:rPr lang="en-US" altLang="zh-TW" sz="6600" dirty="0"/>
              <a:t>Thank </a:t>
            </a:r>
            <a:r>
              <a:rPr lang="en-US" altLang="zh-TW" sz="6600" dirty="0">
                <a:latin typeface="+mj-ea"/>
                <a:ea typeface="+mj-ea"/>
              </a:rPr>
              <a:t>You</a:t>
            </a:r>
            <a:endParaRPr lang="zh-TW" altLang="en-US" sz="6600" dirty="0">
              <a:latin typeface="+mj-ea"/>
              <a:ea typeface="+mj-ea"/>
            </a:endParaRPr>
          </a:p>
        </p:txBody>
      </p:sp>
      <p:cxnSp>
        <p:nvCxnSpPr>
          <p:cNvPr id="4" name="直線接點 3"/>
          <p:cNvCxnSpPr>
            <a:stCxn id="10" idx="0"/>
            <a:endCxn id="8" idx="4"/>
          </p:cNvCxnSpPr>
          <p:nvPr/>
        </p:nvCxnSpPr>
        <p:spPr>
          <a:xfrm>
            <a:off x="2954824" y="2868302"/>
            <a:ext cx="77354" cy="1114942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>
            <a:stCxn id="13" idx="4"/>
            <a:endCxn id="9" idx="0"/>
          </p:cNvCxnSpPr>
          <p:nvPr/>
        </p:nvCxnSpPr>
        <p:spPr>
          <a:xfrm flipV="1">
            <a:off x="9241228" y="2906987"/>
            <a:ext cx="9937" cy="1002096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>
            <a:stCxn id="9" idx="2"/>
            <a:endCxn id="14" idx="6"/>
          </p:cNvCxnSpPr>
          <p:nvPr/>
        </p:nvCxnSpPr>
        <p:spPr>
          <a:xfrm flipH="1" flipV="1">
            <a:off x="6163254" y="2570366"/>
            <a:ext cx="3010557" cy="259267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>
            <a:stCxn id="8" idx="6"/>
            <a:endCxn id="12" idx="2"/>
          </p:cNvCxnSpPr>
          <p:nvPr/>
        </p:nvCxnSpPr>
        <p:spPr>
          <a:xfrm>
            <a:off x="3109532" y="4060598"/>
            <a:ext cx="2831760" cy="289631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橢圓 7"/>
          <p:cNvSpPr/>
          <p:nvPr/>
        </p:nvSpPr>
        <p:spPr>
          <a:xfrm flipV="1">
            <a:off x="2954824" y="3983244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 flipV="1">
            <a:off x="9173811" y="2752279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 flipV="1">
            <a:off x="2877470" y="2713594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12" idx="6"/>
            <a:endCxn id="13" idx="2"/>
          </p:cNvCxnSpPr>
          <p:nvPr/>
        </p:nvCxnSpPr>
        <p:spPr>
          <a:xfrm flipV="1">
            <a:off x="6096000" y="3986437"/>
            <a:ext cx="3067874" cy="363792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 flipV="1">
            <a:off x="5941292" y="4272875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 flipV="1">
            <a:off x="9163874" y="3909083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flipV="1">
            <a:off x="6008546" y="2493012"/>
            <a:ext cx="154708" cy="154708"/>
          </a:xfrm>
          <a:prstGeom prst="ellipse">
            <a:avLst/>
          </a:prstGeom>
          <a:solidFill>
            <a:srgbClr val="727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>
            <a:stCxn id="14" idx="2"/>
            <a:endCxn id="10" idx="6"/>
          </p:cNvCxnSpPr>
          <p:nvPr/>
        </p:nvCxnSpPr>
        <p:spPr>
          <a:xfrm flipH="1">
            <a:off x="3032178" y="2570366"/>
            <a:ext cx="2976368" cy="220582"/>
          </a:xfrm>
          <a:prstGeom prst="line">
            <a:avLst/>
          </a:prstGeom>
          <a:ln w="38100">
            <a:solidFill>
              <a:srgbClr val="9FB8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9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整體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187_TF22378848.potx" id="{35EE906A-EDD5-472E-B143-3EAC3EA7BF62}" vid="{597AE59B-CAF2-4F45-90E8-B121C6FDD94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documentManagement/types"/>
    <ds:schemaRef ds:uri="http://www.w3.org/XML/1998/namespace"/>
    <ds:schemaRef ds:uri="16c05727-aa75-4e4a-9b5f-8a80a1165891"/>
    <ds:schemaRef ds:uri="71af3243-3dd4-4a8d-8c0d-dd76da1f02a5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整體設計</Template>
  <TotalTime>0</TotalTime>
  <Words>826</Words>
  <Application>Microsoft Office PowerPoint</Application>
  <PresentationFormat>寬螢幕</PresentationFormat>
  <Paragraphs>33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Microsoft JhengHei UI</vt:lpstr>
      <vt:lpstr>微軟正黑體</vt:lpstr>
      <vt:lpstr>Tw Cen MT</vt:lpstr>
      <vt:lpstr>Wingdings 3</vt:lpstr>
      <vt:lpstr>整體</vt:lpstr>
      <vt:lpstr>進階程式設計 - 學習歷程</vt:lpstr>
      <vt:lpstr>大綱</vt:lpstr>
      <vt:lpstr>a. 學習目的</vt:lpstr>
      <vt:lpstr>b. 課程簡述</vt:lpstr>
      <vt:lpstr>c. 專題簡介</vt:lpstr>
      <vt:lpstr>d. 報告展示                             (5/1)</vt:lpstr>
      <vt:lpstr>d. 報告展示                             (5/2)</vt:lpstr>
      <vt:lpstr>d. 報告展示                             (5/3)</vt:lpstr>
      <vt:lpstr>d. 報告展示                             (5/4)</vt:lpstr>
      <vt:lpstr>d. 報告展示                             (5/5)</vt:lpstr>
      <vt:lpstr>E. 心得反思</vt:lpstr>
      <vt:lpstr>PowerPoint 簡報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2024-02-19T11:37:24Z</dcterms:created>
  <dcterms:modified xsi:type="dcterms:W3CDTF">2024-02-19T14:25:08Z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