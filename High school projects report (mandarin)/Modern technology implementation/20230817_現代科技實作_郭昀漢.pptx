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9" r:id="rId6"/>
    <p:sldId id="270" r:id="rId7"/>
    <p:sldId id="271" r:id="rId8"/>
    <p:sldId id="274" r:id="rId9"/>
    <p:sldId id="272" r:id="rId10"/>
    <p:sldId id="273" r:id="rId11"/>
    <p:sldId id="267" r:id="rId12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1" userDrawn="1">
          <p15:clr>
            <a:srgbClr val="A4A3A4"/>
          </p15:clr>
        </p15:guide>
        <p15:guide id="2" pos="756" userDrawn="1">
          <p15:clr>
            <a:srgbClr val="A4A3A4"/>
          </p15:clr>
        </p15:guide>
        <p15:guide id="3" pos="6879" userDrawn="1">
          <p15:clr>
            <a:srgbClr val="A4A3A4"/>
          </p15:clr>
        </p15:guide>
        <p15:guide id="4" orient="horz" pos="35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41" autoAdjust="0"/>
  </p:normalViewPr>
  <p:slideViewPr>
    <p:cSldViewPr snapToGrid="0">
      <p:cViewPr varScale="1">
        <p:scale>
          <a:sx n="103" d="100"/>
          <a:sy n="103" d="100"/>
        </p:scale>
        <p:origin x="138" y="408"/>
      </p:cViewPr>
      <p:guideLst>
        <p:guide orient="horz" pos="1321"/>
        <p:guide pos="756"/>
        <p:guide pos="6879"/>
        <p:guide orient="horz" pos="358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334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E97D3864-F571-47A3-8F9B-4BD3A10F6C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D6FA07-33AF-421B-8EBE-2B27036385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B66AB-98D7-48C9-898F-541BCF06300D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2023/8/17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E595BA-B272-4D9A-AA3F-7A3B46F470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BF45340-2ABE-4902-BDDC-11E1440B66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B8BF5-4FC2-45DA-BC35-92B48E0632E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5826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7B6AFAA-6A93-4286-A1DE-769610EB0232}" type="datetime1">
              <a:rPr lang="zh-TW" altLang="en-US" smtClean="0"/>
              <a:pPr/>
              <a:t>2023/8/17</a:t>
            </a:fld>
            <a:endParaRPr lang="zh-TW" alt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 dirty="0"/>
              <a:t>編輯母片文字樣式</a:t>
            </a:r>
          </a:p>
          <a:p>
            <a:pPr lvl="1"/>
            <a:r>
              <a:rPr lang="zh-TW" altLang="en-US" noProof="0" dirty="0"/>
              <a:t>第二層</a:t>
            </a:r>
          </a:p>
          <a:p>
            <a:pPr lvl="2"/>
            <a:r>
              <a:rPr lang="zh-TW" altLang="en-US" noProof="0" dirty="0"/>
              <a:t>第三層</a:t>
            </a:r>
          </a:p>
          <a:p>
            <a:pPr lvl="3"/>
            <a:r>
              <a:rPr lang="zh-TW" altLang="en-US" noProof="0" dirty="0"/>
              <a:t>第四層</a:t>
            </a:r>
          </a:p>
          <a:p>
            <a:pPr lvl="4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1A9AFA5-F7E1-488F-8CD6-425A0B71298A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5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9AFA5-F7E1-488F-8CD6-425A0B71298A}" type="slidenum">
              <a:rPr lang="en-US" altLang="zh-TW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927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9AFA5-F7E1-488F-8CD6-425A0B71298A}" type="slidenum">
              <a:rPr lang="en-US" altLang="zh-TW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77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DAD154-AE59-44C3-86B0-C20C7BF88236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內容預留位置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D2EE6D-76D3-4A05-AF8F-B3E4AB3AEFC3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4828C1-B602-4364-A8B0-E7C97CC1D061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D799D7-6585-4DB5-A635-F369BDAA9360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98519C-DB6B-43CB-8196-C502EF2AAA0B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7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2035F9-9CA8-4C43-8398-338F83485020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0AB341-88E5-4695-AF9C-180B8CE9CB50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內容預留位置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7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5ECAD9-D6FD-4BFD-A16E-5F16D55F8CA3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 smtClean="0"/>
              <a:t>按一下圖示以新增圖片</a:t>
            </a:r>
            <a:endParaRPr lang="zh-TW" altLang="en-US" noProof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F88ED0-6C22-4956-AE15-A81D849C201A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 smtClean="0"/>
              <a:t>按一下圖示以新增圖片</a:t>
            </a:r>
            <a:endParaRPr lang="zh-TW" altLang="en-US" noProof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94875C-5F7B-4D4D-9DCF-F9C8623FD438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30414D-2972-4915-9A55-E81D500DAF9F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14" name="文字預留位置 3"/>
          <p:cNvSpPr>
            <a:spLocks noGrp="1"/>
          </p:cNvSpPr>
          <p:nvPr>
            <p:ph type="body" sz="half" idx="13" hasCustomPrompt="1"/>
          </p:nvPr>
        </p:nvSpPr>
        <p:spPr>
          <a:xfrm>
            <a:off x="1930400" y="3771174"/>
            <a:ext cx="7279649" cy="34217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AEB61C2-4A3D-432E-86F6-6C69E5555380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02111984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文字方塊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“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CCCE1D-7E96-4C23-AEF9-FA839549208D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16" name="文字預留位置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19" name="文字預留位置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14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20" name="文字預留位置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cxnSp>
        <p:nvCxnSpPr>
          <p:cNvPr id="17" name="直線接點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​​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8C2B99-5470-46E7-814B-09322B9C9CDA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4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29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 smtClean="0"/>
              <a:t>按一下圖示以新增圖片</a:t>
            </a:r>
            <a:endParaRPr lang="zh-TW" altLang="en-US" noProof="0"/>
          </a:p>
        </p:txBody>
      </p:sp>
      <p:sp>
        <p:nvSpPr>
          <p:cNvPr id="22" name="文字預留位置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30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 smtClean="0"/>
              <a:t>按一下圖示以新增圖片</a:t>
            </a:r>
            <a:endParaRPr lang="zh-TW" altLang="en-US" noProof="0"/>
          </a:p>
        </p:txBody>
      </p:sp>
      <p:sp>
        <p:nvSpPr>
          <p:cNvPr id="23" name="文字預留位置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14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31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 smtClean="0"/>
              <a:t>按一下圖示以新增圖片</a:t>
            </a:r>
            <a:endParaRPr lang="zh-TW" altLang="en-US" noProof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cxnSp>
        <p:nvCxnSpPr>
          <p:cNvPr id="17" name="直線接點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​​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569CC7-F358-4BFC-8E2C-C64FBAA25E6F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4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4A2613-64A4-4F47-BDA3-D7D0E482F5F5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A21B94-80CC-4C0C-B093-5FC9B490946B}" type="datetime1">
              <a:rPr lang="zh-TW" altLang="en-US" noProof="0" smtClean="0"/>
              <a:t>2023/8/17</a:t>
            </a:fld>
            <a:endParaRPr lang="zh-TW" altLang="en-US" noProof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橢圓​​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A141C034-1ADD-40A9-A8AC-989DC9A02B2F}" type="datetime1">
              <a:rPr lang="zh-TW" altLang="en-US" smtClean="0"/>
              <a:t>2023/8/17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02111984F565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鏈連結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/>
          </a:blip>
          <a:srcRect t="23391" r="9091"/>
          <a:stretch/>
        </p:blipFill>
        <p:spPr>
          <a:xfrm>
            <a:off x="58743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243" y="2995699"/>
            <a:ext cx="8825658" cy="1405531"/>
          </a:xfrm>
        </p:spPr>
        <p:txBody>
          <a:bodyPr rtlCol="0"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現代科技實作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3556" y="5305037"/>
            <a:ext cx="8825658" cy="861420"/>
          </a:xfrm>
        </p:spPr>
        <p:txBody>
          <a:bodyPr rtlCol="0">
            <a:norm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復旦高中  郭昀漢</a:t>
            </a:r>
            <a:endParaRPr lang="zh-TW" altLang="ru-RU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350899" y="4387440"/>
            <a:ext cx="8825658" cy="7027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課程學習成果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03312" y="906236"/>
            <a:ext cx="2513467" cy="1763441"/>
          </a:xfrm>
        </p:spPr>
        <p:txBody>
          <a:bodyPr/>
          <a:lstStyle/>
          <a:p>
            <a:r>
              <a:rPr lang="zh-TW" altLang="en-US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大綱</a:t>
            </a:r>
            <a:endParaRPr lang="zh-TW" altLang="en-US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3312" y="2212955"/>
            <a:ext cx="8946541" cy="4195481"/>
          </a:xfrm>
        </p:spPr>
        <p:txBody>
          <a:bodyPr/>
          <a:lstStyle/>
          <a:p>
            <a:pPr marL="560070" indent="-51435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課程目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60070" indent="-51435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學習內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容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60070" indent="-51435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照片展示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60070" indent="-51435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得反思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551" y="2097088"/>
            <a:ext cx="4808862" cy="3606647"/>
          </a:xfrm>
          <a:prstGeom prst="rect">
            <a:avLst/>
          </a:prstGeom>
          <a:effectLst>
            <a:outerShdw blurRad="2032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810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03312" y="906237"/>
            <a:ext cx="8432574" cy="987878"/>
          </a:xfrm>
        </p:spPr>
        <p:txBody>
          <a:bodyPr/>
          <a:lstStyle/>
          <a:p>
            <a:pPr marL="45720"/>
            <a:r>
              <a:rPr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A.</a:t>
            </a:r>
            <a:r>
              <a:rPr lang="zh-TW" altLang="en-US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課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程目的</a:t>
            </a:r>
            <a:endParaRPr lang="en-US" altLang="zh-TW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3312" y="1996933"/>
            <a:ext cx="6809047" cy="4195481"/>
          </a:xfrm>
        </p:spPr>
        <p:txBody>
          <a:bodyPr>
            <a:normAutofit/>
          </a:bodyPr>
          <a:lstStyle/>
          <a:p>
            <a:pPr marL="0" indent="0" algn="just">
              <a:lnSpc>
                <a:spcPts val="3000"/>
              </a:lnSpc>
              <a:buNone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在這堂現代科技實作課程，老師帶領我們體驗各種與科技有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的小實驗，讓學生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索奈米現象、電磁特性以及視錯覺等有趣現象。老師在課堂中設計了許多任務，例如挑戰利用紙張吊起重物而不斷裂，訓練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我們科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學、組織的能力，與小組突破各種關卡中培養了團隊合作的特質。課程中，我對課程內容感到好奇，學到以前未曾了解的科技與現象；實驗中，我會想嘗試不同方法突破各種難關，用奇特思維思考問題。我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也更加認識壁虎效應、如何配置線路，也發覺眼睛所看到的事物不一定真實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，或許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只是大腦的錯覺而已。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061" y="2097088"/>
            <a:ext cx="2240352" cy="3587366"/>
          </a:xfrm>
          <a:prstGeom prst="rect">
            <a:avLst/>
          </a:prstGeom>
          <a:effectLst>
            <a:outerShdw blurRad="2032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字方塊 6"/>
          <p:cNvSpPr txBox="1"/>
          <p:nvPr/>
        </p:nvSpPr>
        <p:spPr>
          <a:xfrm>
            <a:off x="8362868" y="5738002"/>
            <a:ext cx="2664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▲用紙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吊起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重物的魔王關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1832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2296" y="906237"/>
            <a:ext cx="8432574" cy="987878"/>
          </a:xfrm>
        </p:spPr>
        <p:txBody>
          <a:bodyPr/>
          <a:lstStyle/>
          <a:p>
            <a:pPr marL="45720"/>
            <a:r>
              <a:rPr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B.</a:t>
            </a:r>
            <a:r>
              <a:rPr lang="zh-TW" altLang="en-US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學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習內容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3311" y="1996932"/>
            <a:ext cx="5633391" cy="4195481"/>
          </a:xfrm>
        </p:spPr>
        <p:txBody>
          <a:bodyPr>
            <a:normAutofit/>
          </a:bodyPr>
          <a:lstStyle/>
          <a:p>
            <a:pPr marL="0" indent="0" algn="just">
              <a:lnSpc>
                <a:spcPts val="2600"/>
              </a:lnSpc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課程分成六個主題，分別是漂浮投影、視錯覺、光的偏振、藍晒圖、奈米現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象和電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與磁的相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遇。老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師向學生介紹各種科學原理，並帶著學生製作裝置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或操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作實驗。例如教我們使用賽璐璐片製作漂浮投影的裝置，或是用偏光片做偏振實驗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lnSpc>
                <a:spcPts val="2600"/>
              </a:lnSpc>
              <a:buNone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過程中，我常進行反思與調整策略。像是在挑戰用發光二極體排出英文字母時，發現使用並聯會因為兩條電線上的電阻差異，導致其中一邊無法發光，因此我推論串聯作為連接燈泡的方式比較合適。不斷地觀察與發現，讓我學習尋找並解決問題的能力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601" y="2084641"/>
            <a:ext cx="3515812" cy="3612897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7751505" y="5743681"/>
            <a:ext cx="1958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▲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漂浮投影的裝置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4171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03312" y="906237"/>
            <a:ext cx="8432574" cy="987878"/>
          </a:xfrm>
        </p:spPr>
        <p:txBody>
          <a:bodyPr/>
          <a:lstStyle/>
          <a:p>
            <a:pPr marL="45720"/>
            <a:r>
              <a:rPr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C.</a:t>
            </a:r>
            <a:r>
              <a:rPr lang="zh-TW" altLang="en-US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照片展示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altLang="zh-TW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046" y="2676754"/>
            <a:ext cx="1104580" cy="147277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886" y="2672824"/>
            <a:ext cx="1101481" cy="146864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51" y="2673191"/>
            <a:ext cx="1959220" cy="146941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33" y="2668764"/>
            <a:ext cx="1104580" cy="1472774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454" y="2668764"/>
            <a:ext cx="1985397" cy="1489049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610" y="2668765"/>
            <a:ext cx="1104580" cy="1472774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1103312" y="2052918"/>
            <a:ext cx="371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▼製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作碳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的同素異形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3086331" y="4173494"/>
            <a:ext cx="1463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▲奈米碳球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1571690" y="4173494"/>
            <a:ext cx="1207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▲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石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墨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烯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5144701" y="4200630"/>
            <a:ext cx="950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▲石墨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8351971" y="4173494"/>
            <a:ext cx="1463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▲奈米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碳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</a:t>
            </a:r>
          </a:p>
        </p:txBody>
      </p:sp>
    </p:spTree>
    <p:extLst>
      <p:ext uri="{BB962C8B-B14F-4D97-AF65-F5344CB8AC3E}">
        <p14:creationId xmlns:p14="http://schemas.microsoft.com/office/powerpoint/2010/main" val="48570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03312" y="906237"/>
            <a:ext cx="8432574" cy="987878"/>
          </a:xfrm>
        </p:spPr>
        <p:txBody>
          <a:bodyPr/>
          <a:lstStyle/>
          <a:p>
            <a:pPr marL="45720"/>
            <a:r>
              <a:rPr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C.</a:t>
            </a:r>
            <a:r>
              <a:rPr lang="zh-TW" altLang="en-US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照片展示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altLang="zh-TW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3482" y="2611830"/>
            <a:ext cx="1586931" cy="177042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252" y="2611831"/>
            <a:ext cx="2360564" cy="1770424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201" y="2611831"/>
            <a:ext cx="2360564" cy="1770424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50" y="2611831"/>
            <a:ext cx="2360564" cy="1770424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1103312" y="2052918"/>
            <a:ext cx="4305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▼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挑戰用發光二極體排出英文字母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9376354" y="2041288"/>
            <a:ext cx="1463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▼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碳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黑實驗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526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5148" y="906236"/>
            <a:ext cx="8432574" cy="987878"/>
          </a:xfrm>
        </p:spPr>
        <p:txBody>
          <a:bodyPr/>
          <a:lstStyle/>
          <a:p>
            <a:pPr marL="45720"/>
            <a:r>
              <a:rPr lang="en-US" altLang="zh-TW" sz="5400" dirty="0" smtClean="0"/>
              <a:t>D.</a:t>
            </a:r>
            <a:r>
              <a:rPr lang="zh-TW" altLang="en-US" sz="5400" dirty="0" smtClean="0"/>
              <a:t> </a:t>
            </a:r>
            <a:r>
              <a:rPr lang="zh-TW" altLang="en-US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得反思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altLang="zh-TW" sz="5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3313" y="2006263"/>
            <a:ext cx="6846370" cy="4195481"/>
          </a:xfrm>
        </p:spPr>
        <p:txBody>
          <a:bodyPr/>
          <a:lstStyle/>
          <a:p>
            <a:pPr marL="0" indent="0" algn="just">
              <a:lnSpc>
                <a:spcPts val="2800"/>
              </a:lnSpc>
              <a:buNone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堂課讓我認識不同的科技技術，也發覺生活中有許多地方充滿著科學的影子。課程中的各種活動，讓我探索有趣的自然現象，並且用挑戰引發我思考，解決不同的難題。雖然在剛開始挑戰關卡時難免會失敗，像在挑戰使用寶特瓶製作風力發電扇葉的關卡時，我就重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做四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個，但經過多次的修改，最終我達到最高發電成績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lnSpc>
                <a:spcPts val="2800"/>
              </a:lnSpc>
              <a:buNone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分組進行實驗時，我學習到合作的能力，不過我發現在執行時，有組員仍不太清楚做法，在小組溝通與分配工作方面仍有進步的空間。期待未來能繼續學習更深入的內容，了解有關科技的知識。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264" y="2097087"/>
            <a:ext cx="1619149" cy="3600451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9198569" y="5700456"/>
            <a:ext cx="1824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▲寶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特瓶風力發電</a:t>
            </a:r>
          </a:p>
        </p:txBody>
      </p:sp>
    </p:spTree>
    <p:extLst>
      <p:ext uri="{BB962C8B-B14F-4D97-AF65-F5344CB8AC3E}">
        <p14:creationId xmlns:p14="http://schemas.microsoft.com/office/powerpoint/2010/main" val="27384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抽象設計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/>
          </a:blip>
          <a:srcRect t="18308" r="6818" b="2872"/>
          <a:stretch/>
        </p:blipFill>
        <p:spPr>
          <a:xfrm flipH="1">
            <a:off x="20" y="9341"/>
            <a:ext cx="12191980" cy="6857990"/>
          </a:xfrm>
          <a:prstGeom prst="rect">
            <a:avLst/>
          </a:prstGeom>
        </p:spPr>
      </p:pic>
      <p:sp>
        <p:nvSpPr>
          <p:cNvPr id="12" name="標題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565917"/>
            <a:ext cx="8825658" cy="1298121"/>
          </a:xfrm>
        </p:spPr>
        <p:txBody>
          <a:bodyPr rtlCol="0">
            <a:normAutofit/>
          </a:bodyPr>
          <a:lstStyle/>
          <a:p>
            <a:pPr algn="ctr" rtl="0"/>
            <a:r>
              <a:rPr lang="zh-TW" alt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謝謝大家</a:t>
            </a:r>
            <a:endParaRPr lang="zh-TW" altLang="ru-RU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副標題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4154454"/>
            <a:ext cx="8825658" cy="861420"/>
          </a:xfrm>
        </p:spPr>
        <p:txBody>
          <a:bodyPr rtlCol="0">
            <a:normAutofit/>
          </a:bodyPr>
          <a:lstStyle/>
          <a:p>
            <a:pPr algn="ctr" rtl="0"/>
            <a:r>
              <a:rPr lang="zh-TW" altLang="en-US" sz="2400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復旦高中  郭昀漢</a:t>
            </a:r>
            <a:endParaRPr lang="zh-TW" altLang="ru-RU" sz="2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B5FFD32-E0A8-4E83-80B3-20612105D9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953E32-00D6-4FFB-AD6B-B2091BB328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CC4F44-154A-4E67-B129-1B5389E9F993}">
  <ds:schemaRefs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dcmitype/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16c05727-aa75-4e4a-9b5f-8a80a11658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數位設計</Template>
  <TotalTime>0</TotalTime>
  <Words>832</Words>
  <Application>Microsoft Office PowerPoint</Application>
  <PresentationFormat>寬螢幕</PresentationFormat>
  <Paragraphs>32</Paragraphs>
  <Slides>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Microsoft JhengHei UI</vt:lpstr>
      <vt:lpstr>微軟正黑體</vt:lpstr>
      <vt:lpstr>新細明體</vt:lpstr>
      <vt:lpstr>Arial</vt:lpstr>
      <vt:lpstr>Century Gothic</vt:lpstr>
      <vt:lpstr>Wingdings 3</vt:lpstr>
      <vt:lpstr>離子</vt:lpstr>
      <vt:lpstr>現代科技實作</vt:lpstr>
      <vt:lpstr>大綱</vt:lpstr>
      <vt:lpstr>A. 課程目的</vt:lpstr>
      <vt:lpstr>B. 學習內容</vt:lpstr>
      <vt:lpstr>C. 照片展示 </vt:lpstr>
      <vt:lpstr>C. 照片展示 </vt:lpstr>
      <vt:lpstr>D. 心得反思 </vt:lpstr>
      <vt:lpstr>謝謝大家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2023-08-17T09:40:29Z</dcterms:created>
  <dcterms:modified xsi:type="dcterms:W3CDTF">2023-08-17T15:12:03Z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